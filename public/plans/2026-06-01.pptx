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2A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2A24D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C4BC"/>
                </a:solidFill>
                <a:latin typeface="Calibri"/>
              </a:rPr>
              <a:t>Coach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of June 1,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22A24D"/>
                </a:solidFill>
                <a:latin typeface="Calibri"/>
              </a:rPr>
              <a:t>Week 6 — Combination 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C4BC"/>
                </a:solidFill>
                <a:latin typeface="Calibri"/>
              </a:rPr>
              <a:t>Sanborn Elementary School Lower Field, Andover, 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C4BC"/>
                </a:solidFill>
                <a:latin typeface="Calibri"/>
              </a:rPr>
              <a:t>5:50–6:50 PM (Mon &amp; Fri)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035040"/>
            <a:ext cx="11094415" cy="18288"/>
          </a:xfrm>
          <a:prstGeom prst="rect">
            <a:avLst/>
          </a:prstGeom>
          <a:solidFill>
            <a:srgbClr val="22A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C80"/>
                </a:solidFill>
                <a:latin typeface="Calibri"/>
              </a:rPr>
              <a:t>qmtk.org · Train Smart. Play Smart.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97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Pre-K &amp; Kindergarten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204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CFE8D5"/>
                </a:solidFill>
                <a:latin typeface="Calibri"/>
              </a:rPr>
              <a:t>Ages 3–5  ·  45 minutes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Pass the Coach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Pre-K &amp; K  ·  0–10 MIN  ·  📏 Circle, 8 yd radius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Players in a circle, coach in the middle. Pass to coach, coach passes back. Coach calls out names — "good job Sammy!" Tons of touches.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Inside-of-the-foot 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Watch the ball into your foot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Eye contact with coach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OPENING GAME</a:t>
            </a:r>
          </a:p>
        </p:txBody>
      </p:sp>
      <p:sp>
        <p:nvSpPr>
          <p:cNvPr id="17" name="Oval 16"/>
          <p:cNvSpPr/>
          <p:nvPr/>
        </p:nvSpPr>
        <p:spPr>
          <a:xfrm>
            <a:off x="7004304" y="218846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04304" y="222504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9" name="Oval 18"/>
          <p:cNvSpPr/>
          <p:nvPr/>
        </p:nvSpPr>
        <p:spPr>
          <a:xfrm>
            <a:off x="7909852" y="2624553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852" y="2661129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1" name="Oval 20"/>
          <p:cNvSpPr/>
          <p:nvPr/>
        </p:nvSpPr>
        <p:spPr>
          <a:xfrm>
            <a:off x="8133504" y="3604436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504" y="3641012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3" name="Oval 22"/>
          <p:cNvSpPr/>
          <p:nvPr/>
        </p:nvSpPr>
        <p:spPr>
          <a:xfrm>
            <a:off x="7506845" y="439024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06845" y="442681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5" name="Oval 24"/>
          <p:cNvSpPr/>
          <p:nvPr/>
        </p:nvSpPr>
        <p:spPr>
          <a:xfrm>
            <a:off x="6501762" y="439024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1762" y="442681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7" name="Oval 26"/>
          <p:cNvSpPr/>
          <p:nvPr/>
        </p:nvSpPr>
        <p:spPr>
          <a:xfrm>
            <a:off x="5875103" y="3604436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75103" y="3641012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9" name="Oval 28"/>
          <p:cNvSpPr/>
          <p:nvPr/>
        </p:nvSpPr>
        <p:spPr>
          <a:xfrm>
            <a:off x="6098755" y="2624553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8755" y="2661129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1" name="Oval 30"/>
          <p:cNvSpPr/>
          <p:nvPr/>
        </p:nvSpPr>
        <p:spPr>
          <a:xfrm>
            <a:off x="6967728" y="3310128"/>
            <a:ext cx="329184" cy="329184"/>
          </a:xfrm>
          <a:prstGeom prst="ellipse">
            <a:avLst/>
          </a:prstGeom>
          <a:solidFill>
            <a:srgbClr val="E24A4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67728" y="338328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3" name="Oval 32"/>
          <p:cNvSpPr/>
          <p:nvPr/>
        </p:nvSpPr>
        <p:spPr>
          <a:xfrm>
            <a:off x="7296912" y="341071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Circle, 8 yd radius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Pass &amp;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Pre-K &amp; K  ·  10–25 MIN  ·  📏 Pairs, 8 yd channels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Partner A passes to partner B, then immediately runs to a new spot. Partner B passes it back to the new spot. Build the habit of moving after passing.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Pass and go — don't stand still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Find your partner with your eyes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Stay light on your feet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LESSON 1</a:t>
            </a:r>
          </a:p>
        </p:txBody>
      </p:sp>
      <p:sp>
        <p:nvSpPr>
          <p:cNvPr id="17" name="Oval 16"/>
          <p:cNvSpPr/>
          <p:nvPr/>
        </p:nvSpPr>
        <p:spPr>
          <a:xfrm>
            <a:off x="6135624" y="33467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5624" y="33832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9" name="Oval 18"/>
          <p:cNvSpPr/>
          <p:nvPr/>
        </p:nvSpPr>
        <p:spPr>
          <a:xfrm>
            <a:off x="7004304" y="2578608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4304" y="2615184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1" name="Oval 20"/>
          <p:cNvSpPr/>
          <p:nvPr/>
        </p:nvSpPr>
        <p:spPr>
          <a:xfrm>
            <a:off x="7872984" y="33467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72984" y="33832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3" name="Oval 22"/>
          <p:cNvSpPr/>
          <p:nvPr/>
        </p:nvSpPr>
        <p:spPr>
          <a:xfrm>
            <a:off x="7004304" y="430682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04304" y="434340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5" name="Oval 24"/>
          <p:cNvSpPr/>
          <p:nvPr/>
        </p:nvSpPr>
        <p:spPr>
          <a:xfrm>
            <a:off x="7068312" y="341071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Pairs, 8 yd channels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Pass Through the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Pre-K &amp; K  ·  25–35 MIN  ·  📏 Cone gates,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Multiple cone gates scattered. Pairs pass through as many as they can in a minute. Counting goals together = teamwork.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Pick a target — 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Move to a new gate together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Cheer for partner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LESSON 2</a:t>
            </a:r>
          </a:p>
        </p:txBody>
      </p:sp>
      <p:sp>
        <p:nvSpPr>
          <p:cNvPr id="17" name="Oval 16"/>
          <p:cNvSpPr/>
          <p:nvPr/>
        </p:nvSpPr>
        <p:spPr>
          <a:xfrm>
            <a:off x="5961888" y="2578608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61888" y="2615184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9" name="Oval 18"/>
          <p:cNvSpPr/>
          <p:nvPr/>
        </p:nvSpPr>
        <p:spPr>
          <a:xfrm>
            <a:off x="8046720" y="2578608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615184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1" name="Oval 20"/>
          <p:cNvSpPr/>
          <p:nvPr/>
        </p:nvSpPr>
        <p:spPr>
          <a:xfrm>
            <a:off x="6989673" y="2523744"/>
            <a:ext cx="146304" cy="146304"/>
          </a:xfrm>
          <a:prstGeom prst="ellipse">
            <a:avLst/>
          </a:prstGeom>
          <a:solidFill>
            <a:srgbClr val="F5A623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989673" y="2743200"/>
            <a:ext cx="146304" cy="146304"/>
          </a:xfrm>
          <a:prstGeom prst="ellipse">
            <a:avLst/>
          </a:prstGeom>
          <a:solidFill>
            <a:srgbClr val="F5A623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47104" y="2642616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263640.0" y="2706624.0"/>
            <a:ext cx="1737360.0" cy="0.0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5961888" y="4114800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1888" y="4151376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7" name="Oval 26"/>
          <p:cNvSpPr/>
          <p:nvPr/>
        </p:nvSpPr>
        <p:spPr>
          <a:xfrm>
            <a:off x="8046720" y="4114800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0" y="4151376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9" name="Oval 28"/>
          <p:cNvSpPr/>
          <p:nvPr/>
        </p:nvSpPr>
        <p:spPr>
          <a:xfrm>
            <a:off x="6989673" y="4059936"/>
            <a:ext cx="146304" cy="146304"/>
          </a:xfrm>
          <a:prstGeom prst="ellipse">
            <a:avLst/>
          </a:prstGeom>
          <a:solidFill>
            <a:srgbClr val="F5A623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989673" y="4279392"/>
            <a:ext cx="146304" cy="146304"/>
          </a:xfrm>
          <a:prstGeom prst="ellipse">
            <a:avLst/>
          </a:prstGeom>
          <a:solidFill>
            <a:srgbClr val="F5A623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47104" y="4178808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263640.0" y="4242816.0"/>
            <a:ext cx="1737360.0" cy="0.0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Cone gates, pairs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A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A24D"/>
                </a:solidFill>
                <a:latin typeface="Calibri"/>
              </a:rPr>
              <a:t>SCRIMMAGE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Everyone Scores Mini Game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Pre-K &amp; K  ·  35–45 MIN  ·  📏 20x15 yd, two small goals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Small-sided. Coach calls out great passes — "that was a great pass!" Reinforces the habit gently in live play.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Try one pass per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Run to support a teammate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Have fun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SCRIMMAGE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3227832"/>
            <a:ext cx="73152" cy="50292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13648" y="3227832"/>
            <a:ext cx="73152" cy="50292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35624" y="277063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5624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1" name="Oval 20"/>
          <p:cNvSpPr/>
          <p:nvPr/>
        </p:nvSpPr>
        <p:spPr>
          <a:xfrm>
            <a:off x="6378854" y="3922776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8854" y="3959352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3" name="Oval 22"/>
          <p:cNvSpPr/>
          <p:nvPr/>
        </p:nvSpPr>
        <p:spPr>
          <a:xfrm>
            <a:off x="7699248" y="2770632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99248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5" name="Oval 24"/>
          <p:cNvSpPr/>
          <p:nvPr/>
        </p:nvSpPr>
        <p:spPr>
          <a:xfrm>
            <a:off x="7942478" y="3922776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42478" y="3959352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7" name="Oval 26"/>
          <p:cNvSpPr/>
          <p:nvPr/>
        </p:nvSpPr>
        <p:spPr>
          <a:xfrm>
            <a:off x="7068312" y="341071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20x15 yd, two small goals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97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Grades 1–5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204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CFE8D5"/>
                </a:solidFill>
                <a:latin typeface="Calibri"/>
              </a:rPr>
              <a:t>Ages 6–11  ·  60 minutes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3-Team Possession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Grades 1–5  ·  0–10 MIN  ·  📏 20x20 yd grid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Three teams of 3. Two teams combine to keep the ball from the third. Loser rotates in. Fast, fun, lots of passing reps.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Move after you 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Quick decisions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Find the open teammate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OPENING GAME</a:t>
            </a:r>
          </a:p>
        </p:txBody>
      </p:sp>
      <p:sp>
        <p:nvSpPr>
          <p:cNvPr id="17" name="Oval 16"/>
          <p:cNvSpPr/>
          <p:nvPr/>
        </p:nvSpPr>
        <p:spPr>
          <a:xfrm>
            <a:off x="5892393" y="2578608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2393" y="2615184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9" name="Oval 18"/>
          <p:cNvSpPr/>
          <p:nvPr/>
        </p:nvSpPr>
        <p:spPr>
          <a:xfrm>
            <a:off x="6120993" y="2642616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83096" y="3538728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3575304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22" name="Oval 21"/>
          <p:cNvSpPr/>
          <p:nvPr/>
        </p:nvSpPr>
        <p:spPr>
          <a:xfrm>
            <a:off x="6711696" y="3602736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2770632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25" name="Oval 24"/>
          <p:cNvSpPr/>
          <p:nvPr/>
        </p:nvSpPr>
        <p:spPr>
          <a:xfrm>
            <a:off x="7406640" y="2834640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68742" y="3807561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68742" y="3844137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28" name="Oval 27"/>
          <p:cNvSpPr/>
          <p:nvPr/>
        </p:nvSpPr>
        <p:spPr>
          <a:xfrm>
            <a:off x="7997342" y="3871569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20456" y="2962656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0456" y="2999232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1" name="Oval 30"/>
          <p:cNvSpPr/>
          <p:nvPr/>
        </p:nvSpPr>
        <p:spPr>
          <a:xfrm>
            <a:off x="8449056" y="3026664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39865" y="4306824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39865" y="434340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4" name="Oval 33"/>
          <p:cNvSpPr/>
          <p:nvPr/>
        </p:nvSpPr>
        <p:spPr>
          <a:xfrm>
            <a:off x="6468465" y="437083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12280" y="3328416"/>
            <a:ext cx="292608" cy="292608"/>
          </a:xfrm>
          <a:prstGeom prst="ellipse">
            <a:avLst/>
          </a:prstGeom>
          <a:solidFill>
            <a:srgbClr val="E24A4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12280" y="3383280"/>
            <a:ext cx="29260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37" name="Oval 36"/>
          <p:cNvSpPr/>
          <p:nvPr/>
        </p:nvSpPr>
        <p:spPr>
          <a:xfrm>
            <a:off x="7680960" y="2944368"/>
            <a:ext cx="292608" cy="292608"/>
          </a:xfrm>
          <a:prstGeom prst="ellipse">
            <a:avLst/>
          </a:prstGeom>
          <a:solidFill>
            <a:srgbClr val="E24A4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0" y="2999232"/>
            <a:ext cx="29260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20x20 yd grid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Give-and-Go (Wall Pass)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Grades 1–5  ·  10–30 MIN  ·  📏 Pairs, 12 yd channels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Player A passes to player B, runs past defender, B plays it back into A's path. The classic 1-2. Walk through, then add a defender.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Sharp pass to feet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Run past the defender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First-time return pass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LESSON 1</a:t>
            </a:r>
          </a:p>
        </p:txBody>
      </p:sp>
      <p:sp>
        <p:nvSpPr>
          <p:cNvPr id="17" name="Oval 16"/>
          <p:cNvSpPr/>
          <p:nvPr/>
        </p:nvSpPr>
        <p:spPr>
          <a:xfrm>
            <a:off x="6135624" y="4114800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5624" y="4151376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9" name="Oval 18"/>
          <p:cNvSpPr/>
          <p:nvPr/>
        </p:nvSpPr>
        <p:spPr>
          <a:xfrm>
            <a:off x="7004304" y="2386584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4304" y="242316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1" name="Oval 20"/>
          <p:cNvSpPr/>
          <p:nvPr/>
        </p:nvSpPr>
        <p:spPr>
          <a:xfrm>
            <a:off x="7872984" y="4114800"/>
            <a:ext cx="256032" cy="256032"/>
          </a:xfrm>
          <a:prstGeom prst="ellipse">
            <a:avLst/>
          </a:prstGeom>
          <a:solidFill>
            <a:srgbClr val="7C5DF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72984" y="4151376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6263640.0" y="2514600.0"/>
            <a:ext cx="868680.0" cy="1728216.0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132320.0" y="2514600.0"/>
            <a:ext cx="868680.0" cy="1728216.0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6263640.0" y="4242816.0"/>
            <a:ext cx="1737360.0" cy="0.0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6442862" y="3602736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Pairs, 12 yd channels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Combination to Goal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Grades 1–5  ·  30–45 MIN  ·  📏 25x15 yd attacking zone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2v1 attacking a real goal. Use the give-and-go to break the defender and finish. Real game-speed reps.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Use the wall pass to break pressure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Finish at the 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Communicate with your partner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LESSON 2</a:t>
            </a:r>
          </a:p>
        </p:txBody>
      </p:sp>
      <p:sp>
        <p:nvSpPr>
          <p:cNvPr id="17" name="Oval 16"/>
          <p:cNvSpPr/>
          <p:nvPr/>
        </p:nvSpPr>
        <p:spPr>
          <a:xfrm>
            <a:off x="6135624" y="4114800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5624" y="4151376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9" name="Oval 18"/>
          <p:cNvSpPr/>
          <p:nvPr/>
        </p:nvSpPr>
        <p:spPr>
          <a:xfrm>
            <a:off x="7004304" y="2386584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4304" y="242316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1" name="Oval 20"/>
          <p:cNvSpPr/>
          <p:nvPr/>
        </p:nvSpPr>
        <p:spPr>
          <a:xfrm>
            <a:off x="7872984" y="4114800"/>
            <a:ext cx="256032" cy="256032"/>
          </a:xfrm>
          <a:prstGeom prst="ellipse">
            <a:avLst/>
          </a:prstGeom>
          <a:solidFill>
            <a:srgbClr val="7C5DF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72984" y="4151376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6263640.0" y="2514600.0"/>
            <a:ext cx="868680.0" cy="1728216.0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132320.0" y="2514600.0"/>
            <a:ext cx="868680.0" cy="1728216.0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6263640.0" y="4242816.0"/>
            <a:ext cx="1737360.0" cy="0.0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6442862" y="3602736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25x15 yd attacking zone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A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A24D"/>
                </a:solidFill>
                <a:latin typeface="Calibri"/>
              </a:rPr>
              <a:t>SCRIMMAGE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Small-Sided Scrimmage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Grades 1–5  ·  45–60 MIN  ·  📏 30x20 yd, two real goals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4v4 or 5v5. Coach challenge: at least one give-and-go combination per goal scored. Builds it into game habit.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Link up with teammates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Move into space after passing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Compete and have fun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SCRIMMAGE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3154680"/>
            <a:ext cx="73152" cy="64008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13648" y="3154680"/>
            <a:ext cx="73152" cy="64008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132320.0" y="1737360"/>
            <a:ext cx="0.0" cy="3474720"/>
          </a:xfrm>
          <a:prstGeom prst="line">
            <a:avLst/>
          </a:prstGeom>
          <a:ln w="1270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6031382" y="277063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1382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73075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376732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154680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191256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6" name="Oval 25"/>
          <p:cNvSpPr/>
          <p:nvPr/>
        </p:nvSpPr>
        <p:spPr>
          <a:xfrm>
            <a:off x="6830568" y="430682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0568" y="434340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8" name="Oval 27"/>
          <p:cNvSpPr/>
          <p:nvPr/>
        </p:nvSpPr>
        <p:spPr>
          <a:xfrm>
            <a:off x="7977225" y="2770632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77225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0" name="Oval 29"/>
          <p:cNvSpPr/>
          <p:nvPr/>
        </p:nvSpPr>
        <p:spPr>
          <a:xfrm>
            <a:off x="7699248" y="3730752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99248" y="376732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2" name="Oval 31"/>
          <p:cNvSpPr/>
          <p:nvPr/>
        </p:nvSpPr>
        <p:spPr>
          <a:xfrm>
            <a:off x="7351776" y="3154680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51776" y="3191256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4" name="Oval 33"/>
          <p:cNvSpPr/>
          <p:nvPr/>
        </p:nvSpPr>
        <p:spPr>
          <a:xfrm>
            <a:off x="7178040" y="2386584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78040" y="242316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6" name="Oval 35"/>
          <p:cNvSpPr/>
          <p:nvPr/>
        </p:nvSpPr>
        <p:spPr>
          <a:xfrm>
            <a:off x="7068312" y="341071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30x20 yd, two real goals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