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A24D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Coach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of May 25,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2A24D"/>
                </a:solidFill>
                <a:latin typeface="Calibri"/>
              </a:rPr>
              <a:t>Week 5 — 1v1 Attacking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Sanborn Elementary School Lower Field, Andover, 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5:50–6:50 PM (Mon &amp; Fri)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035040"/>
            <a:ext cx="11094415" cy="1828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C80"/>
                </a:solidFill>
                <a:latin typeface="Calibri"/>
              </a:rPr>
              <a:t>qmtk.org · Train Smart. Play Smart.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Pre-K &amp; Kindergarten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CFE8D5"/>
                </a:solidFill>
                <a:latin typeface="Calibri"/>
              </a:rPr>
              <a:t>Ages 3–5  ·  45 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Red Light, Green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0–10 MIN  ·  📏 15x15 yd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Returning favorite. Players dribble on green, freeze on red. This week we add "yellow light" — slow dribbling — for a third challenge.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Three speeds of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Quick listening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Stop on a foot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OPENING GAME</a:t>
            </a:r>
          </a:p>
        </p:txBody>
      </p:sp>
      <p:sp>
        <p:nvSpPr>
          <p:cNvPr id="17" name="Oval 16"/>
          <p:cNvSpPr/>
          <p:nvPr/>
        </p:nvSpPr>
        <p:spPr>
          <a:xfrm>
            <a:off x="5892393" y="238658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2393" y="242316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9" name="Oval 18"/>
          <p:cNvSpPr/>
          <p:nvPr/>
        </p:nvSpPr>
        <p:spPr>
          <a:xfrm>
            <a:off x="6120993" y="245059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83096" y="3538728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357530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2" name="Oval 21"/>
          <p:cNvSpPr/>
          <p:nvPr/>
        </p:nvSpPr>
        <p:spPr>
          <a:xfrm>
            <a:off x="6711696" y="3602736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2578608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261518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0" y="2642616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68742" y="373075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68742" y="37673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8" name="Oval 27"/>
          <p:cNvSpPr/>
          <p:nvPr/>
        </p:nvSpPr>
        <p:spPr>
          <a:xfrm>
            <a:off x="7997342" y="3794760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20456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0456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1" name="Oval 30"/>
          <p:cNvSpPr/>
          <p:nvPr/>
        </p:nvSpPr>
        <p:spPr>
          <a:xfrm>
            <a:off x="8449056" y="2834640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135624" y="43068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5624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4" name="Oval 33"/>
          <p:cNvSpPr/>
          <p:nvPr/>
        </p:nvSpPr>
        <p:spPr>
          <a:xfrm>
            <a:off x="6364224" y="43708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51776" y="43068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7" name="Oval 36"/>
          <p:cNvSpPr/>
          <p:nvPr/>
        </p:nvSpPr>
        <p:spPr>
          <a:xfrm>
            <a:off x="7580376" y="43708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967728" y="3310128"/>
            <a:ext cx="329184" cy="329184"/>
          </a:xfrm>
          <a:prstGeom prst="ellipse">
            <a:avLst/>
          </a:prstGeom>
          <a:solidFill>
            <a:srgbClr val="E24A4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67728" y="338328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15x15 yd grid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Go Around the Coach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10–25 MIN  ·  📏 5x5 yd boxes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Coach stands still as a friendly "defender". Players take turns dribbling around the coach to the other side. Build the idea of taking someone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Don't kick it past — keep it close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Use either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Go fast after you pass the coach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1</a:t>
            </a:r>
          </a:p>
        </p:txBody>
      </p:sp>
      <p:sp>
        <p:nvSpPr>
          <p:cNvPr id="17" name="Oval 16"/>
          <p:cNvSpPr/>
          <p:nvPr/>
        </p:nvSpPr>
        <p:spPr>
          <a:xfrm>
            <a:off x="6135624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9" name="Oval 18"/>
          <p:cNvSpPr/>
          <p:nvPr/>
        </p:nvSpPr>
        <p:spPr>
          <a:xfrm>
            <a:off x="6373368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51776" y="3346704"/>
            <a:ext cx="256032" cy="256032"/>
          </a:xfrm>
          <a:prstGeom prst="ellipse">
            <a:avLst/>
          </a:prstGeom>
          <a:solidFill>
            <a:srgbClr val="E24A4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6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437376.0" y="2706624.0"/>
            <a:ext cx="1911096.0" cy="768096.0"/>
          </a:xfrm>
          <a:prstGeom prst="line">
            <a:avLst/>
          </a:prstGeom>
          <a:ln w="2540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37376.0" y="3474720.0"/>
            <a:ext cx="1911096.0" cy="768096.0"/>
          </a:xfrm>
          <a:prstGeom prst="line">
            <a:avLst/>
          </a:prstGeom>
          <a:ln w="2540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5x5 yd boxes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Beat the Cone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25–35 MIN  ·  📏 Cone slalom, 4 cones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Players dribble through a short cone slalom, pretending each cone is a defender. Coach cheers cuts and turns.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Touch on both sides of the cone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Change direction sharply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Stay low and balanced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2</a:t>
            </a:r>
          </a:p>
        </p:txBody>
      </p:sp>
      <p:sp>
        <p:nvSpPr>
          <p:cNvPr id="17" name="Oval 16"/>
          <p:cNvSpPr/>
          <p:nvPr/>
        </p:nvSpPr>
        <p:spPr>
          <a:xfrm>
            <a:off x="5947257" y="3593592"/>
            <a:ext cx="146304" cy="146304"/>
          </a:xfrm>
          <a:prstGeom prst="ellipse">
            <a:avLst/>
          </a:prstGeom>
          <a:solidFill>
            <a:srgbClr val="F5A623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8122" y="2825496"/>
            <a:ext cx="146304" cy="146304"/>
          </a:xfrm>
          <a:prstGeom prst="ellipse">
            <a:avLst/>
          </a:prstGeom>
          <a:solidFill>
            <a:srgbClr val="F5A623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08988" y="3593592"/>
            <a:ext cx="146304" cy="146304"/>
          </a:xfrm>
          <a:prstGeom prst="ellipse">
            <a:avLst/>
          </a:prstGeom>
          <a:solidFill>
            <a:srgbClr val="F5A623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39853" y="2825496"/>
            <a:ext cx="146304" cy="146304"/>
          </a:xfrm>
          <a:prstGeom prst="ellipse">
            <a:avLst/>
          </a:prstGeom>
          <a:solidFill>
            <a:srgbClr val="F5A623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70718" y="3593592"/>
            <a:ext cx="146304" cy="146304"/>
          </a:xfrm>
          <a:prstGeom prst="ellipse">
            <a:avLst/>
          </a:prstGeom>
          <a:solidFill>
            <a:srgbClr val="F5A623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01584" y="2825496"/>
            <a:ext cx="146304" cy="146304"/>
          </a:xfrm>
          <a:prstGeom prst="ellipse">
            <a:avLst/>
          </a:prstGeom>
          <a:solidFill>
            <a:srgbClr val="F5A623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14416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14416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5" name="Oval 24"/>
          <p:cNvSpPr/>
          <p:nvPr/>
        </p:nvSpPr>
        <p:spPr>
          <a:xfrm>
            <a:off x="5747918" y="3602736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 flipV="1">
            <a:off x="5811926.4" y="3474720.0"/>
            <a:ext cx="2536545.5999999996" cy="192024.0"/>
          </a:xfrm>
          <a:prstGeom prst="line">
            <a:avLst/>
          </a:prstGeom>
          <a:ln w="2540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Cone slalom, 4 cones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A24D"/>
                </a:solidFill>
                <a:latin typeface="Calibri"/>
              </a:rPr>
              <a:t>SCRIMMAGE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Everyone Scores Mini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35–45 MIN  ·  📏 20x15 yd, two small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Small-sided. Coach gently rewards players who try to dribble past someone — even if it doesn't work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Try to take someone 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Don't give up if you lose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Cheer for teammates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SCRIMMAGE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3227832"/>
            <a:ext cx="73152" cy="50292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13648" y="3227832"/>
            <a:ext cx="73152" cy="50292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35624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5624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1" name="Oval 20"/>
          <p:cNvSpPr/>
          <p:nvPr/>
        </p:nvSpPr>
        <p:spPr>
          <a:xfrm>
            <a:off x="6378854" y="3922776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8854" y="395935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3" name="Oval 22"/>
          <p:cNvSpPr/>
          <p:nvPr/>
        </p:nvSpPr>
        <p:spPr>
          <a:xfrm>
            <a:off x="7699248" y="277063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99248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5" name="Oval 24"/>
          <p:cNvSpPr/>
          <p:nvPr/>
        </p:nvSpPr>
        <p:spPr>
          <a:xfrm>
            <a:off x="7942478" y="3922776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42478" y="395935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7" name="Oval 26"/>
          <p:cNvSpPr/>
          <p:nvPr/>
        </p:nvSpPr>
        <p:spPr>
          <a:xfrm>
            <a:off x="70683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20x15 yd, two small goals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Grades 1–5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CFE8D5"/>
                </a:solidFill>
                <a:latin typeface="Calibri"/>
              </a:rPr>
              <a:t>Ages 6–11  ·  60 minutes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1v1 King of the Hill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0–10 MIN  ·  📏 10x10 yd boxes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Quick 1v1s in small boxes. Winner stays, loser rotates out. Fast, competitive, high-rep. Sets the tone for the 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Win the first touch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Attack the defender's 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Compete on every rep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OPENING GAME</a:t>
            </a:r>
          </a:p>
        </p:txBody>
      </p:sp>
      <p:sp>
        <p:nvSpPr>
          <p:cNvPr id="17" name="Oval 16"/>
          <p:cNvSpPr/>
          <p:nvPr/>
        </p:nvSpPr>
        <p:spPr>
          <a:xfrm>
            <a:off x="5892393" y="2578608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2393" y="261518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9" name="Oval 18"/>
          <p:cNvSpPr/>
          <p:nvPr/>
        </p:nvSpPr>
        <p:spPr>
          <a:xfrm>
            <a:off x="6120993" y="2642616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83096" y="3538728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357530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2" name="Oval 21"/>
          <p:cNvSpPr/>
          <p:nvPr/>
        </p:nvSpPr>
        <p:spPr>
          <a:xfrm>
            <a:off x="6711696" y="3602736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277063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0" y="2834640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68742" y="3807561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68742" y="3844137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8" name="Oval 27"/>
          <p:cNvSpPr/>
          <p:nvPr/>
        </p:nvSpPr>
        <p:spPr>
          <a:xfrm>
            <a:off x="7997342" y="3871569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20456" y="2962656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0456" y="299923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1" name="Oval 30"/>
          <p:cNvSpPr/>
          <p:nvPr/>
        </p:nvSpPr>
        <p:spPr>
          <a:xfrm>
            <a:off x="8449056" y="3026664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39865" y="4306824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9865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4" name="Oval 33"/>
          <p:cNvSpPr/>
          <p:nvPr/>
        </p:nvSpPr>
        <p:spPr>
          <a:xfrm>
            <a:off x="6468465" y="43708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12280" y="3328416"/>
            <a:ext cx="292608" cy="292608"/>
          </a:xfrm>
          <a:prstGeom prst="ellipse">
            <a:avLst/>
          </a:prstGeom>
          <a:solidFill>
            <a:srgbClr val="E24A4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3383280"/>
            <a:ext cx="29260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7" name="Oval 36"/>
          <p:cNvSpPr/>
          <p:nvPr/>
        </p:nvSpPr>
        <p:spPr>
          <a:xfrm>
            <a:off x="7680960" y="2944368"/>
            <a:ext cx="292608" cy="292608"/>
          </a:xfrm>
          <a:prstGeom prst="ellipse">
            <a:avLst/>
          </a:prstGeom>
          <a:solidFill>
            <a:srgbClr val="E24A4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0" y="2999232"/>
            <a:ext cx="29260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10x10 yd boxes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Two Moves to Beat a Defender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10–30 MIN  ·  📏 Pairs, 8 yd channels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Teach the scissor and the inside-outside cut. Slow walk-through, then full speed. Players use the moves against a passive then active defender.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Sell the fake — body weight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Explosive touch on the second move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Accelerate out of the move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1</a:t>
            </a:r>
          </a:p>
        </p:txBody>
      </p:sp>
      <p:sp>
        <p:nvSpPr>
          <p:cNvPr id="17" name="Oval 16"/>
          <p:cNvSpPr/>
          <p:nvPr/>
        </p:nvSpPr>
        <p:spPr>
          <a:xfrm>
            <a:off x="6135624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9" name="Oval 18"/>
          <p:cNvSpPr/>
          <p:nvPr/>
        </p:nvSpPr>
        <p:spPr>
          <a:xfrm>
            <a:off x="6373368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51776" y="3346704"/>
            <a:ext cx="256032" cy="256032"/>
          </a:xfrm>
          <a:prstGeom prst="ellipse">
            <a:avLst/>
          </a:prstGeom>
          <a:solidFill>
            <a:srgbClr val="E24A4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6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437376.0" y="2706624.0"/>
            <a:ext cx="1911096.0" cy="768096.0"/>
          </a:xfrm>
          <a:prstGeom prst="line">
            <a:avLst/>
          </a:prstGeom>
          <a:ln w="2540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37376.0" y="3474720.0"/>
            <a:ext cx="1911096.0" cy="768096.0"/>
          </a:xfrm>
          <a:prstGeom prst="line">
            <a:avLst/>
          </a:prstGeom>
          <a:ln w="2540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Pairs, 8 yd channels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1v1 to Goal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30–45 MIN  ·  📏 20x12 yd channel, 1 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One attacker, one defender, attacking the goal. Real 1v1 with finishing. Both players compete hard. Switch roles each rep.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Beat the defender, then finish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Use the moves from Lesson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Quality finish — composed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1783080"/>
            <a:ext cx="731520" cy="73152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04304" y="47183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4" y="47548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0" name="Oval 19"/>
          <p:cNvSpPr/>
          <p:nvPr/>
        </p:nvSpPr>
        <p:spPr>
          <a:xfrm>
            <a:off x="7068312" y="4919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7132320.0" y="1965960"/>
            <a:ext cx="0.0" cy="3017520"/>
          </a:xfrm>
          <a:prstGeom prst="line">
            <a:avLst/>
          </a:prstGeom>
          <a:ln w="3175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552944" y="3538728"/>
            <a:ext cx="256032" cy="256032"/>
          </a:xfrm>
          <a:prstGeom prst="ellipse">
            <a:avLst/>
          </a:prstGeom>
          <a:solidFill>
            <a:srgbClr val="E24A4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2944" y="357530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20x12 yd channel, 1 goal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A24D"/>
                </a:solidFill>
                <a:latin typeface="Calibri"/>
              </a:rPr>
              <a:t>SCRIMMAGE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Small-Sided Scrimmage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45–60 MIN  ·  📏 30x20 yd, two real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4v4 or 5v5. Coach rule: bonus point for any goal scored after beating a defender 1v1. Encourages bravery on the ball.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Take players 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Don't be afraid to lose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Compete every play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SCRIMMAGE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13648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132320.0" y="1737360"/>
            <a:ext cx="0.0" cy="3474720"/>
          </a:xfrm>
          <a:prstGeom prst="line">
            <a:avLst/>
          </a:prstGeom>
          <a:ln w="1270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031382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1382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73075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154680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19125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6" name="Oval 25"/>
          <p:cNvSpPr/>
          <p:nvPr/>
        </p:nvSpPr>
        <p:spPr>
          <a:xfrm>
            <a:off x="6830568" y="43068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0568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8" name="Oval 27"/>
          <p:cNvSpPr/>
          <p:nvPr/>
        </p:nvSpPr>
        <p:spPr>
          <a:xfrm>
            <a:off x="7977225" y="277063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7225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0" name="Oval 29"/>
          <p:cNvSpPr/>
          <p:nvPr/>
        </p:nvSpPr>
        <p:spPr>
          <a:xfrm>
            <a:off x="7699248" y="373075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99248" y="37673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2" name="Oval 31"/>
          <p:cNvSpPr/>
          <p:nvPr/>
        </p:nvSpPr>
        <p:spPr>
          <a:xfrm>
            <a:off x="7351776" y="3154680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51776" y="319125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Oval 33"/>
          <p:cNvSpPr/>
          <p:nvPr/>
        </p:nvSpPr>
        <p:spPr>
          <a:xfrm>
            <a:off x="7178040" y="2386584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78040" y="242316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6" name="Oval 35"/>
          <p:cNvSpPr/>
          <p:nvPr/>
        </p:nvSpPr>
        <p:spPr>
          <a:xfrm>
            <a:off x="70683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30x20 yd, two real goals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