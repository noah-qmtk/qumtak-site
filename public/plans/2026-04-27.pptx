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07140E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480000">
            <a:off x="7924648" y="-914400"/>
            <a:ext cx="6553047" cy="86868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991295" y="3657600"/>
            <a:ext cx="3200400" cy="3200400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029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 spc="12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84124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B4C3B8"/>
                </a:solidFill>
                <a:latin typeface="Calibri"/>
              </a:rPr>
              <a:t>COACH PLAYBOOK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74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 spc="400">
                <a:solidFill>
                  <a:srgbClr val="4ADE80"/>
                </a:solidFill>
                <a:latin typeface="Calibri"/>
              </a:rPr>
              <a:t>TRAINING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8892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Week of April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114800"/>
            <a:ext cx="8686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4ADE80"/>
                </a:solidFill>
                <a:latin typeface="Calibri"/>
              </a:rPr>
              <a:t>Week 1 — Ball Control &amp; Dribbling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120640"/>
            <a:ext cx="91440" cy="100584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20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 spc="300">
                <a:solidFill>
                  <a:srgbClr val="7B8A7F"/>
                </a:solidFill>
                <a:latin typeface="Calibri"/>
              </a:rPr>
              <a:t>LOCATION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4406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Sanborn Elementary School Lower Field, Andover, 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806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B4C3B8"/>
                </a:solidFill>
                <a:latin typeface="Calibri"/>
              </a:rPr>
              <a:t>5:50–6:50 PM (Mon &amp; Fri)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50">
                <a:solidFill>
                  <a:srgbClr val="7B8A7F"/>
                </a:solidFill>
                <a:latin typeface="Calibri"/>
              </a:rPr>
              <a:t>qmtk.org  ·  Train Smart. Play Smart.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Pre-K &amp; Kindergarten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3–5  ·  45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16188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16188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15x15 yd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Red Light, Green Light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Every player gets a ball. "Green light" — dribble forward. "Red light" — freeze with a foot on top of the ball. Listening, control, confidence right from the start.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Soft touches with the inside of the foot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Stopping the ball — foot on top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Following directions, quick reactions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54330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0" name="Oval 29"/>
          <p:cNvSpPr/>
          <p:nvPr/>
        </p:nvSpPr>
        <p:spPr>
          <a:xfrm>
            <a:off x="7010704" y="361188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53453" y="365462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95590" y="444627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95590" y="449016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7947050" y="451485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989799" y="455759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24544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24544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8" name="Oval 37"/>
          <p:cNvSpPr/>
          <p:nvPr/>
        </p:nvSpPr>
        <p:spPr>
          <a:xfrm>
            <a:off x="9176004" y="379247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18753" y="383522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19411" y="462686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19411" y="467075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2" name="Oval 41"/>
          <p:cNvSpPr/>
          <p:nvPr/>
        </p:nvSpPr>
        <p:spPr>
          <a:xfrm>
            <a:off x="10170871" y="469544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13620" y="473819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80192" y="3904488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80192" y="3948380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6" name="Oval 45"/>
          <p:cNvSpPr/>
          <p:nvPr/>
        </p:nvSpPr>
        <p:spPr>
          <a:xfrm>
            <a:off x="10931652" y="397306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74401" y="4015817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44460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4446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7595920" y="534558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38669" y="538833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17152" y="534924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17152" y="539313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4" name="Oval 53"/>
          <p:cNvSpPr/>
          <p:nvPr/>
        </p:nvSpPr>
        <p:spPr>
          <a:xfrm>
            <a:off x="9468612" y="541782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11361" y="546056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39328" y="3254349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39328" y="3298241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8" name="Oval 57"/>
          <p:cNvSpPr/>
          <p:nvPr/>
        </p:nvSpPr>
        <p:spPr>
          <a:xfrm>
            <a:off x="8590788" y="332292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8633537" y="3365678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577072" y="4210812"/>
            <a:ext cx="402336" cy="402336"/>
          </a:xfrm>
          <a:prstGeom prst="ellipse">
            <a:avLst/>
          </a:prstGeom>
          <a:solidFill>
            <a:srgbClr val="22A24D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577072" y="4271163"/>
            <a:ext cx="402336" cy="2816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15x15 yd grid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10–25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79357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79357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10 yd straight line, 6 cones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Friendly Foot — Cone Path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Simple cone path. Each player takes turns dribbling slowly through with small touches. Coach cheers every touch. Get comfortable with the ball at your feet.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Keep the ball close — small touches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Use both feet, even just a little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Look up, then look down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22008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>
            <a:off x="6922008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55536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24267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7624267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57795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26526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sosceles Triangle 34"/>
          <p:cNvSpPr/>
          <p:nvPr/>
        </p:nvSpPr>
        <p:spPr>
          <a:xfrm>
            <a:off x="8326526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60054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28785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>
            <a:off x="9028785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62313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31044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>
            <a:off x="9731044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4572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33304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>
            <a:off x="10433304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66832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91072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91072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8" name="Oval 47"/>
          <p:cNvSpPr/>
          <p:nvPr/>
        </p:nvSpPr>
        <p:spPr>
          <a:xfrm>
            <a:off x="6524244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566993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6620256.0" y="4368546.0"/>
            <a:ext cx="475488.0" cy="43434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095744.0" y="4368546.0"/>
            <a:ext cx="702259.2000000002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798003.2" y="4368546.0"/>
            <a:ext cx="702259.2000000002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500262.4" y="4368546.0"/>
            <a:ext cx="702259.1999999993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202521.6" y="4368546.0"/>
            <a:ext cx="702259.2000000011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4780.8" y="4368546.0"/>
            <a:ext cx="702259.1999999993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0607040.0" y="4411980.0"/>
            <a:ext cx="629107.1999999993" cy="43434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10 yd straight line, 6 cones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60" name="Oval 59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2" name="Oval 61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4" name="Oval 63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6" name="Oval 65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25–35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71526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7152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Personal space, 1 ball 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Toe Taps &amp; Bell Touches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Standing still, players tap the top of the ball with alternating feet. Then tap the ball side-to-side between feet ("bells"). Builds feel for the ball.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Light, controlled touches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Coordination — both feet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Rhythm and balance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0" name="Oval 29"/>
          <p:cNvSpPr/>
          <p:nvPr/>
        </p:nvSpPr>
        <p:spPr>
          <a:xfrm>
            <a:off x="6827824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870573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9244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59244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4" name="Oval 33"/>
          <p:cNvSpPr/>
          <p:nvPr/>
        </p:nvSpPr>
        <p:spPr>
          <a:xfrm>
            <a:off x="6827824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870573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88198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88198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38" name="Oval 37"/>
          <p:cNvSpPr/>
          <p:nvPr/>
        </p:nvSpPr>
        <p:spPr>
          <a:xfrm>
            <a:off x="8056778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99527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988198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88198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2" name="Oval 41"/>
          <p:cNvSpPr/>
          <p:nvPr/>
        </p:nvSpPr>
        <p:spPr>
          <a:xfrm>
            <a:off x="8056778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099527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217152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7152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6" name="Oval 45"/>
          <p:cNvSpPr/>
          <p:nvPr/>
        </p:nvSpPr>
        <p:spPr>
          <a:xfrm>
            <a:off x="9285732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9328481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217152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17152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0" name="Oval 49"/>
          <p:cNvSpPr/>
          <p:nvPr/>
        </p:nvSpPr>
        <p:spPr>
          <a:xfrm>
            <a:off x="9285732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328481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0446105" y="3723894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46105" y="376778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4" name="Oval 53"/>
          <p:cNvSpPr/>
          <p:nvPr/>
        </p:nvSpPr>
        <p:spPr>
          <a:xfrm>
            <a:off x="10514685" y="39936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0557434" y="403639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446105" y="4879695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6105" y="4923587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8" name="Oval 57"/>
          <p:cNvSpPr/>
          <p:nvPr/>
        </p:nvSpPr>
        <p:spPr>
          <a:xfrm>
            <a:off x="10514685" y="514944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557434" y="5192192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Personal space, 1 ball each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63" name="Oval 62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5" name="Oval 64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7" name="Oval 66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9" name="Oval 68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PRE-K &amp;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01.4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35–45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5586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5586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Everyone Scores Mini Game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Tiny-sided game on a small field. No goalies. Coach makes sure every kid gets at least one shot on goal. Cheering, celebrating, lots of giggles.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Run toward the ball, not away from it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Take a swing — shooting is fun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Cheer for teammates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9527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527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807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527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439144" y="4091940"/>
            <a:ext cx="164592" cy="6400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439144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1567160" y="4091940"/>
            <a:ext cx="36576" cy="640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9144" y="40919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44460" y="3615537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4460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9" name="Oval 38"/>
          <p:cNvSpPr/>
          <p:nvPr/>
        </p:nvSpPr>
        <p:spPr>
          <a:xfrm>
            <a:off x="7695590" y="455462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695590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1" name="Oval 40"/>
          <p:cNvSpPr/>
          <p:nvPr/>
        </p:nvSpPr>
        <p:spPr>
          <a:xfrm>
            <a:off x="8046720" y="527700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3" name="Oval 42"/>
          <p:cNvSpPr/>
          <p:nvPr/>
        </p:nvSpPr>
        <p:spPr>
          <a:xfrm>
            <a:off x="9919411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19411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5" name="Oval 44"/>
          <p:cNvSpPr/>
          <p:nvPr/>
        </p:nvSpPr>
        <p:spPr>
          <a:xfrm>
            <a:off x="9568281" y="455462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68281" y="459851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7" name="Oval 46"/>
          <p:cNvSpPr/>
          <p:nvPr/>
        </p:nvSpPr>
        <p:spPr>
          <a:xfrm>
            <a:off x="9217152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17152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49" name="Oval 4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20x15 yd, two small goals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54" name="Oval 53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56" name="Oval 55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58" name="Oval 57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0" name="Oval 59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Pre-K &amp; 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145A2A"/>
              </a:gs>
              <a:gs pos="100000">
                <a:srgbClr val="22A24D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0" y="457200"/>
            <a:ext cx="5029200" cy="5486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640080" cy="45720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880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 spc="500">
                <a:solidFill>
                  <a:srgbClr val="4ADE80"/>
                </a:solidFill>
                <a:latin typeface="Calibri"/>
              </a:rPr>
              <a:t>SECTION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10058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 b="1" i="0">
                <a:solidFill>
                  <a:srgbClr val="FFFFFF"/>
                </a:solidFill>
                <a:latin typeface="Calibri"/>
              </a:rPr>
              <a:t>Grades 1–5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17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C5E8CE"/>
                </a:solidFill>
                <a:latin typeface="Calibri"/>
              </a:rPr>
              <a:t>Ages 6–11  ·  60 minute session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200">
                <a:solidFill>
                  <a:srgbClr val="C5E8CE"/>
                </a:solidFill>
                <a:latin typeface="Calibri"/>
              </a:rPr>
              <a:t>qmtk Soccer · Coach Playbook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02.1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399540" cy="274320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3995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OPENING GAME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66468" y="1097280"/>
            <a:ext cx="99229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6468" y="1097280"/>
            <a:ext cx="99229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0–10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68489" y="1097280"/>
            <a:ext cx="16188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8489" y="1097280"/>
            <a:ext cx="16188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20x20 yd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Sharks &amp; Minnows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Everyone gets a ball except 1–2 sharks. Sharks try to kick everyone else's ball out. Last minnow standing wins. Dribbling under pressure from the first whistle.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F5A623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Shield and protect the ball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Change direction at speed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Head up, scan for pressure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759244" y="347106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59244" y="351495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0" name="Oval 29"/>
          <p:cNvSpPr/>
          <p:nvPr/>
        </p:nvSpPr>
        <p:spPr>
          <a:xfrm>
            <a:off x="7028992" y="358536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71741" y="362811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78547" y="444627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78547" y="449016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4" name="Oval 33"/>
          <p:cNvSpPr/>
          <p:nvPr/>
        </p:nvSpPr>
        <p:spPr>
          <a:xfrm>
            <a:off x="7848295" y="456057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891044" y="4603319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24544" y="361553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24544" y="365942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38" name="Oval 37"/>
          <p:cNvSpPr/>
          <p:nvPr/>
        </p:nvSpPr>
        <p:spPr>
          <a:xfrm>
            <a:off x="9194292" y="372983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237041" y="377258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919411" y="4626864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919411" y="4670756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2" name="Oval 41"/>
          <p:cNvSpPr/>
          <p:nvPr/>
        </p:nvSpPr>
        <p:spPr>
          <a:xfrm>
            <a:off x="10189159" y="474116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231908" y="4783913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80192" y="3904488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80192" y="3948380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6" name="Oval 45"/>
          <p:cNvSpPr/>
          <p:nvPr/>
        </p:nvSpPr>
        <p:spPr>
          <a:xfrm>
            <a:off x="10949940" y="40187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992689" y="4061537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44460" y="527700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44460" y="532089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0" name="Oval 49"/>
          <p:cNvSpPr/>
          <p:nvPr/>
        </p:nvSpPr>
        <p:spPr>
          <a:xfrm>
            <a:off x="7614208" y="539130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656957" y="5434051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17152" y="5421477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17152" y="5465369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54" name="Oval 53"/>
          <p:cNvSpPr/>
          <p:nvPr/>
        </p:nvSpPr>
        <p:spPr>
          <a:xfrm>
            <a:off x="9486900" y="553577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529649" y="5578526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8321040" y="417515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422452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58" name="Connector 57"/>
          <p:cNvCxnSpPr/>
          <p:nvPr/>
        </p:nvCxnSpPr>
        <p:spPr>
          <a:xfrm flipV="1">
            <a:off x="8622792.0" y="4202582.4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/>
          <p:cNvSpPr/>
          <p:nvPr/>
        </p:nvSpPr>
        <p:spPr>
          <a:xfrm>
            <a:off x="9784080" y="4789170"/>
            <a:ext cx="329184" cy="329184"/>
          </a:xfrm>
          <a:prstGeom prst="ellipse">
            <a:avLst/>
          </a:prstGeom>
          <a:solidFill>
            <a:srgbClr val="E24A4A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84080" y="4838548"/>
            <a:ext cx="329184" cy="2304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cxnSp>
        <p:nvCxnSpPr>
          <p:cNvPr id="61" name="Connector 60"/>
          <p:cNvCxnSpPr/>
          <p:nvPr/>
        </p:nvCxnSpPr>
        <p:spPr>
          <a:xfrm flipV="1">
            <a:off x="10085832.0" y="4816602.0"/>
            <a:ext cx="365760.0" cy="137160.0"/>
          </a:xfrm>
          <a:prstGeom prst="line">
            <a:avLst/>
          </a:prstGeom>
          <a:ln w="31750">
            <a:solidFill>
              <a:srgbClr val="FF6B6B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20x20 yd grid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F5A623"/>
                </a:solidFill>
                <a:latin typeface="Calibri"/>
              </a:rPr>
              <a:t>OPENING GAME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02.2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10–30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558626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55862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10x15 yd channel, 8 cones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Close-Control Dribbling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Slalom through cones using inside, outside, and sole of the foot. Three speeds: slow technique → game speed → competition (timed). Build close control under pressure.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90E2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Inside, outside, sole — all surfaces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Quick feet, small steps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90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Acceleration out of the last cone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922008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Isosceles Triangle 28"/>
          <p:cNvSpPr/>
          <p:nvPr/>
        </p:nvSpPr>
        <p:spPr>
          <a:xfrm>
            <a:off x="6922008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55536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24267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Isosceles Triangle 31"/>
          <p:cNvSpPr/>
          <p:nvPr/>
        </p:nvSpPr>
        <p:spPr>
          <a:xfrm>
            <a:off x="7624267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57795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26526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Isosceles Triangle 34"/>
          <p:cNvSpPr/>
          <p:nvPr/>
        </p:nvSpPr>
        <p:spPr>
          <a:xfrm>
            <a:off x="8326526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360054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028785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Isosceles Triangle 37"/>
          <p:cNvSpPr/>
          <p:nvPr/>
        </p:nvSpPr>
        <p:spPr>
          <a:xfrm>
            <a:off x="9028785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62313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731044" y="4313865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Isosceles Triangle 40"/>
          <p:cNvSpPr/>
          <p:nvPr/>
        </p:nvSpPr>
        <p:spPr>
          <a:xfrm>
            <a:off x="9731044" y="4130802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764572" y="4206240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33304" y="4675053"/>
            <a:ext cx="201168" cy="36210"/>
          </a:xfrm>
          <a:prstGeom prst="rect">
            <a:avLst/>
          </a:prstGeom>
          <a:solidFill>
            <a:srgbClr val="C95A14"/>
          </a:solidFill>
          <a:ln>
            <a:noFill/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>
            <a:off x="10433304" y="4491990"/>
            <a:ext cx="201168" cy="201168"/>
          </a:xfrm>
          <a:gradFill flip="none" rotWithShape="1">
            <a:gsLst>
              <a:gs pos="0">
                <a:srgbClr val="F5A623"/>
              </a:gs>
              <a:gs pos="100000">
                <a:srgbClr val="EE7B2C"/>
              </a:gs>
            </a:gsLst>
            <a:lin ang="5400000" scaled="0"/>
          </a:gradFill>
          <a:prstGeom prst="triangle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66832" y="4567428"/>
            <a:ext cx="134112" cy="24140"/>
          </a:xfrm>
          <a:prstGeom prst="rect">
            <a:avLst/>
          </a:prstGeom>
          <a:solidFill>
            <a:srgbClr val="FFE5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91072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91072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48" name="Oval 47"/>
          <p:cNvSpPr/>
          <p:nvPr/>
        </p:nvSpPr>
        <p:spPr>
          <a:xfrm>
            <a:off x="6524244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566993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6620256.0" y="4368546.0"/>
            <a:ext cx="475488.0" cy="43434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095744.0" y="4368546.0"/>
            <a:ext cx="702259.2000000002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7798003.2" y="4368546.0"/>
            <a:ext cx="702259.2000000002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8500262.4" y="4368546.0"/>
            <a:ext cx="702259.1999999993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202521.6" y="4368546.0"/>
            <a:ext cx="702259.2000000011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904780.8" y="4368546.0"/>
            <a:ext cx="702259.1999999993" cy="86868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0607040.0" y="4411980.0"/>
            <a:ext cx="629107.1999999993" cy="43434.0"/>
          </a:xfrm>
          <a:prstGeom prst="line">
            <a:avLst/>
          </a:prstGeom>
          <a:ln w="25400">
            <a:solidFill>
              <a:srgbClr val="F5A623"/>
            </a:solidFill>
            <a:prstDash val="dashDot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10x15 yd channel, 8 cones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90E2"/>
                </a:solidFill>
                <a:latin typeface="Calibri"/>
              </a:rPr>
              <a:t>LESSON 1</a:t>
            </a:r>
          </a:p>
        </p:txBody>
      </p:sp>
      <p:sp>
        <p:nvSpPr>
          <p:cNvPr id="60" name="Oval 59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2" name="Oval 61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4" name="Oval 63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66" name="Oval 65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02.3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054946" cy="274320"/>
          </a:xfrm>
          <a:prstGeom prst="roundRect">
            <a:avLst>
              <a:gd name="adj" fmla="val 50000"/>
            </a:avLst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5494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LESSON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1874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1874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30–45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2212" y="1097280"/>
            <a:ext cx="2167043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2212" y="1097280"/>
            <a:ext cx="2167043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10x8 yd boxes, pairs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1v1 to the 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Two players, one ball. Attacker tries to dribble across the defender's endline. Defender tries to win it. Rotate after each rep. Real 1v1 reps build confidence.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7C5DFA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Change of direction to beat pressure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Use the body to shield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7C5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Compete — win the duel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96635" y="2750515"/>
            <a:ext cx="5563210" cy="3322930"/>
          </a:xfrm>
          <a:prstGeom prst="rect">
            <a:avLst/>
          </a:prstGeom>
          <a:noFill/>
          <a:ln w="25400">
            <a:solidFill>
              <a:srgbClr val="FFFFF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30" name="Oval 29"/>
          <p:cNvSpPr/>
          <p:nvPr/>
        </p:nvSpPr>
        <p:spPr>
          <a:xfrm>
            <a:off x="7226503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269252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924544" y="4265676"/>
            <a:ext cx="292608" cy="292608"/>
          </a:xfrm>
          <a:prstGeom prst="ellipse">
            <a:avLst/>
          </a:prstGeom>
          <a:solidFill>
            <a:srgbClr val="FF6B6B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24544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7276795.2" y="3617366.4000000004"/>
            <a:ext cx="3725265.6000000006" cy="748893.5999999996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276795.2" y="4457700.0"/>
            <a:ext cx="3725265.6000000006" cy="748893.5999999996"/>
          </a:xfrm>
          <a:prstGeom prst="line">
            <a:avLst/>
          </a:prstGeom>
          <a:ln w="31750">
            <a:solidFill>
              <a:srgbClr val="F5A623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10x8 yd boxes, pairs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7C5DFA"/>
                </a:solidFill>
                <a:latin typeface="Calibri"/>
              </a:rPr>
              <a:t>LESSON 2</a:t>
            </a:r>
          </a:p>
        </p:txBody>
      </p:sp>
      <p:sp>
        <p:nvSpPr>
          <p:cNvPr id="39" name="Oval 38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41" name="Oval 40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43" name="Oval 42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45" name="Oval 44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gradFill flip="none" rotWithShape="1">
            <a:gsLst>
              <a:gs pos="0">
                <a:srgbClr val="080D0A"/>
              </a:gs>
              <a:gs pos="100000">
                <a:srgbClr val="101812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 spc="200">
                <a:solidFill>
                  <a:srgbClr val="4ADE80"/>
                </a:solidFill>
                <a:latin typeface="Calibri"/>
              </a:rPr>
              <a:t>qmtk Soccer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 spc="400">
                <a:solidFill>
                  <a:srgbClr val="7B8A7F"/>
                </a:solidFill>
                <a:latin typeface="Calibri"/>
              </a:rPr>
              <a:t>COACH PLAYBOOK · GRADES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292608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400" b="1" i="0">
                <a:solidFill>
                  <a:srgbClr val="B4C3B8"/>
                </a:solidFill>
                <a:latin typeface="Calibri"/>
              </a:rPr>
              <a:t>02.4  /  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097280"/>
            <a:ext cx="1141095" cy="274320"/>
          </a:xfrm>
          <a:prstGeom prst="roundRect">
            <a:avLst>
              <a:gd name="adj" fmla="val 50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141095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 spc="80">
                <a:solidFill>
                  <a:srgbClr val="080D0A"/>
                </a:solidFill>
                <a:latin typeface="Calibri"/>
              </a:rPr>
              <a:t>SCRIMMAGE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8023" y="1097280"/>
            <a:ext cx="10706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8023" y="1097280"/>
            <a:ext cx="10706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45–60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8361" y="1097280"/>
            <a:ext cx="2480310" cy="274320"/>
          </a:xfrm>
          <a:prstGeom prst="roundRect">
            <a:avLst>
              <a:gd name="adj" fmla="val 50000"/>
            </a:avLst>
          </a:prstGeom>
          <a:solidFill>
            <a:srgbClr val="18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8361" y="1097280"/>
            <a:ext cx="248031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 spc="8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0876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Small-Sided Scrimmage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640080" cy="54864"/>
          </a:xfrm>
          <a:prstGeom prst="rect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THE DRILL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26080"/>
            <a:ext cx="5120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E8EDE9"/>
                </a:solidFill>
                <a:latin typeface="Calibri"/>
              </a:rPr>
              <a:t>4v4 or 5v5 with real goals and goalies. Apply everything from the session in live play. Coach freezes the action a few times to celebrate good decisions.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 spc="400">
                <a:solidFill>
                  <a:srgbClr val="4ADE80"/>
                </a:solidFill>
                <a:latin typeface="Calibri"/>
              </a:rPr>
              <a:t>KEY COACHING CUES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66360"/>
            <a:ext cx="5120640" cy="18288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85800" y="5422392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3492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Take players on with the dribble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5843016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69864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Read the game — when to dribble, when to pass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6263640"/>
            <a:ext cx="109728" cy="109728"/>
          </a:xfrm>
          <a:prstGeom prst="ellipse">
            <a:avLst/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6190488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E8EDE9"/>
                </a:solidFill>
                <a:latin typeface="Calibri"/>
              </a:rPr>
              <a:t>Compete hard, support teammates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468880"/>
            <a:ext cx="6126480" cy="3886200"/>
          </a:xfrm>
          <a:prstGeom prst="roundRect">
            <a:avLst>
              <a:gd name="adj" fmla="val 12000"/>
            </a:avLst>
          </a:prstGeom>
          <a:solidFill>
            <a:srgbClr val="18221B"/>
          </a:solidFill>
          <a:ln w="12700">
            <a:solidFill>
              <a:srgbClr val="1F2D23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52160" y="2606040"/>
            <a:ext cx="5852160" cy="3611880"/>
          </a:xfrm>
          <a:gradFill flip="none" rotWithShape="1">
            <a:gsLst>
              <a:gs pos="0">
                <a:srgbClr val="3E964F"/>
              </a:gs>
              <a:gs pos="100000">
                <a:srgbClr val="2A7037"/>
              </a:gs>
            </a:gsLst>
            <a:lin ang="8100000" scaled="0"/>
          </a:gradFill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60516" y="2714396"/>
            <a:ext cx="5635448" cy="3395168"/>
          </a:xfrm>
          <a:prstGeom prst="rect">
            <a:avLst/>
          </a:prstGeom>
          <a:noFill/>
          <a:ln w="317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8778240.0" y="2714396"/>
            <a:ext cx="0.0" cy="3395168"/>
          </a:xfrm>
          <a:prstGeom prst="line">
            <a:avLst/>
          </a:prstGeom>
          <a:ln w="19050">
            <a:solidFill>
              <a:srgbClr val="FFFF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308695" y="3942435"/>
            <a:ext cx="939088" cy="93908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34898" y="4368638"/>
            <a:ext cx="86684" cy="8668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60516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42575" y="3599307"/>
            <a:ext cx="1053388" cy="162534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60516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1186312" y="4014673"/>
            <a:ext cx="409651" cy="794613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34456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34456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06247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34456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1457432" y="3863340"/>
            <a:ext cx="164592" cy="109728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457432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585448" y="3863340"/>
            <a:ext cx="36576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1457432" y="3863340"/>
            <a:ext cx="164592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993331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93331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5" name="Oval 44"/>
          <p:cNvSpPr/>
          <p:nvPr/>
        </p:nvSpPr>
        <p:spPr>
          <a:xfrm>
            <a:off x="7578547" y="3543300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78547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7" name="Oval 46"/>
          <p:cNvSpPr/>
          <p:nvPr/>
        </p:nvSpPr>
        <p:spPr>
          <a:xfrm>
            <a:off x="7578547" y="4988052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78547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49" name="Oval 48"/>
          <p:cNvSpPr/>
          <p:nvPr/>
        </p:nvSpPr>
        <p:spPr>
          <a:xfrm>
            <a:off x="8163763" y="4265676"/>
            <a:ext cx="292608" cy="292608"/>
          </a:xfrm>
          <a:prstGeom prst="ellipse">
            <a:avLst/>
          </a:prstGeom>
          <a:solidFill>
            <a:srgbClr val="F5A623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63763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51" name="Oval 50"/>
          <p:cNvSpPr/>
          <p:nvPr/>
        </p:nvSpPr>
        <p:spPr>
          <a:xfrm>
            <a:off x="10270540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270540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3" name="Oval 52"/>
          <p:cNvSpPr/>
          <p:nvPr/>
        </p:nvSpPr>
        <p:spPr>
          <a:xfrm>
            <a:off x="9685324" y="3543300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85324" y="3587192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5" name="Oval 54"/>
          <p:cNvSpPr/>
          <p:nvPr/>
        </p:nvSpPr>
        <p:spPr>
          <a:xfrm>
            <a:off x="9685324" y="4988052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685324" y="5031944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7" name="Oval 56"/>
          <p:cNvSpPr/>
          <p:nvPr/>
        </p:nvSpPr>
        <p:spPr>
          <a:xfrm>
            <a:off x="9100108" y="4265676"/>
            <a:ext cx="292608" cy="292608"/>
          </a:xfrm>
          <a:prstGeom prst="ellipse">
            <a:avLst/>
          </a:prstGeom>
          <a:solidFill>
            <a:srgbClr val="4A90E2"/>
          </a:solidFill>
          <a:ln w="19050">
            <a:solidFill>
              <a:srgbClr val="FFFFFF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00108" y="4309568"/>
            <a:ext cx="292608" cy="2048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9" name="Oval 58"/>
          <p:cNvSpPr/>
          <p:nvPr/>
        </p:nvSpPr>
        <p:spPr>
          <a:xfrm>
            <a:off x="8700516" y="433425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80D0A"/>
            </a:solidFill>
          </a:ln>
          <a:effectLst>
            <a:outerShdw blurRad="60000" dist="38100" dir="5400000" algn="ctr" rotWithShape="0">
              <a:srgbClr val="000000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8743265" y="4377005"/>
            <a:ext cx="69950" cy="6995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>
            <a:off x="8447227.2" y="4411980.0"/>
            <a:ext cx="623620.8000000007" cy="361188.0"/>
          </a:xfrm>
          <a:prstGeom prst="line">
            <a:avLst/>
          </a:prstGeom>
          <a:ln w="25400">
            <a:solidFill>
              <a:srgbClr val="FFFFFF"/>
            </a:solidFill>
            <a:prstDash val="dash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5852160" y="5925312"/>
            <a:ext cx="5852160" cy="292608"/>
          </a:xfrm>
          <a:prstGeom prst="rect">
            <a:avLst/>
          </a:prstGeom>
          <a:solidFill>
            <a:srgbClr val="080D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 spc="50">
                <a:solidFill>
                  <a:srgbClr val="E8EDE9"/>
                </a:solidFill>
                <a:latin typeface="Calibri"/>
              </a:rPr>
              <a:t>📏  30x20 yd, two real goals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5925312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1" i="0" spc="80">
                <a:solidFill>
                  <a:srgbClr val="4ADE80"/>
                </a:solidFill>
                <a:latin typeface="Calibri"/>
              </a:rPr>
              <a:t>SCRIMMAGE</a:t>
            </a:r>
          </a:p>
        </p:txBody>
      </p:sp>
      <p:sp>
        <p:nvSpPr>
          <p:cNvPr id="65" name="Oval 64"/>
          <p:cNvSpPr/>
          <p:nvPr/>
        </p:nvSpPr>
        <p:spPr>
          <a:xfrm>
            <a:off x="5852160" y="6547104"/>
            <a:ext cx="164592" cy="164592"/>
          </a:xfrm>
          <a:prstGeom prst="ellipse">
            <a:avLst/>
          </a:prstGeom>
          <a:solidFill>
            <a:srgbClr val="F5A623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0533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A / Attacker</a:t>
            </a:r>
          </a:p>
        </p:txBody>
      </p:sp>
      <p:sp>
        <p:nvSpPr>
          <p:cNvPr id="67" name="Oval 66"/>
          <p:cNvSpPr/>
          <p:nvPr/>
        </p:nvSpPr>
        <p:spPr>
          <a:xfrm>
            <a:off x="7223760" y="6547104"/>
            <a:ext cx="164592" cy="164592"/>
          </a:xfrm>
          <a:prstGeom prst="ellipse">
            <a:avLst/>
          </a:prstGeom>
          <a:solidFill>
            <a:srgbClr val="4A90E2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4249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Player B / Receiver</a:t>
            </a:r>
          </a:p>
        </p:txBody>
      </p:sp>
      <p:sp>
        <p:nvSpPr>
          <p:cNvPr id="69" name="Oval 68"/>
          <p:cNvSpPr/>
          <p:nvPr/>
        </p:nvSpPr>
        <p:spPr>
          <a:xfrm>
            <a:off x="8595360" y="6547104"/>
            <a:ext cx="164592" cy="164592"/>
          </a:xfrm>
          <a:prstGeom prst="ellipse">
            <a:avLst/>
          </a:prstGeom>
          <a:solidFill>
            <a:srgbClr val="FF6B6B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7965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Defender</a:t>
            </a:r>
          </a:p>
        </p:txBody>
      </p:sp>
      <p:sp>
        <p:nvSpPr>
          <p:cNvPr id="71" name="Oval 70"/>
          <p:cNvSpPr/>
          <p:nvPr/>
        </p:nvSpPr>
        <p:spPr>
          <a:xfrm>
            <a:off x="9966960" y="6547104"/>
            <a:ext cx="164592" cy="164592"/>
          </a:xfrm>
          <a:prstGeom prst="ellipse">
            <a:avLst/>
          </a:prstGeom>
          <a:solidFill>
            <a:srgbClr val="FFFFFF"/>
          </a:solidFill>
          <a:ln w="9525">
            <a:solidFill>
              <a:srgbClr val="080D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68128" y="649224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4C3B8"/>
                </a:solidFill>
                <a:latin typeface="Calibri"/>
              </a:rPr>
              <a:t>Ball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01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65379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 spc="200">
                <a:solidFill>
                  <a:srgbClr val="7B8A7F"/>
                </a:solidFill>
                <a:latin typeface="Calibri"/>
              </a:rPr>
              <a:t>qmtk Soccer · Coach Playbook · Grades 1–5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05695" y="653796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 spc="200">
                <a:solidFill>
                  <a:srgbClr val="7B8A7F"/>
                </a:solidFill>
                <a:latin typeface="Calibri"/>
              </a:rPr>
              <a:t>qmtk.org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