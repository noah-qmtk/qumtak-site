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A24D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C4BC"/>
                </a:solidFill>
                <a:latin typeface="Calibri"/>
              </a:rPr>
              <a:t>Coach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of April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2A24D"/>
                </a:solidFill>
                <a:latin typeface="Calibri"/>
              </a:rPr>
              <a:t>Week 1 — Ball Control &amp; Dribbling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C4BC"/>
                </a:solidFill>
                <a:latin typeface="Calibri"/>
              </a:rPr>
              <a:t>Sanborn Elementary School Lower Field, Andover, 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C4BC"/>
                </a:solidFill>
                <a:latin typeface="Calibri"/>
              </a:rPr>
              <a:t>5:50–6:50 PM (Mon &amp; Fri)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035040"/>
            <a:ext cx="11094415" cy="18288"/>
          </a:xfrm>
          <a:prstGeom prst="rect">
            <a:avLst/>
          </a:prstGeom>
          <a:solidFill>
            <a:srgbClr val="22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8C80"/>
                </a:solidFill>
                <a:latin typeface="Calibri"/>
              </a:rPr>
              <a:t>qmtk.org · Train Smart. Play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97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Pre-K &amp; Kindergarten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CFE8D5"/>
                </a:solidFill>
                <a:latin typeface="Calibri"/>
              </a:rPr>
              <a:t>Ages 3–5  ·  45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Red Light, Green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Pre-K &amp; K  ·  0–10 MIN  ·  📏 15x15 yd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Every player gets a ball. "Green light" — dribble forward. "Red light" — freeze with a foot on top of the ball. Listening, control, confidence right from the start.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Soft touches with the inside of the foot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Stopping the ball — foot on 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Following directions, quick reactions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OPENING GAME</a:t>
            </a:r>
          </a:p>
        </p:txBody>
      </p:sp>
      <p:sp>
        <p:nvSpPr>
          <p:cNvPr id="17" name="Oval 16"/>
          <p:cNvSpPr/>
          <p:nvPr/>
        </p:nvSpPr>
        <p:spPr>
          <a:xfrm>
            <a:off x="5892393" y="238658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2393" y="242316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9" name="Oval 18"/>
          <p:cNvSpPr/>
          <p:nvPr/>
        </p:nvSpPr>
        <p:spPr>
          <a:xfrm>
            <a:off x="6120993" y="245059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83096" y="353872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357530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2" name="Oval 21"/>
          <p:cNvSpPr/>
          <p:nvPr/>
        </p:nvSpPr>
        <p:spPr>
          <a:xfrm>
            <a:off x="6711696" y="3602736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257860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61518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5" name="Oval 24"/>
          <p:cNvSpPr/>
          <p:nvPr/>
        </p:nvSpPr>
        <p:spPr>
          <a:xfrm>
            <a:off x="7406640" y="2642616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68742" y="373075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68742" y="376732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8" name="Oval 27"/>
          <p:cNvSpPr/>
          <p:nvPr/>
        </p:nvSpPr>
        <p:spPr>
          <a:xfrm>
            <a:off x="7997342" y="3794760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0456" y="277063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1" name="Oval 30"/>
          <p:cNvSpPr/>
          <p:nvPr/>
        </p:nvSpPr>
        <p:spPr>
          <a:xfrm>
            <a:off x="8449056" y="2834640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35624" y="43068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434340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364224" y="437083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51776" y="43068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1776" y="434340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7" name="Oval 36"/>
          <p:cNvSpPr/>
          <p:nvPr/>
        </p:nvSpPr>
        <p:spPr>
          <a:xfrm>
            <a:off x="7580376" y="437083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967728" y="3310128"/>
            <a:ext cx="329184" cy="329184"/>
          </a:xfrm>
          <a:prstGeom prst="ellipse">
            <a:avLst/>
          </a:prstGeom>
          <a:solidFill>
            <a:srgbClr val="E24A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67728" y="3383280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15x15 yd grid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Friendly Foot — Cone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Pre-K &amp; K  ·  10–25 MIN  ·  📏 10 yd straight line, 6 cones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Simple cone path. Each player takes turns dribbling slowly through with small touches. Coach cheers every touch. Get comfortable with the ball at your feet.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Keep the ball close — small touches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Use both feet, even just a little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Look up, then look down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17" name="Oval 16"/>
          <p:cNvSpPr/>
          <p:nvPr/>
        </p:nvSpPr>
        <p:spPr>
          <a:xfrm>
            <a:off x="5947257" y="3593592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78122" y="2825496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08988" y="3593592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39853" y="2825496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70718" y="3593592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01584" y="2825496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14416" y="33467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14416" y="338328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5" name="Oval 24"/>
          <p:cNvSpPr/>
          <p:nvPr/>
        </p:nvSpPr>
        <p:spPr>
          <a:xfrm>
            <a:off x="5747918" y="3602736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5811926.4" y="3474720.0"/>
            <a:ext cx="2536545.5999999996" cy="192024.0"/>
          </a:xfrm>
          <a:prstGeom prst="line">
            <a:avLst/>
          </a:prstGeom>
          <a:ln w="25400">
            <a:solidFill>
              <a:srgbClr val="F5A62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10 yd straight line, 6 cones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Toe Taps &amp; Bell Touches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Pre-K &amp; K  ·  25–35 MIN  ·  📏 Personal space, 1 ball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Standing still, players tap the top of the ball with alternating feet. Then tap the ball side-to-side between feet ("bells"). Builds feel for the ball.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Light, controlled touches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Coordination — both feet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Rhythm and balance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LESSON 2</a:t>
            </a:r>
          </a:p>
        </p:txBody>
      </p:sp>
      <p:sp>
        <p:nvSpPr>
          <p:cNvPr id="17" name="Oval 16"/>
          <p:cNvSpPr/>
          <p:nvPr/>
        </p:nvSpPr>
        <p:spPr>
          <a:xfrm>
            <a:off x="5961888" y="277063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9" name="Oval 18"/>
          <p:cNvSpPr/>
          <p:nvPr/>
        </p:nvSpPr>
        <p:spPr>
          <a:xfrm>
            <a:off x="6025896" y="3141878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61888" y="3922775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61888" y="3959351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2" name="Oval 21"/>
          <p:cNvSpPr/>
          <p:nvPr/>
        </p:nvSpPr>
        <p:spPr>
          <a:xfrm>
            <a:off x="6025896" y="429402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7337" y="277063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7337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5" name="Oval 24"/>
          <p:cNvSpPr/>
          <p:nvPr/>
        </p:nvSpPr>
        <p:spPr>
          <a:xfrm>
            <a:off x="6651345" y="3141878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7337" y="3922775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7337" y="3959351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8" name="Oval 27"/>
          <p:cNvSpPr/>
          <p:nvPr/>
        </p:nvSpPr>
        <p:spPr>
          <a:xfrm>
            <a:off x="6651345" y="429402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12787" y="277063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2787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1" name="Oval 30"/>
          <p:cNvSpPr/>
          <p:nvPr/>
        </p:nvSpPr>
        <p:spPr>
          <a:xfrm>
            <a:off x="7276795" y="3141878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12787" y="3922775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12787" y="3959351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7276795" y="429402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38236" y="277063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38236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7" name="Oval 36"/>
          <p:cNvSpPr/>
          <p:nvPr/>
        </p:nvSpPr>
        <p:spPr>
          <a:xfrm>
            <a:off x="7902244" y="3141878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38236" y="3922775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38236" y="3959351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0" name="Oval 39"/>
          <p:cNvSpPr/>
          <p:nvPr/>
        </p:nvSpPr>
        <p:spPr>
          <a:xfrm>
            <a:off x="7902244" y="429402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Personal space, 1 ball each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A24D"/>
                </a:solidFill>
                <a:latin typeface="Calibri"/>
              </a:rPr>
              <a:t>SCRIMMAGE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Everyone Scores Mini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Pre-K &amp; K  ·  35–45 MIN  ·  📏 20x15 yd, two small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Tiny-sided game on a small field. No goalies. Coach makes sure every kid gets at least one shot on goal. Cheering, celebrating, lots of giggles.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Run toward the ball, not away from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Take a swing — shooting is fun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Cheer for teammates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SCRIMMAGE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3227832"/>
            <a:ext cx="73152" cy="502920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13648" y="3227832"/>
            <a:ext cx="73152" cy="502920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35624" y="277063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1" name="Oval 20"/>
          <p:cNvSpPr/>
          <p:nvPr/>
        </p:nvSpPr>
        <p:spPr>
          <a:xfrm>
            <a:off x="6378854" y="3922776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8854" y="395935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3" name="Oval 22"/>
          <p:cNvSpPr/>
          <p:nvPr/>
        </p:nvSpPr>
        <p:spPr>
          <a:xfrm>
            <a:off x="7699248" y="2770632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5" name="Oval 24"/>
          <p:cNvSpPr/>
          <p:nvPr/>
        </p:nvSpPr>
        <p:spPr>
          <a:xfrm>
            <a:off x="7942478" y="3922776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2478" y="395935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7" name="Oval 26"/>
          <p:cNvSpPr/>
          <p:nvPr/>
        </p:nvSpPr>
        <p:spPr>
          <a:xfrm>
            <a:off x="7068312" y="341071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20x15 yd, two small goals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97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Grades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CFE8D5"/>
                </a:solidFill>
                <a:latin typeface="Calibri"/>
              </a:rPr>
              <a:t>Ages 6–11  ·  60 minutes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Sharks &amp; Minnows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Grades 1–5  ·  0–10 MIN  ·  📏 20x20 yd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Everyone gets a ball except 1–2 sharks. Sharks try to kick everyone else's ball out. Last minnow standing wins. Dribbling under pressure from the first whistle.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Shield and protect the ball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Change direction at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Head up, scan for pressure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OPENING GAME</a:t>
            </a:r>
          </a:p>
        </p:txBody>
      </p:sp>
      <p:sp>
        <p:nvSpPr>
          <p:cNvPr id="17" name="Oval 16"/>
          <p:cNvSpPr/>
          <p:nvPr/>
        </p:nvSpPr>
        <p:spPr>
          <a:xfrm>
            <a:off x="5892393" y="2578608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2393" y="261518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9" name="Oval 18"/>
          <p:cNvSpPr/>
          <p:nvPr/>
        </p:nvSpPr>
        <p:spPr>
          <a:xfrm>
            <a:off x="6120993" y="2642616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83096" y="3538728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357530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2" name="Oval 21"/>
          <p:cNvSpPr/>
          <p:nvPr/>
        </p:nvSpPr>
        <p:spPr>
          <a:xfrm>
            <a:off x="6711696" y="3602736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2770632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5" name="Oval 24"/>
          <p:cNvSpPr/>
          <p:nvPr/>
        </p:nvSpPr>
        <p:spPr>
          <a:xfrm>
            <a:off x="7406640" y="2834640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68742" y="3807561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68742" y="3844137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8" name="Oval 27"/>
          <p:cNvSpPr/>
          <p:nvPr/>
        </p:nvSpPr>
        <p:spPr>
          <a:xfrm>
            <a:off x="7997342" y="3871569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0456" y="2962656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299923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1" name="Oval 30"/>
          <p:cNvSpPr/>
          <p:nvPr/>
        </p:nvSpPr>
        <p:spPr>
          <a:xfrm>
            <a:off x="8449056" y="302666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39865" y="4306824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9865" y="434340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4" name="Oval 33"/>
          <p:cNvSpPr/>
          <p:nvPr/>
        </p:nvSpPr>
        <p:spPr>
          <a:xfrm>
            <a:off x="6468465" y="437083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12280" y="3328416"/>
            <a:ext cx="292608" cy="292608"/>
          </a:xfrm>
          <a:prstGeom prst="ellipse">
            <a:avLst/>
          </a:prstGeom>
          <a:solidFill>
            <a:srgbClr val="E24A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3383280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7" name="Oval 36"/>
          <p:cNvSpPr/>
          <p:nvPr/>
        </p:nvSpPr>
        <p:spPr>
          <a:xfrm>
            <a:off x="7680960" y="2944368"/>
            <a:ext cx="292608" cy="292608"/>
          </a:xfrm>
          <a:prstGeom prst="ellipse">
            <a:avLst/>
          </a:prstGeom>
          <a:solidFill>
            <a:srgbClr val="E24A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2999232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20x20 yd grid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Close-Control Dribbling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Grades 1–5  ·  10–30 MIN  ·  📏 10x15 yd channel, 8 cones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Slalom through cones using inside, outside, and sole of the foot. Three speeds: slow technique → game speed → competition (timed). Build close control under pressure.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Inside, outside, sole — all surfaces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Quick feet, small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Acceleration out of the last cone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LESSON 1</a:t>
            </a:r>
          </a:p>
        </p:txBody>
      </p:sp>
      <p:sp>
        <p:nvSpPr>
          <p:cNvPr id="17" name="Oval 16"/>
          <p:cNvSpPr/>
          <p:nvPr/>
        </p:nvSpPr>
        <p:spPr>
          <a:xfrm>
            <a:off x="5947257" y="3593592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78122" y="2825496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08988" y="3593592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39853" y="2825496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70718" y="3593592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01584" y="2825496"/>
            <a:ext cx="146304" cy="146304"/>
          </a:xfrm>
          <a:prstGeom prst="ellipse">
            <a:avLst/>
          </a:prstGeom>
          <a:solidFill>
            <a:srgbClr val="F5A62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14416" y="33467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14416" y="338328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5" name="Oval 24"/>
          <p:cNvSpPr/>
          <p:nvPr/>
        </p:nvSpPr>
        <p:spPr>
          <a:xfrm>
            <a:off x="5747918" y="3602736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5811926.4" y="3474720.0"/>
            <a:ext cx="2536545.5999999996" cy="192024.0"/>
          </a:xfrm>
          <a:prstGeom prst="line">
            <a:avLst/>
          </a:prstGeom>
          <a:ln w="25400">
            <a:solidFill>
              <a:srgbClr val="F5A62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10x15 yd channel, 8 cones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1v1 to the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Grades 1–5  ·  30–45 MIN  ·  📏 10x8 yd boxes,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Two players, one ball. Attacker tries to dribble across the defender's endline. Defender tries to win it. Rotate after each rep. Real 1v1 reps build confidence.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Change of direction to beat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Use the body to shield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Compete — win the duel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LESSON 2</a:t>
            </a:r>
          </a:p>
        </p:txBody>
      </p:sp>
      <p:sp>
        <p:nvSpPr>
          <p:cNvPr id="17" name="Oval 16"/>
          <p:cNvSpPr/>
          <p:nvPr/>
        </p:nvSpPr>
        <p:spPr>
          <a:xfrm>
            <a:off x="6135624" y="33467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4" y="338328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6373368" y="341071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51776" y="3346704"/>
            <a:ext cx="256032" cy="256032"/>
          </a:xfrm>
          <a:prstGeom prst="ellipse">
            <a:avLst/>
          </a:prstGeom>
          <a:solidFill>
            <a:srgbClr val="E24A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1776" y="338328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437376.0" y="2706624.0"/>
            <a:ext cx="1911096.0" cy="768096.0"/>
          </a:xfrm>
          <a:prstGeom prst="line">
            <a:avLst/>
          </a:prstGeom>
          <a:ln w="25400">
            <a:solidFill>
              <a:srgbClr val="F5A62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37376.0" y="3474720.0"/>
            <a:ext cx="1911096.0" cy="768096.0"/>
          </a:xfrm>
          <a:prstGeom prst="line">
            <a:avLst/>
          </a:prstGeom>
          <a:ln w="25400">
            <a:solidFill>
              <a:srgbClr val="F5A62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10x8 yd boxes, pairs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A24D"/>
                </a:solidFill>
                <a:latin typeface="Calibri"/>
              </a:rPr>
              <a:t>SCRIMMAGE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Small-Sided Scrimmage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Grades 1–5  ·  45–60 MIN  ·  📏 30x20 yd, two real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4v4 or 5v5 with real goals and goalies. Apply everything from the session in live play. Coach freezes the action a few times to celebrate good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A24D"/>
                </a:solidFill>
                <a:latin typeface="Calibri"/>
              </a:rPr>
              <a:t>KEY COACHING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Take players on with the dribble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Read the game — when to dribble, when to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4BC"/>
                </a:solidFill>
                <a:latin typeface="Calibri"/>
              </a:rPr>
              <a:t>•  Compete hard, support teammates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3474720" cy="3840480"/>
          </a:xfrm>
          <a:prstGeom prst="rect">
            <a:avLst/>
          </a:prstGeom>
          <a:solidFill>
            <a:srgbClr val="2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9824" y="1609344"/>
            <a:ext cx="3364992" cy="3730752"/>
          </a:xfrm>
          <a:prstGeom prst="rect">
            <a:avLst/>
          </a:prstGeom>
          <a:solidFill>
            <a:srgbClr val="2D7A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828800" cy="2560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SCRIMMAGE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3154680"/>
            <a:ext cx="73152" cy="640080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13648" y="3154680"/>
            <a:ext cx="73152" cy="640080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132320.0" y="1737360"/>
            <a:ext cx="0.0" cy="3474720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031382" y="277063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1382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373075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76732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4" name="Oval 23"/>
          <p:cNvSpPr/>
          <p:nvPr/>
        </p:nvSpPr>
        <p:spPr>
          <a:xfrm>
            <a:off x="6656832" y="315468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319125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6830568" y="43068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434340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8" name="Oval 27"/>
          <p:cNvSpPr/>
          <p:nvPr/>
        </p:nvSpPr>
        <p:spPr>
          <a:xfrm>
            <a:off x="7977225" y="2770632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7225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0" name="Oval 29"/>
          <p:cNvSpPr/>
          <p:nvPr/>
        </p:nvSpPr>
        <p:spPr>
          <a:xfrm>
            <a:off x="7699248" y="3730752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376732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2" name="Oval 31"/>
          <p:cNvSpPr/>
          <p:nvPr/>
        </p:nvSpPr>
        <p:spPr>
          <a:xfrm>
            <a:off x="7351776" y="3154680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51776" y="319125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4" name="Oval 33"/>
          <p:cNvSpPr/>
          <p:nvPr/>
        </p:nvSpPr>
        <p:spPr>
          <a:xfrm>
            <a:off x="7178040" y="2386584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242316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6" name="Oval 35"/>
          <p:cNvSpPr/>
          <p:nvPr/>
        </p:nvSpPr>
        <p:spPr>
          <a:xfrm>
            <a:off x="7068312" y="341071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A0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5486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A8C80"/>
                </a:solidFill>
                <a:latin typeface="Calibri"/>
              </a:rPr>
              <a:t>Setup: 30x20 yd, two real goals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711696"/>
            <a:ext cx="110944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C80"/>
                </a:solidFill>
                <a:latin typeface="Calibri"/>
              </a:rPr>
              <a:t>qmtk Soccer · Coach Playbook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71169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8C80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