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07140E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480000">
            <a:off x="7924648" y="-914400"/>
            <a:ext cx="6553047" cy="8686800"/>
          </a:xfrm>
          <a:gradFill flip="none" rotWithShape="1">
            <a:gsLst>
              <a:gs pos="0">
                <a:srgbClr val="145A2A"/>
              </a:gs>
              <a:gs pos="100000">
                <a:srgbClr val="22A24D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91295" y="3657600"/>
            <a:ext cx="3200400" cy="320040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 spc="12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4124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4C3B8"/>
                </a:solidFill>
                <a:latin typeface="Calibri"/>
              </a:rPr>
              <a:t>COACH PLAYBOOK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400">
                <a:solidFill>
                  <a:srgbClr val="4ADE80"/>
                </a:solidFill>
                <a:latin typeface="Calibri"/>
              </a:rPr>
              <a:t>TRAINING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8686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Week of August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4ADE80"/>
                </a:solidFill>
                <a:latin typeface="Calibri"/>
              </a:rPr>
              <a:t>Week 6 — Juggling, Aerial Control &amp; Combination Play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120640"/>
            <a:ext cx="91440" cy="10058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1206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7B8A7F"/>
                </a:solidFill>
                <a:latin typeface="Calibri"/>
              </a:rPr>
              <a:t>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40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West Elementary School, Andover, 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06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4C3B8"/>
                </a:solidFill>
                <a:latin typeface="Calibri"/>
              </a:rPr>
              <a:t>Thursdays · K–5 6:00–6:45 PM · Gr. 6–8 6:45–7:30 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50">
                <a:solidFill>
                  <a:srgbClr val="7B8A7F"/>
                </a:solidFill>
                <a:latin typeface="Calibri"/>
              </a:rPr>
              <a:t>qmtk.org  ·  Train Smart. Play Smart.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145A2A"/>
              </a:gs>
              <a:gs pos="100000">
                <a:srgbClr val="22A24D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457200"/>
            <a:ext cx="5029200" cy="54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64008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500">
                <a:solidFill>
                  <a:srgbClr val="4ADE80"/>
                </a:solidFill>
                <a:latin typeface="Calibri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Grades K–5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C5E8CE"/>
                </a:solidFill>
                <a:latin typeface="Calibri"/>
              </a:rPr>
              <a:t>6:00–6:45 PM · 45 minute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C5E8CE"/>
                </a:solidFill>
                <a:latin typeface="Calibri"/>
              </a:rPr>
              <a:t>qmtk Soccer · Coach Playbook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K–5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01.1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39954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3995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OPENING GAME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6468" y="1097280"/>
            <a:ext cx="99229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6468" y="1097280"/>
            <a:ext cx="99229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0–10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8489" y="1097280"/>
            <a:ext cx="271526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8489" y="1097280"/>
            <a:ext cx="27152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Personal space, 1 ball 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Balloon Ball / Catch-Juggle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Players drop the ball from their hands, let it bounce once, kick it back up, and catch it. Count catches out loud together. The very first step of juggling — made easy enough that everyone succeeds.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Kick the middle of the ball, gently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Laces flat like a table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Catch it — that's a point!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0" name="Oval 29"/>
          <p:cNvSpPr/>
          <p:nvPr/>
        </p:nvSpPr>
        <p:spPr>
          <a:xfrm>
            <a:off x="6827824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70573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9244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59244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827824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70573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88198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88198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8056778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99527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88198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88198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2" name="Oval 41"/>
          <p:cNvSpPr/>
          <p:nvPr/>
        </p:nvSpPr>
        <p:spPr>
          <a:xfrm>
            <a:off x="8056778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99527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17152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7152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6" name="Oval 45"/>
          <p:cNvSpPr/>
          <p:nvPr/>
        </p:nvSpPr>
        <p:spPr>
          <a:xfrm>
            <a:off x="9285732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28481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17152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7152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0" name="Oval 49"/>
          <p:cNvSpPr/>
          <p:nvPr/>
        </p:nvSpPr>
        <p:spPr>
          <a:xfrm>
            <a:off x="9285732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28481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446105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46105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4" name="Oval 53"/>
          <p:cNvSpPr/>
          <p:nvPr/>
        </p:nvSpPr>
        <p:spPr>
          <a:xfrm>
            <a:off x="10514685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57434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46105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6105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8" name="Oval 57"/>
          <p:cNvSpPr/>
          <p:nvPr/>
        </p:nvSpPr>
        <p:spPr>
          <a:xfrm>
            <a:off x="10514685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57434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Personal space, 1 ball each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F5A623"/>
                </a:solidFill>
                <a:latin typeface="Calibri"/>
              </a:rPr>
              <a:t>OPENING GAME</a:t>
            </a:r>
          </a:p>
        </p:txBody>
      </p:sp>
      <p:sp>
        <p:nvSpPr>
          <p:cNvPr id="63" name="Oval 62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5" name="Oval 64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7" name="Oval 66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9" name="Oval 68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K–5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K–5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01.2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10–22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271526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27152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Personal space, 1 ball 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Bounce Juggling Challenge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Drop, bounce, kick, bounce, kick — how many can you do? Coach tracks each player's personal record and celebrates every new best. Thigh touches allowed for a bonus point. Pure feel-for-the-ball practice.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Soft touch — the ball should float, not fly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Ankle locked, toes up slightly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Beat YOUR record, not your neighbor's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0" name="Oval 29"/>
          <p:cNvSpPr/>
          <p:nvPr/>
        </p:nvSpPr>
        <p:spPr>
          <a:xfrm>
            <a:off x="6827824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70573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9244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59244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827824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70573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88198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88198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8056778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99527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88198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88198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2" name="Oval 41"/>
          <p:cNvSpPr/>
          <p:nvPr/>
        </p:nvSpPr>
        <p:spPr>
          <a:xfrm>
            <a:off x="8056778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99527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17152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7152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6" name="Oval 45"/>
          <p:cNvSpPr/>
          <p:nvPr/>
        </p:nvSpPr>
        <p:spPr>
          <a:xfrm>
            <a:off x="9285732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28481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17152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7152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0" name="Oval 49"/>
          <p:cNvSpPr/>
          <p:nvPr/>
        </p:nvSpPr>
        <p:spPr>
          <a:xfrm>
            <a:off x="9285732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28481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446105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46105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4" name="Oval 53"/>
          <p:cNvSpPr/>
          <p:nvPr/>
        </p:nvSpPr>
        <p:spPr>
          <a:xfrm>
            <a:off x="10514685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57434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46105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6105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8" name="Oval 57"/>
          <p:cNvSpPr/>
          <p:nvPr/>
        </p:nvSpPr>
        <p:spPr>
          <a:xfrm>
            <a:off x="10514685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57434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Personal space, 1 ball each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90E2"/>
                </a:solidFill>
                <a:latin typeface="Calibri"/>
              </a:rPr>
              <a:t>LESSON 1</a:t>
            </a:r>
          </a:p>
        </p:txBody>
      </p:sp>
      <p:sp>
        <p:nvSpPr>
          <p:cNvPr id="63" name="Oval 62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5" name="Oval 64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7" name="Oval 66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9" name="Oval 68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K–5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K–5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01.3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22–33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2323676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23236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15 yd to a proper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Pass, Follow &amp; Shoot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Three-player combo: pass to the coach, run forward, get the ball back, pass to a teammate, and the teammate shoots on the big goal. Then rotate. First taste of link-up play, finished with a bang.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Pass, then GO — don't watch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Call your teammate's name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Finish the team move with a shot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0" name="Oval 29"/>
          <p:cNvSpPr/>
          <p:nvPr/>
        </p:nvSpPr>
        <p:spPr>
          <a:xfrm>
            <a:off x="6827824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70573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9244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59244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827824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70573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88198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88198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8056778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99527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88198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88198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2" name="Oval 41"/>
          <p:cNvSpPr/>
          <p:nvPr/>
        </p:nvSpPr>
        <p:spPr>
          <a:xfrm>
            <a:off x="8056778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99527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17152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7152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6" name="Oval 45"/>
          <p:cNvSpPr/>
          <p:nvPr/>
        </p:nvSpPr>
        <p:spPr>
          <a:xfrm>
            <a:off x="9285732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28481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17152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7152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0" name="Oval 49"/>
          <p:cNvSpPr/>
          <p:nvPr/>
        </p:nvSpPr>
        <p:spPr>
          <a:xfrm>
            <a:off x="9285732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28481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446105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46105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4" name="Oval 53"/>
          <p:cNvSpPr/>
          <p:nvPr/>
        </p:nvSpPr>
        <p:spPr>
          <a:xfrm>
            <a:off x="10514685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57434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46105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6105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8" name="Oval 57"/>
          <p:cNvSpPr/>
          <p:nvPr/>
        </p:nvSpPr>
        <p:spPr>
          <a:xfrm>
            <a:off x="10514685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57434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15 yd to a proper goal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7C5DFA"/>
                </a:solidFill>
                <a:latin typeface="Calibri"/>
              </a:rPr>
              <a:t>LESSON 2</a:t>
            </a:r>
          </a:p>
        </p:txBody>
      </p:sp>
      <p:sp>
        <p:nvSpPr>
          <p:cNvPr id="63" name="Oval 62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5" name="Oval 64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7" name="Oval 66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9" name="Oval 68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K–5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K–5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01.4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41095" cy="2743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410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SCRIMMAGE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8023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8023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33–45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8361" y="1097280"/>
            <a:ext cx="263694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8361" y="1097280"/>
            <a:ext cx="263694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35x25 yd, two proper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5v5 on Proper Goals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5v5. Coach rule: a goal after a pass-and-follow combo counts double. Kids start hunting for teammates — the beginning of real team soccer.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One pass, then look for the return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Keep running after you pass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Celebrate team goals loudest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0" name="Oval 29"/>
          <p:cNvSpPr/>
          <p:nvPr/>
        </p:nvSpPr>
        <p:spPr>
          <a:xfrm>
            <a:off x="6827824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70573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9244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59244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827824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70573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88198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88198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8056778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99527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88198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88198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2" name="Oval 41"/>
          <p:cNvSpPr/>
          <p:nvPr/>
        </p:nvSpPr>
        <p:spPr>
          <a:xfrm>
            <a:off x="8056778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99527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17152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7152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6" name="Oval 45"/>
          <p:cNvSpPr/>
          <p:nvPr/>
        </p:nvSpPr>
        <p:spPr>
          <a:xfrm>
            <a:off x="9285732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28481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17152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7152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0" name="Oval 49"/>
          <p:cNvSpPr/>
          <p:nvPr/>
        </p:nvSpPr>
        <p:spPr>
          <a:xfrm>
            <a:off x="9285732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28481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446105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46105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4" name="Oval 53"/>
          <p:cNvSpPr/>
          <p:nvPr/>
        </p:nvSpPr>
        <p:spPr>
          <a:xfrm>
            <a:off x="10514685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57434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46105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6105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8" name="Oval 57"/>
          <p:cNvSpPr/>
          <p:nvPr/>
        </p:nvSpPr>
        <p:spPr>
          <a:xfrm>
            <a:off x="10514685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57434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35x25 yd, two proper goals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DE80"/>
                </a:solidFill>
                <a:latin typeface="Calibri"/>
              </a:rPr>
              <a:t>SCRIMMAGE</a:t>
            </a:r>
          </a:p>
        </p:txBody>
      </p:sp>
      <p:sp>
        <p:nvSpPr>
          <p:cNvPr id="63" name="Oval 62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5" name="Oval 64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7" name="Oval 66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9" name="Oval 68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K–5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145A2A"/>
              </a:gs>
              <a:gs pos="100000">
                <a:srgbClr val="22A24D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457200"/>
            <a:ext cx="5029200" cy="54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64008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500">
                <a:solidFill>
                  <a:srgbClr val="4ADE80"/>
                </a:solidFill>
                <a:latin typeface="Calibri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Grades 6–8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C5E8CE"/>
                </a:solidFill>
                <a:latin typeface="Calibri"/>
              </a:rPr>
              <a:t>6:45–7:30 PM · 45 minute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C5E8CE"/>
                </a:solidFill>
                <a:latin typeface="Calibri"/>
              </a:rPr>
              <a:t>qmtk Soccer · Coach Playbook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6–8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02.1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39954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3995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OPENING GAME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6468" y="1097280"/>
            <a:ext cx="99229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6468" y="1097280"/>
            <a:ext cx="99229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0–10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8489" y="1097280"/>
            <a:ext cx="271526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8489" y="1097280"/>
            <a:ext cx="27152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Personal space, 1 ball 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Juggling Ladder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Everyone juggles: feet only, then feet + thigh, then the sequence right-left-thigh. One bounce allowed between touches for those who need it. Coach records each player's summer PR — we'll beat it next week.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Ankle locked, laces flat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Small touches at waist height max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Reset with a bounce, don't chase a wild ball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0" name="Oval 29"/>
          <p:cNvSpPr/>
          <p:nvPr/>
        </p:nvSpPr>
        <p:spPr>
          <a:xfrm>
            <a:off x="6827824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70573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9244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59244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827824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70573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88198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88198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8056778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99527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88198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88198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2" name="Oval 41"/>
          <p:cNvSpPr/>
          <p:nvPr/>
        </p:nvSpPr>
        <p:spPr>
          <a:xfrm>
            <a:off x="8056778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99527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17152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7152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6" name="Oval 45"/>
          <p:cNvSpPr/>
          <p:nvPr/>
        </p:nvSpPr>
        <p:spPr>
          <a:xfrm>
            <a:off x="9285732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28481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17152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7152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0" name="Oval 49"/>
          <p:cNvSpPr/>
          <p:nvPr/>
        </p:nvSpPr>
        <p:spPr>
          <a:xfrm>
            <a:off x="9285732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28481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446105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46105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4" name="Oval 53"/>
          <p:cNvSpPr/>
          <p:nvPr/>
        </p:nvSpPr>
        <p:spPr>
          <a:xfrm>
            <a:off x="10514685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57434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46105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6105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8" name="Oval 57"/>
          <p:cNvSpPr/>
          <p:nvPr/>
        </p:nvSpPr>
        <p:spPr>
          <a:xfrm>
            <a:off x="10514685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57434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Personal space, 1 ball each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F5A623"/>
                </a:solidFill>
                <a:latin typeface="Calibri"/>
              </a:rPr>
              <a:t>OPENING GAME</a:t>
            </a:r>
          </a:p>
        </p:txBody>
      </p:sp>
      <p:sp>
        <p:nvSpPr>
          <p:cNvPr id="63" name="Oval 62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5" name="Oval 64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7" name="Oval 66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9" name="Oval 68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6–8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6–8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02.2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10–22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20104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20104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Pairs, 10 yd apart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Aerial First Touch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Partner tosses: (1) laces cushion out of the air, (2) thigh kill, (3) chest-drop to feet. Two touches to control and pass back on the ground. Full field means goal kicks and long balls are real now — aerial control is a weapon.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Move your feet early — get under the flight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Cushion on contact — surface moves WITH the ball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First touch down to the grass, ready to play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0" name="Oval 29"/>
          <p:cNvSpPr/>
          <p:nvPr/>
        </p:nvSpPr>
        <p:spPr>
          <a:xfrm>
            <a:off x="6827824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70573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9244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59244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827824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70573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88198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88198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8056778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99527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88198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88198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2" name="Oval 41"/>
          <p:cNvSpPr/>
          <p:nvPr/>
        </p:nvSpPr>
        <p:spPr>
          <a:xfrm>
            <a:off x="8056778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99527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17152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7152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6" name="Oval 45"/>
          <p:cNvSpPr/>
          <p:nvPr/>
        </p:nvSpPr>
        <p:spPr>
          <a:xfrm>
            <a:off x="9285732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28481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17152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7152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0" name="Oval 49"/>
          <p:cNvSpPr/>
          <p:nvPr/>
        </p:nvSpPr>
        <p:spPr>
          <a:xfrm>
            <a:off x="9285732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28481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446105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46105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4" name="Oval 53"/>
          <p:cNvSpPr/>
          <p:nvPr/>
        </p:nvSpPr>
        <p:spPr>
          <a:xfrm>
            <a:off x="10514685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57434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46105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6105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8" name="Oval 57"/>
          <p:cNvSpPr/>
          <p:nvPr/>
        </p:nvSpPr>
        <p:spPr>
          <a:xfrm>
            <a:off x="10514685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57434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Pairs, 10 yd apart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90E2"/>
                </a:solidFill>
                <a:latin typeface="Calibri"/>
              </a:rPr>
              <a:t>LESSON 1</a:t>
            </a:r>
          </a:p>
        </p:txBody>
      </p:sp>
      <p:sp>
        <p:nvSpPr>
          <p:cNvPr id="63" name="Oval 62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5" name="Oval 64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7" name="Oval 66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9" name="Oval 68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6–8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6–8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02.3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22–33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3968326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396832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30x20 yd zone to a proper goal, with keeper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Give-and-Go to Goal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Attacker plays a wall pass with a target player to break past a live defender, then finishes on the big goal. Progress to 2v2 + target: combos must beat real pressure. The classic 1-2 at game speed.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Sharp pass to feet, then sprint past the defender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Return pass first-time, into the runner's path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Finish the move — composed strike on the proper goal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60516" y="2714396"/>
            <a:ext cx="5635448" cy="3395168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76288" y="458571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62960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0" name="Oval 29"/>
          <p:cNvSpPr/>
          <p:nvPr/>
        </p:nvSpPr>
        <p:spPr>
          <a:xfrm>
            <a:off x="8924544" y="389991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24544" y="394380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2" name="Oval 31"/>
          <p:cNvSpPr/>
          <p:nvPr/>
        </p:nvSpPr>
        <p:spPr>
          <a:xfrm>
            <a:off x="8339328" y="4265676"/>
            <a:ext cx="292608" cy="292608"/>
          </a:xfrm>
          <a:prstGeom prst="ellipse">
            <a:avLst/>
          </a:prstGeom>
          <a:solidFill>
            <a:srgbClr val="FF6B6B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9328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4" name="Oval 33"/>
          <p:cNvSpPr/>
          <p:nvPr/>
        </p:nvSpPr>
        <p:spPr>
          <a:xfrm>
            <a:off x="7109460" y="465429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152209" y="469704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V="1">
            <a:off x="7159752.0" y="4119372.0"/>
            <a:ext cx="1819656.0" cy="566928.0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114032.0" y="4549140.0"/>
            <a:ext cx="3211372.8000000007" cy="228600.0"/>
          </a:xfrm>
          <a:prstGeom prst="line">
            <a:avLst/>
          </a:prstGeom>
          <a:ln w="31750">
            <a:solidFill>
              <a:srgbClr val="F5A623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070848.0" y="4183380.0"/>
            <a:ext cx="1300276.8000000007" cy="320040.0"/>
          </a:xfrm>
          <a:prstGeom prst="line">
            <a:avLst/>
          </a:prstGeom>
          <a:ln w="25400">
            <a:solidFill>
              <a:srgbClr val="4ADE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30x20 yd zone to a proper goal, with keeper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7C5DFA"/>
                </a:solidFill>
                <a:latin typeface="Calibri"/>
              </a:rPr>
              <a:t>LESSON 2</a:t>
            </a:r>
          </a:p>
        </p:txBody>
      </p:sp>
      <p:sp>
        <p:nvSpPr>
          <p:cNvPr id="42" name="Oval 41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44" name="Oval 43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46" name="Oval 45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48" name="Oval 47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6–8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6–8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02.4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41095" cy="2743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410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SCRIMMAGE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8023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8023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33–45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8361" y="1097280"/>
            <a:ext cx="263694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8361" y="1097280"/>
            <a:ext cx="263694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50x35 yd, two proper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7v7 Big-Field Scrimmage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7v7 with keepers. Coach challenge: goals from a give-and-go count double, and keepers are encouraged to start attacks with a thrown or driven ball — aerial first touches straight from Lesson 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Look for the 1-2 around every defender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Bring long balls down cleanly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Combine, don't force 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60516" y="2714396"/>
            <a:ext cx="5635448" cy="3395168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778240.0" y="2714396"/>
            <a:ext cx="0.0" cy="3395168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308695" y="3942435"/>
            <a:ext cx="939088" cy="939088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34898" y="4368638"/>
            <a:ext cx="86684" cy="866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60516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542575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60516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186312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34456" y="3863340"/>
            <a:ext cx="164592" cy="10972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34456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62472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34456" y="38633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457432" y="3863340"/>
            <a:ext cx="164592" cy="10972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57432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85448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457432" y="38633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93331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93331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5" name="Oval 44"/>
          <p:cNvSpPr/>
          <p:nvPr/>
        </p:nvSpPr>
        <p:spPr>
          <a:xfrm>
            <a:off x="7578547" y="3543300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78547" y="3587192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7" name="Oval 46"/>
          <p:cNvSpPr/>
          <p:nvPr/>
        </p:nvSpPr>
        <p:spPr>
          <a:xfrm>
            <a:off x="7578547" y="498805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78547" y="503194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Oval 48"/>
          <p:cNvSpPr/>
          <p:nvPr/>
        </p:nvSpPr>
        <p:spPr>
          <a:xfrm>
            <a:off x="8163763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63763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1" name="Oval 50"/>
          <p:cNvSpPr/>
          <p:nvPr/>
        </p:nvSpPr>
        <p:spPr>
          <a:xfrm>
            <a:off x="10270540" y="426567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70540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Oval 52"/>
          <p:cNvSpPr/>
          <p:nvPr/>
        </p:nvSpPr>
        <p:spPr>
          <a:xfrm>
            <a:off x="9685324" y="3543300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85324" y="3587192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5" name="Oval 54"/>
          <p:cNvSpPr/>
          <p:nvPr/>
        </p:nvSpPr>
        <p:spPr>
          <a:xfrm>
            <a:off x="9685324" y="4988052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85324" y="503194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7" name="Oval 56"/>
          <p:cNvSpPr/>
          <p:nvPr/>
        </p:nvSpPr>
        <p:spPr>
          <a:xfrm>
            <a:off x="9100108" y="426567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00108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9" name="Oval 58"/>
          <p:cNvSpPr/>
          <p:nvPr/>
        </p:nvSpPr>
        <p:spPr>
          <a:xfrm>
            <a:off x="8700516" y="43342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743265" y="437700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8447227.2" y="4411980.0"/>
            <a:ext cx="623620.8000000007" cy="361188.0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50x35 yd, two proper goals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DE80"/>
                </a:solidFill>
                <a:latin typeface="Calibri"/>
              </a:rPr>
              <a:t>SCRIMMAGE</a:t>
            </a:r>
          </a:p>
        </p:txBody>
      </p:sp>
      <p:sp>
        <p:nvSpPr>
          <p:cNvPr id="65" name="Oval 64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7" name="Oval 66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9" name="Oval 68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71" name="Oval 70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6–8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