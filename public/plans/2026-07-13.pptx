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gradFill flip="none" rotWithShape="1">
            <a:gsLst>
              <a:gs pos="0">
                <a:srgbClr val="080D0A"/>
              </a:gs>
              <a:gs pos="100000">
                <a:srgbClr val="07140E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480000">
            <a:off x="7924648" y="-914400"/>
            <a:ext cx="6553047" cy="8686800"/>
          </a:xfrm>
          <a:gradFill flip="none" rotWithShape="1">
            <a:gsLst>
              <a:gs pos="0">
                <a:srgbClr val="145A2A"/>
              </a:gs>
              <a:gs pos="100000">
                <a:srgbClr val="22A24D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91295" y="3657600"/>
            <a:ext cx="3200400" cy="320040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0292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 spc="120">
                <a:solidFill>
                  <a:srgbClr val="4ADE80"/>
                </a:solidFill>
                <a:latin typeface="Calibri"/>
              </a:rPr>
              <a:t>qmtk Soccer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4124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B4C3B8"/>
                </a:solidFill>
                <a:latin typeface="Calibri"/>
              </a:rPr>
              <a:t>COACH PLAYBOOK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spc="400">
                <a:solidFill>
                  <a:srgbClr val="4ADE80"/>
                </a:solidFill>
                <a:latin typeface="Calibri"/>
              </a:rPr>
              <a:t>TRAINING SESSION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88920"/>
            <a:ext cx="8686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Calibri"/>
              </a:rPr>
              <a:t>Week of July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14800"/>
            <a:ext cx="8686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4ADE80"/>
                </a:solidFill>
                <a:latin typeface="Calibri"/>
              </a:rPr>
              <a:t>Week 2 — Passing &amp; Receiving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5120640"/>
            <a:ext cx="91440" cy="100584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12064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300">
                <a:solidFill>
                  <a:srgbClr val="7B8A7F"/>
                </a:solidFill>
                <a:latin typeface="Calibri"/>
              </a:rPr>
              <a:t>LOCATION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4406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West Elementary School, Andover, 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8064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B4C3B8"/>
                </a:solidFill>
                <a:latin typeface="Calibri"/>
              </a:rPr>
              <a:t>Thursdays · K–5 6:00–6:45 PM · Gr. 6–8 6:45–7:30 PM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3550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50">
                <a:solidFill>
                  <a:srgbClr val="7B8A7F"/>
                </a:solidFill>
                <a:latin typeface="Calibri"/>
              </a:rPr>
              <a:t>qmtk.org  ·  Train Smart. Play Smart.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gradFill flip="none" rotWithShape="1">
            <a:gsLst>
              <a:gs pos="0">
                <a:srgbClr val="145A2A"/>
              </a:gs>
              <a:gs pos="100000">
                <a:srgbClr val="22A24D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0" y="457200"/>
            <a:ext cx="5029200" cy="54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743200"/>
            <a:ext cx="640080" cy="4572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88036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500">
                <a:solidFill>
                  <a:srgbClr val="4ADE80"/>
                </a:solidFill>
                <a:latin typeface="Calibri"/>
              </a:rPr>
              <a:t>SECTION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4612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  <a:latin typeface="Calibri"/>
              </a:rPr>
              <a:t>Grades K–5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6177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1">
                <a:solidFill>
                  <a:srgbClr val="C5E8CE"/>
                </a:solidFill>
                <a:latin typeface="Calibri"/>
              </a:rPr>
              <a:t>6:00–6:45 PM · 45 minute session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C5E8CE"/>
                </a:solidFill>
                <a:latin typeface="Calibri"/>
              </a:rPr>
              <a:t>qmtk Soccer · Coach Playbook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gradFill flip="none" rotWithShape="1">
            <a:gsLst>
              <a:gs pos="0">
                <a:srgbClr val="080D0A"/>
              </a:gs>
              <a:gs pos="100000">
                <a:srgbClr val="101812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4ADE80"/>
                </a:solidFill>
                <a:latin typeface="Calibri"/>
              </a:rPr>
              <a:t>qmtk Soccer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7B8A7F"/>
                </a:solidFill>
                <a:latin typeface="Calibri"/>
              </a:rPr>
              <a:t>COACH PLAYBOOK · GRADES K–5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1005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B4C3B8"/>
                </a:solidFill>
                <a:latin typeface="Calibri"/>
              </a:rPr>
              <a:t>01.1  / 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1399540" cy="27432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3995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spc="80">
                <a:solidFill>
                  <a:srgbClr val="080D0A"/>
                </a:solidFill>
                <a:latin typeface="Calibri"/>
              </a:rPr>
              <a:t>OPENING GAME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66468" y="1097280"/>
            <a:ext cx="992293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66468" y="1097280"/>
            <a:ext cx="99229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0–10 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68489" y="1097280"/>
            <a:ext cx="2167043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68489" y="1097280"/>
            <a:ext cx="216704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📏  Circle, 10 yd radius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508760"/>
            <a:ext cx="7772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Pass the Coach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31720"/>
            <a:ext cx="64008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0604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5A623"/>
                </a:solidFill>
                <a:latin typeface="Calibri"/>
              </a:rPr>
              <a:t>THE DRILL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926080"/>
            <a:ext cx="5120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8EDE9"/>
                </a:solidFill>
                <a:latin typeface="Calibri"/>
              </a:rPr>
              <a:t>Players in a circle around the coach, each with a ball. Pass to the coach, coach passes it back with your name and a high-five. Tons of reps of the inside-of-the-foot pass right away.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0060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5A623"/>
                </a:solidFill>
                <a:latin typeface="Calibri"/>
              </a:rPr>
              <a:t>KEY COACHING CUES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166360"/>
            <a:ext cx="5120640" cy="18288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5422392"/>
            <a:ext cx="109728" cy="10972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34924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Plant foot beside the ball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5843016"/>
            <a:ext cx="109728" cy="10972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769864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Inside of the foot — the 'passing foot'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" y="6263640"/>
            <a:ext cx="109728" cy="10972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6190488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Watch the ball into your foot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0" y="2468880"/>
            <a:ext cx="6126480" cy="38862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52160" y="2606040"/>
            <a:ext cx="5852160" cy="3611880"/>
          </a:xfrm>
          <a:gradFill flip="none" rotWithShape="1">
            <a:gsLst>
              <a:gs pos="0">
                <a:srgbClr val="3E964F"/>
              </a:gs>
              <a:gs pos="100000">
                <a:srgbClr val="2A7037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96635" y="2750515"/>
            <a:ext cx="5563210" cy="3322930"/>
          </a:xfrm>
          <a:prstGeom prst="rect">
            <a:avLst/>
          </a:prstGeom>
          <a:noFill/>
          <a:ln w="25400">
            <a:solidFill>
              <a:srgbClr val="FFFFFF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631936" y="3061716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31936" y="3105608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778240.0" y="3299460.0"/>
            <a:ext cx="0.0" cy="947928.0"/>
          </a:xfrm>
          <a:prstGeom prst="line">
            <a:avLst/>
          </a:prstGeom>
          <a:ln w="25400">
            <a:solidFill>
              <a:srgbClr val="FFFFFF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9573229" y="3515019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73229" y="3558911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cxnSp>
        <p:nvCxnSpPr>
          <p:cNvPr id="33" name="Connector 32"/>
          <p:cNvCxnSpPr/>
          <p:nvPr/>
        </p:nvCxnSpPr>
        <p:spPr>
          <a:xfrm flipH="1">
            <a:off x="8906923.207362378" y="3718335.125636122"/>
            <a:ext cx="741119.9535129555" cy="591023.4408963453"/>
          </a:xfrm>
          <a:prstGeom prst="line">
            <a:avLst/>
          </a:prstGeom>
          <a:ln w="25400">
            <a:solidFill>
              <a:srgbClr val="FFFFFF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9805710" y="4533582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05710" y="4577474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cxnSp>
        <p:nvCxnSpPr>
          <p:cNvPr id="36" name="Connector 35"/>
          <p:cNvCxnSpPr/>
          <p:nvPr/>
        </p:nvCxnSpPr>
        <p:spPr>
          <a:xfrm flipH="1" flipV="1">
            <a:off x="8938705.334921831" y="4448605.1655617375"/>
            <a:ext cx="924161.465938691" cy="210933.8238833407"/>
          </a:xfrm>
          <a:prstGeom prst="line">
            <a:avLst/>
          </a:prstGeom>
          <a:ln w="25400">
            <a:solidFill>
              <a:srgbClr val="FFFFFF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9154314" y="5350406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54314" y="5394298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cxnSp>
        <p:nvCxnSpPr>
          <p:cNvPr id="39" name="Connector 38"/>
          <p:cNvCxnSpPr/>
          <p:nvPr/>
        </p:nvCxnSpPr>
        <p:spPr>
          <a:xfrm flipH="1" flipV="1">
            <a:off x="8849653.792388838" y="4560272.267905795"/>
            <a:ext cx="411290.5450542271" cy="854053.6170130046"/>
          </a:xfrm>
          <a:prstGeom prst="line">
            <a:avLst/>
          </a:prstGeom>
          <a:ln w="25400">
            <a:solidFill>
              <a:srgbClr val="FFFFFF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8109557" y="5350406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09557" y="5394298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cxnSp>
        <p:nvCxnSpPr>
          <p:cNvPr id="42" name="Connector 41"/>
          <p:cNvCxnSpPr/>
          <p:nvPr/>
        </p:nvCxnSpPr>
        <p:spPr>
          <a:xfrm flipV="1">
            <a:off x="8295535.662556934" y="4560272.267905795"/>
            <a:ext cx="411290.54505422805" cy="854053.6170130046"/>
          </a:xfrm>
          <a:prstGeom prst="line">
            <a:avLst/>
          </a:prstGeom>
          <a:ln w="25400">
            <a:solidFill>
              <a:srgbClr val="FFFFFF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7458161" y="4533582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58161" y="4577474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cxnSp>
        <p:nvCxnSpPr>
          <p:cNvPr id="45" name="Connector 44"/>
          <p:cNvCxnSpPr/>
          <p:nvPr/>
        </p:nvCxnSpPr>
        <p:spPr>
          <a:xfrm flipV="1">
            <a:off x="7693613.199139478" y="4448605.1655617375"/>
            <a:ext cx="924161.465938691" cy="210933.82388334163"/>
          </a:xfrm>
          <a:prstGeom prst="line">
            <a:avLst/>
          </a:prstGeom>
          <a:ln w="25400">
            <a:solidFill>
              <a:srgbClr val="FFFFFF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7690642" y="3515019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690642" y="3558911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7908436.839124667" y="3718335.125636122"/>
            <a:ext cx="741119.9535129545" cy="591023.4408963453"/>
          </a:xfrm>
          <a:prstGeom prst="line">
            <a:avLst/>
          </a:prstGeom>
          <a:ln w="25400">
            <a:solidFill>
              <a:srgbClr val="FFFFFF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Oval 48"/>
          <p:cNvSpPr/>
          <p:nvPr/>
        </p:nvSpPr>
        <p:spPr>
          <a:xfrm>
            <a:off x="8577072" y="4210812"/>
            <a:ext cx="402336" cy="402336"/>
          </a:xfrm>
          <a:prstGeom prst="ellipse">
            <a:avLst/>
          </a:prstGeom>
          <a:solidFill>
            <a:srgbClr val="22A24D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577072" y="4271163"/>
            <a:ext cx="402336" cy="28163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51" name="Oval 50"/>
          <p:cNvSpPr/>
          <p:nvPr/>
        </p:nvSpPr>
        <p:spPr>
          <a:xfrm>
            <a:off x="8974836" y="4379976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9017585" y="4422725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852160" y="5925312"/>
            <a:ext cx="5852160" cy="292608"/>
          </a:xfrm>
          <a:prstGeom prst="rect">
            <a:avLst/>
          </a:prstGeom>
          <a:solidFill>
            <a:srgbClr val="080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50">
                <a:solidFill>
                  <a:srgbClr val="E8EDE9"/>
                </a:solidFill>
                <a:latin typeface="Calibri"/>
              </a:rPr>
              <a:t>📏  Circle, 10 yd radius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 spc="80">
                <a:solidFill>
                  <a:srgbClr val="F5A623"/>
                </a:solidFill>
                <a:latin typeface="Calibri"/>
              </a:rPr>
              <a:t>OPENING GAME</a:t>
            </a:r>
          </a:p>
        </p:txBody>
      </p:sp>
      <p:sp>
        <p:nvSpPr>
          <p:cNvPr id="56" name="Oval 55"/>
          <p:cNvSpPr/>
          <p:nvPr/>
        </p:nvSpPr>
        <p:spPr>
          <a:xfrm>
            <a:off x="5852160" y="6547104"/>
            <a:ext cx="164592" cy="164592"/>
          </a:xfrm>
          <a:prstGeom prst="ellipse">
            <a:avLst/>
          </a:prstGeom>
          <a:solidFill>
            <a:srgbClr val="F5A623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0533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A / Attacker</a:t>
            </a:r>
          </a:p>
        </p:txBody>
      </p:sp>
      <p:sp>
        <p:nvSpPr>
          <p:cNvPr id="58" name="Oval 57"/>
          <p:cNvSpPr/>
          <p:nvPr/>
        </p:nvSpPr>
        <p:spPr>
          <a:xfrm>
            <a:off x="7223760" y="6547104"/>
            <a:ext cx="164592" cy="164592"/>
          </a:xfrm>
          <a:prstGeom prst="ellipse">
            <a:avLst/>
          </a:prstGeom>
          <a:solidFill>
            <a:srgbClr val="4A90E2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4249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B / Receiver</a:t>
            </a:r>
          </a:p>
        </p:txBody>
      </p:sp>
      <p:sp>
        <p:nvSpPr>
          <p:cNvPr id="60" name="Oval 59"/>
          <p:cNvSpPr/>
          <p:nvPr/>
        </p:nvSpPr>
        <p:spPr>
          <a:xfrm>
            <a:off x="8595360" y="6547104"/>
            <a:ext cx="164592" cy="164592"/>
          </a:xfrm>
          <a:prstGeom prst="ellipse">
            <a:avLst/>
          </a:prstGeom>
          <a:solidFill>
            <a:srgbClr val="FF6B6B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7965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Defender</a:t>
            </a:r>
          </a:p>
        </p:txBody>
      </p:sp>
      <p:sp>
        <p:nvSpPr>
          <p:cNvPr id="62" name="Oval 61"/>
          <p:cNvSpPr/>
          <p:nvPr/>
        </p:nvSpPr>
        <p:spPr>
          <a:xfrm>
            <a:off x="9966960" y="654710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1681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Ball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 spc="200">
                <a:solidFill>
                  <a:srgbClr val="7B8A7F"/>
                </a:solidFill>
                <a:latin typeface="Calibri"/>
              </a:rPr>
              <a:t>qmtk Soccer · Coach Playbook · Grades K–5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905695" y="65379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 spc="200">
                <a:solidFill>
                  <a:srgbClr val="7B8A7F"/>
                </a:solidFill>
                <a:latin typeface="Calibri"/>
              </a:rPr>
              <a:t>qmtk.org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gradFill flip="none" rotWithShape="1">
            <a:gsLst>
              <a:gs pos="0">
                <a:srgbClr val="080D0A"/>
              </a:gs>
              <a:gs pos="100000">
                <a:srgbClr val="101812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4ADE80"/>
                </a:solidFill>
                <a:latin typeface="Calibri"/>
              </a:rPr>
              <a:t>qmtk Soccer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7B8A7F"/>
                </a:solidFill>
                <a:latin typeface="Calibri"/>
              </a:rPr>
              <a:t>COACH PLAYBOOK · GRADES K–5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1005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B4C3B8"/>
                </a:solidFill>
                <a:latin typeface="Calibri"/>
              </a:rPr>
              <a:t>01.2  / 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1054946" cy="274320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05494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spc="80">
                <a:solidFill>
                  <a:srgbClr val="080D0A"/>
                </a:solidFill>
                <a:latin typeface="Calibri"/>
              </a:rPr>
              <a:t>LESSON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21874" y="1097280"/>
            <a:ext cx="1070610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21874" y="1097280"/>
            <a:ext cx="107061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10–22 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02212" y="1097280"/>
            <a:ext cx="1932093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02212" y="1097280"/>
            <a:ext cx="193209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📏  Pairs, 6 yd apart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508760"/>
            <a:ext cx="7772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Stop &amp; Pass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31720"/>
            <a:ext cx="640080" cy="54864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0604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4A90E2"/>
                </a:solidFill>
                <a:latin typeface="Calibri"/>
              </a:rPr>
              <a:t>THE DRILL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926080"/>
            <a:ext cx="5120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8EDE9"/>
                </a:solidFill>
                <a:latin typeface="Calibri"/>
              </a:rPr>
              <a:t>Partner passes, player stops the ball with the sole, then passes back with the inside of the foot. Strict two-step rhythm: stop... pass. As pairs improve, take away the stop — one-touch challenge!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0060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4A90E2"/>
                </a:solidFill>
                <a:latin typeface="Calibri"/>
              </a:rPr>
              <a:t>KEY COACHING CUES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166360"/>
            <a:ext cx="5120640" cy="18288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5422392"/>
            <a:ext cx="109728" cy="109728"/>
          </a:xfrm>
          <a:prstGeom prst="ellipse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34924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Stop with the bottom of the foot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5843016"/>
            <a:ext cx="109728" cy="109728"/>
          </a:xfrm>
          <a:prstGeom prst="ellipse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769864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Push through the middle of the ball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" y="6263640"/>
            <a:ext cx="109728" cy="109728"/>
          </a:xfrm>
          <a:prstGeom prst="ellipse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6190488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Eye contact with your partner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0" y="2468880"/>
            <a:ext cx="6126480" cy="38862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52160" y="2606040"/>
            <a:ext cx="5852160" cy="3611880"/>
          </a:xfrm>
          <a:gradFill flip="none" rotWithShape="1">
            <a:gsLst>
              <a:gs pos="0">
                <a:srgbClr val="3E964F"/>
              </a:gs>
              <a:gs pos="100000">
                <a:srgbClr val="2A7037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96635" y="2750515"/>
            <a:ext cx="5563210" cy="3322930"/>
          </a:xfrm>
          <a:prstGeom prst="rect">
            <a:avLst/>
          </a:prstGeom>
          <a:noFill/>
          <a:ln w="25400">
            <a:solidFill>
              <a:srgbClr val="FFFFFF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443569" y="3679728"/>
            <a:ext cx="201168" cy="36210"/>
          </a:xfrm>
          <a:prstGeom prst="rect">
            <a:avLst/>
          </a:prstGeom>
          <a:solidFill>
            <a:srgbClr val="C95A14"/>
          </a:solidFill>
          <a:ln>
            <a:noFill/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sosceles Triangle 28"/>
          <p:cNvSpPr/>
          <p:nvPr/>
        </p:nvSpPr>
        <p:spPr>
          <a:xfrm>
            <a:off x="8443569" y="3496665"/>
            <a:ext cx="201168" cy="201168"/>
          </a:xfrm>
          <a:gradFill flip="none" rotWithShape="1">
            <a:gsLst>
              <a:gs pos="0">
                <a:srgbClr val="F5A623"/>
              </a:gs>
              <a:gs pos="100000">
                <a:srgbClr val="EE7B2C"/>
              </a:gs>
            </a:gsLst>
            <a:lin ang="5400000" scaled="0"/>
          </a:gradFill>
          <a:prstGeom prst="triangl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477097" y="3572103"/>
            <a:ext cx="134112" cy="24140"/>
          </a:xfrm>
          <a:prstGeom prst="rect">
            <a:avLst/>
          </a:prstGeom>
          <a:solidFill>
            <a:srgbClr val="FFE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443569" y="4008912"/>
            <a:ext cx="201168" cy="36210"/>
          </a:xfrm>
          <a:prstGeom prst="rect">
            <a:avLst/>
          </a:prstGeom>
          <a:solidFill>
            <a:srgbClr val="C95A14"/>
          </a:solidFill>
          <a:ln>
            <a:noFill/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Isosceles Triangle 31"/>
          <p:cNvSpPr/>
          <p:nvPr/>
        </p:nvSpPr>
        <p:spPr>
          <a:xfrm>
            <a:off x="8443569" y="3825849"/>
            <a:ext cx="201168" cy="201168"/>
          </a:xfrm>
          <a:gradFill flip="none" rotWithShape="1">
            <a:gsLst>
              <a:gs pos="0">
                <a:srgbClr val="F5A623"/>
              </a:gs>
              <a:gs pos="100000">
                <a:srgbClr val="EE7B2C"/>
              </a:gs>
            </a:gsLst>
            <a:lin ang="5400000" scaled="0"/>
          </a:gradFill>
          <a:prstGeom prst="triangl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477097" y="3901287"/>
            <a:ext cx="134112" cy="24140"/>
          </a:xfrm>
          <a:prstGeom prst="rect">
            <a:avLst/>
          </a:prstGeom>
          <a:solidFill>
            <a:srgbClr val="FFE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759244" y="3615537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59244" y="3659429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36" name="Oval 35"/>
          <p:cNvSpPr/>
          <p:nvPr/>
        </p:nvSpPr>
        <p:spPr>
          <a:xfrm>
            <a:off x="10504627" y="3615537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504627" y="3659429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38" name="Oval 37"/>
          <p:cNvSpPr/>
          <p:nvPr/>
        </p:nvSpPr>
        <p:spPr>
          <a:xfrm>
            <a:off x="7010704" y="3684117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053453" y="3726866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7070140.8" y="3725265.6"/>
            <a:ext cx="3416198.3999999994" cy="0.0"/>
          </a:xfrm>
          <a:prstGeom prst="line">
            <a:avLst/>
          </a:prstGeom>
          <a:ln w="25400">
            <a:solidFill>
              <a:srgbClr val="FFFFFF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7070140.8" y="3807561.6"/>
            <a:ext cx="3416198.3999999994" cy="0.0"/>
          </a:xfrm>
          <a:prstGeom prst="line">
            <a:avLst/>
          </a:prstGeom>
          <a:ln w="25400">
            <a:solidFill>
              <a:srgbClr val="4ADE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8443569" y="5124480"/>
            <a:ext cx="201168" cy="36210"/>
          </a:xfrm>
          <a:prstGeom prst="rect">
            <a:avLst/>
          </a:prstGeom>
          <a:solidFill>
            <a:srgbClr val="C95A14"/>
          </a:solidFill>
          <a:ln>
            <a:noFill/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Isosceles Triangle 42"/>
          <p:cNvSpPr/>
          <p:nvPr/>
        </p:nvSpPr>
        <p:spPr>
          <a:xfrm>
            <a:off x="8443569" y="4941417"/>
            <a:ext cx="201168" cy="201168"/>
          </a:xfrm>
          <a:gradFill flip="none" rotWithShape="1">
            <a:gsLst>
              <a:gs pos="0">
                <a:srgbClr val="F5A623"/>
              </a:gs>
              <a:gs pos="100000">
                <a:srgbClr val="EE7B2C"/>
              </a:gs>
            </a:gsLst>
            <a:lin ang="5400000" scaled="0"/>
          </a:gradFill>
          <a:prstGeom prst="triangl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477097" y="5016855"/>
            <a:ext cx="134112" cy="24140"/>
          </a:xfrm>
          <a:prstGeom prst="rect">
            <a:avLst/>
          </a:prstGeom>
          <a:solidFill>
            <a:srgbClr val="FFE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443569" y="5453664"/>
            <a:ext cx="201168" cy="36210"/>
          </a:xfrm>
          <a:prstGeom prst="rect">
            <a:avLst/>
          </a:prstGeom>
          <a:solidFill>
            <a:srgbClr val="C95A14"/>
          </a:solidFill>
          <a:ln>
            <a:noFill/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Isosceles Triangle 45"/>
          <p:cNvSpPr/>
          <p:nvPr/>
        </p:nvSpPr>
        <p:spPr>
          <a:xfrm>
            <a:off x="8443569" y="5270601"/>
            <a:ext cx="201168" cy="201168"/>
          </a:xfrm>
          <a:gradFill flip="none" rotWithShape="1">
            <a:gsLst>
              <a:gs pos="0">
                <a:srgbClr val="F5A623"/>
              </a:gs>
              <a:gs pos="100000">
                <a:srgbClr val="EE7B2C"/>
              </a:gs>
            </a:gsLst>
            <a:lin ang="5400000" scaled="0"/>
          </a:gradFill>
          <a:prstGeom prst="triangl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477097" y="5346039"/>
            <a:ext cx="134112" cy="24140"/>
          </a:xfrm>
          <a:prstGeom prst="rect">
            <a:avLst/>
          </a:prstGeom>
          <a:solidFill>
            <a:srgbClr val="FFE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759244" y="5060289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59244" y="5104181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50" name="Oval 49"/>
          <p:cNvSpPr/>
          <p:nvPr/>
        </p:nvSpPr>
        <p:spPr>
          <a:xfrm>
            <a:off x="10504627" y="5060289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504627" y="5104181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52" name="Oval 51"/>
          <p:cNvSpPr/>
          <p:nvPr/>
        </p:nvSpPr>
        <p:spPr>
          <a:xfrm>
            <a:off x="7010704" y="5128869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053453" y="5171618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>
            <a:off x="7070140.8" y="5170017.6"/>
            <a:ext cx="3416198.3999999994" cy="0.0"/>
          </a:xfrm>
          <a:prstGeom prst="line">
            <a:avLst/>
          </a:prstGeom>
          <a:ln w="25400">
            <a:solidFill>
              <a:srgbClr val="FFFFFF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H="1">
            <a:off x="7070140.8" y="5252313.6"/>
            <a:ext cx="3416198.3999999994" cy="0.0"/>
          </a:xfrm>
          <a:prstGeom prst="line">
            <a:avLst/>
          </a:prstGeom>
          <a:ln w="25400">
            <a:solidFill>
              <a:srgbClr val="4ADE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5852160" y="5925312"/>
            <a:ext cx="5852160" cy="292608"/>
          </a:xfrm>
          <a:prstGeom prst="rect">
            <a:avLst/>
          </a:prstGeom>
          <a:solidFill>
            <a:srgbClr val="080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50">
                <a:solidFill>
                  <a:srgbClr val="E8EDE9"/>
                </a:solidFill>
                <a:latin typeface="Calibri"/>
              </a:rPr>
              <a:t>📏  Pairs, 6 yd apart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 spc="80">
                <a:solidFill>
                  <a:srgbClr val="4A90E2"/>
                </a:solidFill>
                <a:latin typeface="Calibri"/>
              </a:rPr>
              <a:t>LESSON 1</a:t>
            </a:r>
          </a:p>
        </p:txBody>
      </p:sp>
      <p:sp>
        <p:nvSpPr>
          <p:cNvPr id="59" name="Oval 58"/>
          <p:cNvSpPr/>
          <p:nvPr/>
        </p:nvSpPr>
        <p:spPr>
          <a:xfrm>
            <a:off x="5852160" y="6547104"/>
            <a:ext cx="164592" cy="164592"/>
          </a:xfrm>
          <a:prstGeom prst="ellipse">
            <a:avLst/>
          </a:prstGeom>
          <a:solidFill>
            <a:srgbClr val="F5A623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0533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A / Attacker</a:t>
            </a:r>
          </a:p>
        </p:txBody>
      </p:sp>
      <p:sp>
        <p:nvSpPr>
          <p:cNvPr id="61" name="Oval 60"/>
          <p:cNvSpPr/>
          <p:nvPr/>
        </p:nvSpPr>
        <p:spPr>
          <a:xfrm>
            <a:off x="7223760" y="6547104"/>
            <a:ext cx="164592" cy="164592"/>
          </a:xfrm>
          <a:prstGeom prst="ellipse">
            <a:avLst/>
          </a:prstGeom>
          <a:solidFill>
            <a:srgbClr val="4A90E2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4249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B / Receiver</a:t>
            </a:r>
          </a:p>
        </p:txBody>
      </p:sp>
      <p:sp>
        <p:nvSpPr>
          <p:cNvPr id="63" name="Oval 62"/>
          <p:cNvSpPr/>
          <p:nvPr/>
        </p:nvSpPr>
        <p:spPr>
          <a:xfrm>
            <a:off x="8595360" y="6547104"/>
            <a:ext cx="164592" cy="164592"/>
          </a:xfrm>
          <a:prstGeom prst="ellipse">
            <a:avLst/>
          </a:prstGeom>
          <a:solidFill>
            <a:srgbClr val="FF6B6B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7965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Defender</a:t>
            </a:r>
          </a:p>
        </p:txBody>
      </p:sp>
      <p:sp>
        <p:nvSpPr>
          <p:cNvPr id="65" name="Oval 64"/>
          <p:cNvSpPr/>
          <p:nvPr/>
        </p:nvSpPr>
        <p:spPr>
          <a:xfrm>
            <a:off x="9966960" y="654710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1681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Ball</a:t>
            </a:r>
          </a:p>
        </p:txBody>
      </p:sp>
      <p:sp>
        <p:nvSpPr>
          <p:cNvPr id="67" name="Rectangle 6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 spc="200">
                <a:solidFill>
                  <a:srgbClr val="7B8A7F"/>
                </a:solidFill>
                <a:latin typeface="Calibri"/>
              </a:rPr>
              <a:t>qmtk Soccer · Coach Playbook · Grades K–5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905695" y="65379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 spc="200">
                <a:solidFill>
                  <a:srgbClr val="7B8A7F"/>
                </a:solidFill>
                <a:latin typeface="Calibri"/>
              </a:rPr>
              <a:t>qmtk.org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gradFill flip="none" rotWithShape="1">
            <a:gsLst>
              <a:gs pos="0">
                <a:srgbClr val="080D0A"/>
              </a:gs>
              <a:gs pos="100000">
                <a:srgbClr val="101812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4ADE80"/>
                </a:solidFill>
                <a:latin typeface="Calibri"/>
              </a:rPr>
              <a:t>qmtk Soccer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7B8A7F"/>
                </a:solidFill>
                <a:latin typeface="Calibri"/>
              </a:rPr>
              <a:t>COACH PLAYBOOK · GRADES K–5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1005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B4C3B8"/>
                </a:solidFill>
                <a:latin typeface="Calibri"/>
              </a:rPr>
              <a:t>01.3  / 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1054946" cy="274320"/>
          </a:xfrm>
          <a:prstGeom prst="roundRect">
            <a:avLst>
              <a:gd name="adj" fmla="val 50000"/>
            </a:avLst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05494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spc="80">
                <a:solidFill>
                  <a:srgbClr val="080D0A"/>
                </a:solidFill>
                <a:latin typeface="Calibri"/>
              </a:rPr>
              <a:t>LESSON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21874" y="1097280"/>
            <a:ext cx="1070610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21874" y="1097280"/>
            <a:ext cx="107061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22–33 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02212" y="1097280"/>
            <a:ext cx="2323676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02212" y="1097280"/>
            <a:ext cx="232367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📏  30x20 yd, 8 cone gates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508760"/>
            <a:ext cx="7772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Gate Passing Adventure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31720"/>
            <a:ext cx="640080" cy="54864"/>
          </a:xfrm>
          <a:prstGeom prst="rect">
            <a:avLst/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0604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7C5DFA"/>
                </a:solidFill>
                <a:latin typeface="Calibri"/>
              </a:rPr>
              <a:t>THE DRILL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926080"/>
            <a:ext cx="5120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8EDE9"/>
                </a:solidFill>
                <a:latin typeface="Calibri"/>
              </a:rPr>
              <a:t>Cone gates scattered across our big field. Pairs pass through as many different gates as they can in 90 seconds, then try to beat their score. Passing plus moving together — sneaky teamwork practice.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0060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7C5DFA"/>
                </a:solidFill>
                <a:latin typeface="Calibri"/>
              </a:rPr>
              <a:t>KEY COACHING CUES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166360"/>
            <a:ext cx="5120640" cy="18288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5422392"/>
            <a:ext cx="109728" cy="109728"/>
          </a:xfrm>
          <a:prstGeom prst="ellipse">
            <a:avLst/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34924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Aim — pick your gate before you pass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5843016"/>
            <a:ext cx="109728" cy="109728"/>
          </a:xfrm>
          <a:prstGeom prst="ellipse">
            <a:avLst/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769864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Right pace — partner shouldn't chase it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" y="6263640"/>
            <a:ext cx="109728" cy="109728"/>
          </a:xfrm>
          <a:prstGeom prst="ellipse">
            <a:avLst/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6190488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Move to a new gate together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0" y="2468880"/>
            <a:ext cx="6126480" cy="38862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52160" y="2606040"/>
            <a:ext cx="5852160" cy="3611880"/>
          </a:xfrm>
          <a:gradFill flip="none" rotWithShape="1">
            <a:gsLst>
              <a:gs pos="0">
                <a:srgbClr val="3E964F"/>
              </a:gs>
              <a:gs pos="100000">
                <a:srgbClr val="2A7037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96635" y="2750515"/>
            <a:ext cx="5563210" cy="3322930"/>
          </a:xfrm>
          <a:prstGeom prst="rect">
            <a:avLst/>
          </a:prstGeom>
          <a:noFill/>
          <a:ln w="25400">
            <a:solidFill>
              <a:srgbClr val="FFFFFF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759244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59244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0" name="Oval 29"/>
          <p:cNvSpPr/>
          <p:nvPr/>
        </p:nvSpPr>
        <p:spPr>
          <a:xfrm>
            <a:off x="6827824" y="39936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870573" y="403639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759244" y="4879695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59244" y="4923587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4" name="Oval 33"/>
          <p:cNvSpPr/>
          <p:nvPr/>
        </p:nvSpPr>
        <p:spPr>
          <a:xfrm>
            <a:off x="6827824" y="514944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870573" y="5192192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988198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88198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8" name="Oval 37"/>
          <p:cNvSpPr/>
          <p:nvPr/>
        </p:nvSpPr>
        <p:spPr>
          <a:xfrm>
            <a:off x="8056778" y="39936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099527" y="403639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988198" y="4879695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88198" y="4923587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42" name="Oval 41"/>
          <p:cNvSpPr/>
          <p:nvPr/>
        </p:nvSpPr>
        <p:spPr>
          <a:xfrm>
            <a:off x="8056778" y="514944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099527" y="5192192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217152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17152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46" name="Oval 45"/>
          <p:cNvSpPr/>
          <p:nvPr/>
        </p:nvSpPr>
        <p:spPr>
          <a:xfrm>
            <a:off x="9285732" y="39936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328481" y="403639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217152" y="4879695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17152" y="4923587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50" name="Oval 49"/>
          <p:cNvSpPr/>
          <p:nvPr/>
        </p:nvSpPr>
        <p:spPr>
          <a:xfrm>
            <a:off x="9285732" y="514944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328481" y="5192192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446105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446105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54" name="Oval 53"/>
          <p:cNvSpPr/>
          <p:nvPr/>
        </p:nvSpPr>
        <p:spPr>
          <a:xfrm>
            <a:off x="10514685" y="39936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557434" y="403639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446105" y="4879695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446105" y="4923587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58" name="Oval 57"/>
          <p:cNvSpPr/>
          <p:nvPr/>
        </p:nvSpPr>
        <p:spPr>
          <a:xfrm>
            <a:off x="10514685" y="514944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557434" y="5192192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852160" y="5925312"/>
            <a:ext cx="5852160" cy="292608"/>
          </a:xfrm>
          <a:prstGeom prst="rect">
            <a:avLst/>
          </a:prstGeom>
          <a:solidFill>
            <a:srgbClr val="080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50">
                <a:solidFill>
                  <a:srgbClr val="E8EDE9"/>
                </a:solidFill>
                <a:latin typeface="Calibri"/>
              </a:rPr>
              <a:t>📏  30x20 yd, 8 cone gates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 spc="80">
                <a:solidFill>
                  <a:srgbClr val="7C5DFA"/>
                </a:solidFill>
                <a:latin typeface="Calibri"/>
              </a:rPr>
              <a:t>LESSON 2</a:t>
            </a:r>
          </a:p>
        </p:txBody>
      </p:sp>
      <p:sp>
        <p:nvSpPr>
          <p:cNvPr id="63" name="Oval 62"/>
          <p:cNvSpPr/>
          <p:nvPr/>
        </p:nvSpPr>
        <p:spPr>
          <a:xfrm>
            <a:off x="5852160" y="6547104"/>
            <a:ext cx="164592" cy="164592"/>
          </a:xfrm>
          <a:prstGeom prst="ellipse">
            <a:avLst/>
          </a:prstGeom>
          <a:solidFill>
            <a:srgbClr val="F5A623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0533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A / Attacker</a:t>
            </a:r>
          </a:p>
        </p:txBody>
      </p:sp>
      <p:sp>
        <p:nvSpPr>
          <p:cNvPr id="65" name="Oval 64"/>
          <p:cNvSpPr/>
          <p:nvPr/>
        </p:nvSpPr>
        <p:spPr>
          <a:xfrm>
            <a:off x="7223760" y="6547104"/>
            <a:ext cx="164592" cy="164592"/>
          </a:xfrm>
          <a:prstGeom prst="ellipse">
            <a:avLst/>
          </a:prstGeom>
          <a:solidFill>
            <a:srgbClr val="4A90E2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4249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B / Receiver</a:t>
            </a:r>
          </a:p>
        </p:txBody>
      </p:sp>
      <p:sp>
        <p:nvSpPr>
          <p:cNvPr id="67" name="Oval 66"/>
          <p:cNvSpPr/>
          <p:nvPr/>
        </p:nvSpPr>
        <p:spPr>
          <a:xfrm>
            <a:off x="8595360" y="6547104"/>
            <a:ext cx="164592" cy="164592"/>
          </a:xfrm>
          <a:prstGeom prst="ellipse">
            <a:avLst/>
          </a:prstGeom>
          <a:solidFill>
            <a:srgbClr val="FF6B6B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7965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Defender</a:t>
            </a:r>
          </a:p>
        </p:txBody>
      </p:sp>
      <p:sp>
        <p:nvSpPr>
          <p:cNvPr id="69" name="Oval 68"/>
          <p:cNvSpPr/>
          <p:nvPr/>
        </p:nvSpPr>
        <p:spPr>
          <a:xfrm>
            <a:off x="9966960" y="654710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1681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Ball</a:t>
            </a:r>
          </a:p>
        </p:txBody>
      </p:sp>
      <p:sp>
        <p:nvSpPr>
          <p:cNvPr id="71" name="Rectangle 7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 spc="200">
                <a:solidFill>
                  <a:srgbClr val="7B8A7F"/>
                </a:solidFill>
                <a:latin typeface="Calibri"/>
              </a:rPr>
              <a:t>qmtk Soccer · Coach Playbook · Grades K–5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905695" y="65379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 spc="200">
                <a:solidFill>
                  <a:srgbClr val="7B8A7F"/>
                </a:solidFill>
                <a:latin typeface="Calibri"/>
              </a:rPr>
              <a:t>qmtk.org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gradFill flip="none" rotWithShape="1">
            <a:gsLst>
              <a:gs pos="0">
                <a:srgbClr val="080D0A"/>
              </a:gs>
              <a:gs pos="100000">
                <a:srgbClr val="101812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4ADE80"/>
                </a:solidFill>
                <a:latin typeface="Calibri"/>
              </a:rPr>
              <a:t>qmtk Soccer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7B8A7F"/>
                </a:solidFill>
                <a:latin typeface="Calibri"/>
              </a:rPr>
              <a:t>COACH PLAYBOOK · GRADES K–5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1005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B4C3B8"/>
                </a:solidFill>
                <a:latin typeface="Calibri"/>
              </a:rPr>
              <a:t>01.4  / 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1141095" cy="274320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14109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spc="80">
                <a:solidFill>
                  <a:srgbClr val="080D0A"/>
                </a:solidFill>
                <a:latin typeface="Calibri"/>
              </a:rPr>
              <a:t>SCRIMMAGE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08023" y="1097280"/>
            <a:ext cx="1070610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08023" y="1097280"/>
            <a:ext cx="107061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33–45 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88361" y="1097280"/>
            <a:ext cx="2636943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8361" y="1097280"/>
            <a:ext cx="263694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📏  35x25 yd, two proper goals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508760"/>
            <a:ext cx="7772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5v5 on Proper Goals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31720"/>
            <a:ext cx="640080" cy="54864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0604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4ADE80"/>
                </a:solidFill>
                <a:latin typeface="Calibri"/>
              </a:rPr>
              <a:t>THE DRILL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926080"/>
            <a:ext cx="5120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8EDE9"/>
                </a:solidFill>
                <a:latin typeface="Calibri"/>
              </a:rPr>
              <a:t>5v5 on the big goals. Coach rule this week: try one pass before shooting. Every pass that leads to a shot gets a loud "great pass!" from the coach.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0060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4ADE80"/>
                </a:solidFill>
                <a:latin typeface="Calibri"/>
              </a:rPr>
              <a:t>KEY COACHING CUES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166360"/>
            <a:ext cx="5120640" cy="18288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5422392"/>
            <a:ext cx="109728" cy="109728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34924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Pass to a teammate when you can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5843016"/>
            <a:ext cx="109728" cy="109728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769864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Run to support after you pass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" y="6263640"/>
            <a:ext cx="109728" cy="109728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6190488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Celebrate goals AND assists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0" y="2468880"/>
            <a:ext cx="6126480" cy="38862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52160" y="2606040"/>
            <a:ext cx="5852160" cy="3611880"/>
          </a:xfrm>
          <a:gradFill flip="none" rotWithShape="1">
            <a:gsLst>
              <a:gs pos="0">
                <a:srgbClr val="3E964F"/>
              </a:gs>
              <a:gs pos="100000">
                <a:srgbClr val="2A7037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96635" y="2750515"/>
            <a:ext cx="5563210" cy="3322930"/>
          </a:xfrm>
          <a:prstGeom prst="rect">
            <a:avLst/>
          </a:prstGeom>
          <a:noFill/>
          <a:ln w="25400">
            <a:solidFill>
              <a:srgbClr val="FFFFFF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759244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59244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0" name="Oval 29"/>
          <p:cNvSpPr/>
          <p:nvPr/>
        </p:nvSpPr>
        <p:spPr>
          <a:xfrm>
            <a:off x="6827824" y="39936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870573" y="403639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759244" y="4879695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59244" y="4923587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4" name="Oval 33"/>
          <p:cNvSpPr/>
          <p:nvPr/>
        </p:nvSpPr>
        <p:spPr>
          <a:xfrm>
            <a:off x="6827824" y="514944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870573" y="5192192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988198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88198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8" name="Oval 37"/>
          <p:cNvSpPr/>
          <p:nvPr/>
        </p:nvSpPr>
        <p:spPr>
          <a:xfrm>
            <a:off x="8056778" y="39936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099527" y="403639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988198" y="4879695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88198" y="4923587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42" name="Oval 41"/>
          <p:cNvSpPr/>
          <p:nvPr/>
        </p:nvSpPr>
        <p:spPr>
          <a:xfrm>
            <a:off x="8056778" y="514944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099527" y="5192192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217152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17152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46" name="Oval 45"/>
          <p:cNvSpPr/>
          <p:nvPr/>
        </p:nvSpPr>
        <p:spPr>
          <a:xfrm>
            <a:off x="9285732" y="39936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328481" y="403639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217152" y="4879695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17152" y="4923587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50" name="Oval 49"/>
          <p:cNvSpPr/>
          <p:nvPr/>
        </p:nvSpPr>
        <p:spPr>
          <a:xfrm>
            <a:off x="9285732" y="514944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328481" y="5192192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446105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446105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54" name="Oval 53"/>
          <p:cNvSpPr/>
          <p:nvPr/>
        </p:nvSpPr>
        <p:spPr>
          <a:xfrm>
            <a:off x="10514685" y="39936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557434" y="403639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446105" y="4879695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446105" y="4923587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58" name="Oval 57"/>
          <p:cNvSpPr/>
          <p:nvPr/>
        </p:nvSpPr>
        <p:spPr>
          <a:xfrm>
            <a:off x="10514685" y="514944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557434" y="5192192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852160" y="5925312"/>
            <a:ext cx="5852160" cy="292608"/>
          </a:xfrm>
          <a:prstGeom prst="rect">
            <a:avLst/>
          </a:prstGeom>
          <a:solidFill>
            <a:srgbClr val="080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50">
                <a:solidFill>
                  <a:srgbClr val="E8EDE9"/>
                </a:solidFill>
                <a:latin typeface="Calibri"/>
              </a:rPr>
              <a:t>📏  35x25 yd, two proper goals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 spc="80">
                <a:solidFill>
                  <a:srgbClr val="4ADE80"/>
                </a:solidFill>
                <a:latin typeface="Calibri"/>
              </a:rPr>
              <a:t>SCRIMMAGE</a:t>
            </a:r>
          </a:p>
        </p:txBody>
      </p:sp>
      <p:sp>
        <p:nvSpPr>
          <p:cNvPr id="63" name="Oval 62"/>
          <p:cNvSpPr/>
          <p:nvPr/>
        </p:nvSpPr>
        <p:spPr>
          <a:xfrm>
            <a:off x="5852160" y="6547104"/>
            <a:ext cx="164592" cy="164592"/>
          </a:xfrm>
          <a:prstGeom prst="ellipse">
            <a:avLst/>
          </a:prstGeom>
          <a:solidFill>
            <a:srgbClr val="F5A623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0533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A / Attacker</a:t>
            </a:r>
          </a:p>
        </p:txBody>
      </p:sp>
      <p:sp>
        <p:nvSpPr>
          <p:cNvPr id="65" name="Oval 64"/>
          <p:cNvSpPr/>
          <p:nvPr/>
        </p:nvSpPr>
        <p:spPr>
          <a:xfrm>
            <a:off x="7223760" y="6547104"/>
            <a:ext cx="164592" cy="164592"/>
          </a:xfrm>
          <a:prstGeom prst="ellipse">
            <a:avLst/>
          </a:prstGeom>
          <a:solidFill>
            <a:srgbClr val="4A90E2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4249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B / Receiver</a:t>
            </a:r>
          </a:p>
        </p:txBody>
      </p:sp>
      <p:sp>
        <p:nvSpPr>
          <p:cNvPr id="67" name="Oval 66"/>
          <p:cNvSpPr/>
          <p:nvPr/>
        </p:nvSpPr>
        <p:spPr>
          <a:xfrm>
            <a:off x="8595360" y="6547104"/>
            <a:ext cx="164592" cy="164592"/>
          </a:xfrm>
          <a:prstGeom prst="ellipse">
            <a:avLst/>
          </a:prstGeom>
          <a:solidFill>
            <a:srgbClr val="FF6B6B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7965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Defender</a:t>
            </a:r>
          </a:p>
        </p:txBody>
      </p:sp>
      <p:sp>
        <p:nvSpPr>
          <p:cNvPr id="69" name="Oval 68"/>
          <p:cNvSpPr/>
          <p:nvPr/>
        </p:nvSpPr>
        <p:spPr>
          <a:xfrm>
            <a:off x="9966960" y="654710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1681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Ball</a:t>
            </a:r>
          </a:p>
        </p:txBody>
      </p:sp>
      <p:sp>
        <p:nvSpPr>
          <p:cNvPr id="71" name="Rectangle 7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 spc="200">
                <a:solidFill>
                  <a:srgbClr val="7B8A7F"/>
                </a:solidFill>
                <a:latin typeface="Calibri"/>
              </a:rPr>
              <a:t>qmtk Soccer · Coach Playbook · Grades K–5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905695" y="65379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 spc="200">
                <a:solidFill>
                  <a:srgbClr val="7B8A7F"/>
                </a:solidFill>
                <a:latin typeface="Calibri"/>
              </a:rPr>
              <a:t>qmtk.org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gradFill flip="none" rotWithShape="1">
            <a:gsLst>
              <a:gs pos="0">
                <a:srgbClr val="145A2A"/>
              </a:gs>
              <a:gs pos="100000">
                <a:srgbClr val="22A24D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0" y="457200"/>
            <a:ext cx="5029200" cy="54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743200"/>
            <a:ext cx="640080" cy="4572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88036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500">
                <a:solidFill>
                  <a:srgbClr val="4ADE80"/>
                </a:solidFill>
                <a:latin typeface="Calibri"/>
              </a:rPr>
              <a:t>SECTION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4612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  <a:latin typeface="Calibri"/>
              </a:rPr>
              <a:t>Grades 6–8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6177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1">
                <a:solidFill>
                  <a:srgbClr val="C5E8CE"/>
                </a:solidFill>
                <a:latin typeface="Calibri"/>
              </a:rPr>
              <a:t>6:45–7:30 PM · 45 minute session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C5E8CE"/>
                </a:solidFill>
                <a:latin typeface="Calibri"/>
              </a:rPr>
              <a:t>qmtk Soccer · Coach Playbook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gradFill flip="none" rotWithShape="1">
            <a:gsLst>
              <a:gs pos="0">
                <a:srgbClr val="080D0A"/>
              </a:gs>
              <a:gs pos="100000">
                <a:srgbClr val="101812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4ADE80"/>
                </a:solidFill>
                <a:latin typeface="Calibri"/>
              </a:rPr>
              <a:t>qmtk Soccer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7B8A7F"/>
                </a:solidFill>
                <a:latin typeface="Calibri"/>
              </a:rPr>
              <a:t>COACH PLAYBOOK · GRADES 6–8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1005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B4C3B8"/>
                </a:solidFill>
                <a:latin typeface="Calibri"/>
              </a:rPr>
              <a:t>02.1  / 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1399540" cy="27432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3995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spc="80">
                <a:solidFill>
                  <a:srgbClr val="080D0A"/>
                </a:solidFill>
                <a:latin typeface="Calibri"/>
              </a:rPr>
              <a:t>OPENING GAME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66468" y="1097280"/>
            <a:ext cx="992293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66468" y="1097280"/>
            <a:ext cx="99229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0–10 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68489" y="1097280"/>
            <a:ext cx="2950210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68489" y="1097280"/>
            <a:ext cx="295021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📏  20x20 yd square, groups of 4–5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508760"/>
            <a:ext cx="7772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4-Corner Passing Race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31720"/>
            <a:ext cx="64008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0604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5A623"/>
                </a:solidFill>
                <a:latin typeface="Calibri"/>
              </a:rPr>
              <a:t>THE DRILL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926080"/>
            <a:ext cx="5120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8EDE9"/>
                </a:solidFill>
                <a:latin typeface="Calibri"/>
              </a:rPr>
              <a:t>One player per cone plus one chaser in the middle. Pass around the square while the chaser hunts the ball. Two-touch max. Switch the chaser on every giveaway. Pressure passing from minute one.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0060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5A623"/>
                </a:solidFill>
                <a:latin typeface="Calibri"/>
              </a:rPr>
              <a:t>KEY COACHING CUES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166360"/>
            <a:ext cx="5120640" cy="18288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5422392"/>
            <a:ext cx="109728" cy="10972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34924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Pass away from the chaser's run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5843016"/>
            <a:ext cx="109728" cy="10972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769864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Crisp weight — passes that beat pressure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" y="6263640"/>
            <a:ext cx="109728" cy="10972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6190488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Receive on the back foot, ready to play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0" y="2468880"/>
            <a:ext cx="6126480" cy="38862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52160" y="2606040"/>
            <a:ext cx="5852160" cy="3611880"/>
          </a:xfrm>
          <a:gradFill flip="none" rotWithShape="1">
            <a:gsLst>
              <a:gs pos="0">
                <a:srgbClr val="3E964F"/>
              </a:gs>
              <a:gs pos="100000">
                <a:srgbClr val="2A7037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96635" y="2750515"/>
            <a:ext cx="5563210" cy="3322930"/>
          </a:xfrm>
          <a:prstGeom prst="rect">
            <a:avLst/>
          </a:prstGeom>
          <a:noFill/>
          <a:ln w="25400">
            <a:solidFill>
              <a:srgbClr val="FFFFFF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759244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59244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0" name="Oval 29"/>
          <p:cNvSpPr/>
          <p:nvPr/>
        </p:nvSpPr>
        <p:spPr>
          <a:xfrm>
            <a:off x="6827824" y="39936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870573" y="403639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759244" y="4879695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59244" y="4923587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4" name="Oval 33"/>
          <p:cNvSpPr/>
          <p:nvPr/>
        </p:nvSpPr>
        <p:spPr>
          <a:xfrm>
            <a:off x="6827824" y="514944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870573" y="5192192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988198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88198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8" name="Oval 37"/>
          <p:cNvSpPr/>
          <p:nvPr/>
        </p:nvSpPr>
        <p:spPr>
          <a:xfrm>
            <a:off x="8056778" y="39936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099527" y="403639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988198" y="4879695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88198" y="4923587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42" name="Oval 41"/>
          <p:cNvSpPr/>
          <p:nvPr/>
        </p:nvSpPr>
        <p:spPr>
          <a:xfrm>
            <a:off x="8056778" y="514944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099527" y="5192192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217152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17152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46" name="Oval 45"/>
          <p:cNvSpPr/>
          <p:nvPr/>
        </p:nvSpPr>
        <p:spPr>
          <a:xfrm>
            <a:off x="9285732" y="39936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328481" y="403639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217152" y="4879695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17152" y="4923587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50" name="Oval 49"/>
          <p:cNvSpPr/>
          <p:nvPr/>
        </p:nvSpPr>
        <p:spPr>
          <a:xfrm>
            <a:off x="9285732" y="514944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328481" y="5192192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446105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446105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54" name="Oval 53"/>
          <p:cNvSpPr/>
          <p:nvPr/>
        </p:nvSpPr>
        <p:spPr>
          <a:xfrm>
            <a:off x="10514685" y="39936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557434" y="403639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446105" y="4879695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446105" y="4923587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58" name="Oval 57"/>
          <p:cNvSpPr/>
          <p:nvPr/>
        </p:nvSpPr>
        <p:spPr>
          <a:xfrm>
            <a:off x="10514685" y="514944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557434" y="5192192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852160" y="5925312"/>
            <a:ext cx="5852160" cy="292608"/>
          </a:xfrm>
          <a:prstGeom prst="rect">
            <a:avLst/>
          </a:prstGeom>
          <a:solidFill>
            <a:srgbClr val="080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50">
                <a:solidFill>
                  <a:srgbClr val="E8EDE9"/>
                </a:solidFill>
                <a:latin typeface="Calibri"/>
              </a:rPr>
              <a:t>📏  20x20 yd square, groups of 4–5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 spc="80">
                <a:solidFill>
                  <a:srgbClr val="F5A623"/>
                </a:solidFill>
                <a:latin typeface="Calibri"/>
              </a:rPr>
              <a:t>OPENING GAME</a:t>
            </a:r>
          </a:p>
        </p:txBody>
      </p:sp>
      <p:sp>
        <p:nvSpPr>
          <p:cNvPr id="63" name="Oval 62"/>
          <p:cNvSpPr/>
          <p:nvPr/>
        </p:nvSpPr>
        <p:spPr>
          <a:xfrm>
            <a:off x="5852160" y="6547104"/>
            <a:ext cx="164592" cy="164592"/>
          </a:xfrm>
          <a:prstGeom prst="ellipse">
            <a:avLst/>
          </a:prstGeom>
          <a:solidFill>
            <a:srgbClr val="F5A623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0533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A / Attacker</a:t>
            </a:r>
          </a:p>
        </p:txBody>
      </p:sp>
      <p:sp>
        <p:nvSpPr>
          <p:cNvPr id="65" name="Oval 64"/>
          <p:cNvSpPr/>
          <p:nvPr/>
        </p:nvSpPr>
        <p:spPr>
          <a:xfrm>
            <a:off x="7223760" y="6547104"/>
            <a:ext cx="164592" cy="164592"/>
          </a:xfrm>
          <a:prstGeom prst="ellipse">
            <a:avLst/>
          </a:prstGeom>
          <a:solidFill>
            <a:srgbClr val="4A90E2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4249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B / Receiver</a:t>
            </a:r>
          </a:p>
        </p:txBody>
      </p:sp>
      <p:sp>
        <p:nvSpPr>
          <p:cNvPr id="67" name="Oval 66"/>
          <p:cNvSpPr/>
          <p:nvPr/>
        </p:nvSpPr>
        <p:spPr>
          <a:xfrm>
            <a:off x="8595360" y="6547104"/>
            <a:ext cx="164592" cy="164592"/>
          </a:xfrm>
          <a:prstGeom prst="ellipse">
            <a:avLst/>
          </a:prstGeom>
          <a:solidFill>
            <a:srgbClr val="FF6B6B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7965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Defender</a:t>
            </a:r>
          </a:p>
        </p:txBody>
      </p:sp>
      <p:sp>
        <p:nvSpPr>
          <p:cNvPr id="69" name="Oval 68"/>
          <p:cNvSpPr/>
          <p:nvPr/>
        </p:nvSpPr>
        <p:spPr>
          <a:xfrm>
            <a:off x="9966960" y="654710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1681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Ball</a:t>
            </a:r>
          </a:p>
        </p:txBody>
      </p:sp>
      <p:sp>
        <p:nvSpPr>
          <p:cNvPr id="71" name="Rectangle 7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 spc="200">
                <a:solidFill>
                  <a:srgbClr val="7B8A7F"/>
                </a:solidFill>
                <a:latin typeface="Calibri"/>
              </a:rPr>
              <a:t>qmtk Soccer · Coach Playbook · Grades 6–8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905695" y="65379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 spc="200">
                <a:solidFill>
                  <a:srgbClr val="7B8A7F"/>
                </a:solidFill>
                <a:latin typeface="Calibri"/>
              </a:rPr>
              <a:t>qmtk.org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gradFill flip="none" rotWithShape="1">
            <a:gsLst>
              <a:gs pos="0">
                <a:srgbClr val="080D0A"/>
              </a:gs>
              <a:gs pos="100000">
                <a:srgbClr val="101812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4ADE80"/>
                </a:solidFill>
                <a:latin typeface="Calibri"/>
              </a:rPr>
              <a:t>qmtk Soccer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7B8A7F"/>
                </a:solidFill>
                <a:latin typeface="Calibri"/>
              </a:rPr>
              <a:t>COACH PLAYBOOK · GRADES 6–8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1005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B4C3B8"/>
                </a:solidFill>
                <a:latin typeface="Calibri"/>
              </a:rPr>
              <a:t>02.2  / 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1054946" cy="274320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05494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spc="80">
                <a:solidFill>
                  <a:srgbClr val="080D0A"/>
                </a:solidFill>
                <a:latin typeface="Calibri"/>
              </a:rPr>
              <a:t>LESSON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21874" y="1097280"/>
            <a:ext cx="1070610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21874" y="1097280"/>
            <a:ext cx="107061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10–22 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02212" y="1097280"/>
            <a:ext cx="3028526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02212" y="1097280"/>
            <a:ext cx="302852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📏  12x12 yd triangles, groups of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508760"/>
            <a:ext cx="7772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Pass &amp; Move Triangles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31720"/>
            <a:ext cx="640080" cy="54864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0604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4A90E2"/>
                </a:solidFill>
                <a:latin typeface="Calibri"/>
              </a:rPr>
              <a:t>THE DRILL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926080"/>
            <a:ext cx="5120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8EDE9"/>
                </a:solidFill>
                <a:latin typeface="Calibri"/>
              </a:rPr>
              <a:t>Pass to the next cone, sprint to the empty cone. Then flip direction on the coach's call so players receive on the other foot. Finish with a two-touch time trial — most completed passes in 60 seconds wins.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0060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4A90E2"/>
                </a:solidFill>
                <a:latin typeface="Calibri"/>
              </a:rPr>
              <a:t>KEY COACHING CUES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166360"/>
            <a:ext cx="5120640" cy="18288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5422392"/>
            <a:ext cx="109728" cy="109728"/>
          </a:xfrm>
          <a:prstGeom prst="ellipse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34924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Pass and move — never admire your pass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5843016"/>
            <a:ext cx="109728" cy="109728"/>
          </a:xfrm>
          <a:prstGeom prst="ellipse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769864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Open body shape to see two cones at once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" y="6263640"/>
            <a:ext cx="109728" cy="109728"/>
          </a:xfrm>
          <a:prstGeom prst="ellipse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6190488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Both feet, both directions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0" y="2468880"/>
            <a:ext cx="6126480" cy="38862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52160" y="2606040"/>
            <a:ext cx="5852160" cy="3611880"/>
          </a:xfrm>
          <a:gradFill flip="none" rotWithShape="1">
            <a:gsLst>
              <a:gs pos="0">
                <a:srgbClr val="3E964F"/>
              </a:gs>
              <a:gs pos="100000">
                <a:srgbClr val="2A7037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96635" y="2750515"/>
            <a:ext cx="5563210" cy="3322930"/>
          </a:xfrm>
          <a:prstGeom prst="rect">
            <a:avLst/>
          </a:prstGeom>
          <a:noFill/>
          <a:ln w="25400">
            <a:solidFill>
              <a:srgbClr val="FFFFFF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227417" y="5277002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27417" y="5320894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30" name="Oval 29"/>
          <p:cNvSpPr/>
          <p:nvPr/>
        </p:nvSpPr>
        <p:spPr>
          <a:xfrm>
            <a:off x="8631936" y="3254349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31936" y="3298241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32" name="Oval 31"/>
          <p:cNvSpPr/>
          <p:nvPr/>
        </p:nvSpPr>
        <p:spPr>
          <a:xfrm>
            <a:off x="10036454" y="5277002"/>
            <a:ext cx="292608" cy="292608"/>
          </a:xfrm>
          <a:prstGeom prst="ellipse">
            <a:avLst/>
          </a:prstGeom>
          <a:solidFill>
            <a:srgbClr val="7C5DFA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36454" y="5320894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cxnSp>
        <p:nvCxnSpPr>
          <p:cNvPr id="34" name="Connector 33"/>
          <p:cNvCxnSpPr/>
          <p:nvPr/>
        </p:nvCxnSpPr>
        <p:spPr>
          <a:xfrm flipV="1">
            <a:off x="7465161.6" y="3400653.6"/>
            <a:ext cx="1221638.4000000004" cy="2022652.8000000003"/>
          </a:xfrm>
          <a:prstGeom prst="line">
            <a:avLst/>
          </a:prstGeom>
          <a:ln w="25400">
            <a:solidFill>
              <a:srgbClr val="FFFFFF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869680.0" y="3400653.6"/>
            <a:ext cx="1221638.4000000004" cy="2022652.8000000003"/>
          </a:xfrm>
          <a:prstGeom prst="line">
            <a:avLst/>
          </a:prstGeom>
          <a:ln w="25400">
            <a:solidFill>
              <a:srgbClr val="FFFFFF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7282281.6" y="5423306.4"/>
            <a:ext cx="2991916.8000000007" cy="0.0"/>
          </a:xfrm>
          <a:prstGeom prst="line">
            <a:avLst/>
          </a:prstGeom>
          <a:ln w="25400">
            <a:solidFill>
              <a:srgbClr val="FFFFFF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7460589" y="534558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503338" y="538833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852160" y="5925312"/>
            <a:ext cx="5852160" cy="292608"/>
          </a:xfrm>
          <a:prstGeom prst="rect">
            <a:avLst/>
          </a:prstGeom>
          <a:solidFill>
            <a:srgbClr val="080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50">
                <a:solidFill>
                  <a:srgbClr val="E8EDE9"/>
                </a:solidFill>
                <a:latin typeface="Calibri"/>
              </a:rPr>
              <a:t>📏  12x12 yd triangles, groups of 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 spc="80">
                <a:solidFill>
                  <a:srgbClr val="4A90E2"/>
                </a:solidFill>
                <a:latin typeface="Calibri"/>
              </a:rPr>
              <a:t>LESSON 1</a:t>
            </a:r>
          </a:p>
        </p:txBody>
      </p:sp>
      <p:sp>
        <p:nvSpPr>
          <p:cNvPr id="42" name="Oval 41"/>
          <p:cNvSpPr/>
          <p:nvPr/>
        </p:nvSpPr>
        <p:spPr>
          <a:xfrm>
            <a:off x="5852160" y="6547104"/>
            <a:ext cx="164592" cy="164592"/>
          </a:xfrm>
          <a:prstGeom prst="ellipse">
            <a:avLst/>
          </a:prstGeom>
          <a:solidFill>
            <a:srgbClr val="F5A623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533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A / Attacker</a:t>
            </a:r>
          </a:p>
        </p:txBody>
      </p:sp>
      <p:sp>
        <p:nvSpPr>
          <p:cNvPr id="44" name="Oval 43"/>
          <p:cNvSpPr/>
          <p:nvPr/>
        </p:nvSpPr>
        <p:spPr>
          <a:xfrm>
            <a:off x="7223760" y="6547104"/>
            <a:ext cx="164592" cy="164592"/>
          </a:xfrm>
          <a:prstGeom prst="ellipse">
            <a:avLst/>
          </a:prstGeom>
          <a:solidFill>
            <a:srgbClr val="4A90E2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249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B / Receiver</a:t>
            </a:r>
          </a:p>
        </p:txBody>
      </p:sp>
      <p:sp>
        <p:nvSpPr>
          <p:cNvPr id="46" name="Oval 45"/>
          <p:cNvSpPr/>
          <p:nvPr/>
        </p:nvSpPr>
        <p:spPr>
          <a:xfrm>
            <a:off x="8595360" y="6547104"/>
            <a:ext cx="164592" cy="164592"/>
          </a:xfrm>
          <a:prstGeom prst="ellipse">
            <a:avLst/>
          </a:prstGeom>
          <a:solidFill>
            <a:srgbClr val="FF6B6B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7965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Defender</a:t>
            </a:r>
          </a:p>
        </p:txBody>
      </p:sp>
      <p:sp>
        <p:nvSpPr>
          <p:cNvPr id="48" name="Oval 47"/>
          <p:cNvSpPr/>
          <p:nvPr/>
        </p:nvSpPr>
        <p:spPr>
          <a:xfrm>
            <a:off x="9966960" y="654710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1681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Ball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 spc="200">
                <a:solidFill>
                  <a:srgbClr val="7B8A7F"/>
                </a:solidFill>
                <a:latin typeface="Calibri"/>
              </a:rPr>
              <a:t>qmtk Soccer · Coach Playbook · Grades 6–8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05695" y="65379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 spc="200">
                <a:solidFill>
                  <a:srgbClr val="7B8A7F"/>
                </a:solidFill>
                <a:latin typeface="Calibri"/>
              </a:rPr>
              <a:t>qmtk.org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gradFill flip="none" rotWithShape="1">
            <a:gsLst>
              <a:gs pos="0">
                <a:srgbClr val="080D0A"/>
              </a:gs>
              <a:gs pos="100000">
                <a:srgbClr val="101812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4ADE80"/>
                </a:solidFill>
                <a:latin typeface="Calibri"/>
              </a:rPr>
              <a:t>qmtk Soccer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7B8A7F"/>
                </a:solidFill>
                <a:latin typeface="Calibri"/>
              </a:rPr>
              <a:t>COACH PLAYBOOK · GRADES 6–8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1005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B4C3B8"/>
                </a:solidFill>
                <a:latin typeface="Calibri"/>
              </a:rPr>
              <a:t>02.3  / 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1054946" cy="274320"/>
          </a:xfrm>
          <a:prstGeom prst="roundRect">
            <a:avLst>
              <a:gd name="adj" fmla="val 50000"/>
            </a:avLst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05494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spc="80">
                <a:solidFill>
                  <a:srgbClr val="080D0A"/>
                </a:solidFill>
                <a:latin typeface="Calibri"/>
              </a:rPr>
              <a:t>LESSON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21874" y="1097280"/>
            <a:ext cx="1070610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21874" y="1097280"/>
            <a:ext cx="107061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22–33 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02212" y="1097280"/>
            <a:ext cx="1697143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02212" y="1097280"/>
            <a:ext cx="169714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📏  12x12 yd boxes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508760"/>
            <a:ext cx="7772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3v1 Rondo to Break the Line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31720"/>
            <a:ext cx="640080" cy="54864"/>
          </a:xfrm>
          <a:prstGeom prst="rect">
            <a:avLst/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0604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7C5DFA"/>
                </a:solidFill>
                <a:latin typeface="Calibri"/>
              </a:rPr>
              <a:t>THE DRILL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926080"/>
            <a:ext cx="5120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8EDE9"/>
                </a:solidFill>
                <a:latin typeface="Calibri"/>
              </a:rPr>
              <a:t>Three attackers keep the ball from one defender. A "split pass" through the defender counts double. Defender out after two wins or 45 seconds. Real decisions: when to play safe around, when to play brave through.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0060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7C5DFA"/>
                </a:solidFill>
                <a:latin typeface="Calibri"/>
              </a:rPr>
              <a:t>KEY COACHING CUES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166360"/>
            <a:ext cx="5120640" cy="18288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5422392"/>
            <a:ext cx="109728" cy="109728"/>
          </a:xfrm>
          <a:prstGeom prst="ellipse">
            <a:avLst/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34924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Angle of support — give the passer two options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5843016"/>
            <a:ext cx="109728" cy="109728"/>
          </a:xfrm>
          <a:prstGeom prst="ellipse">
            <a:avLst/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769864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Disguise the split pass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" y="6263640"/>
            <a:ext cx="109728" cy="109728"/>
          </a:xfrm>
          <a:prstGeom prst="ellipse">
            <a:avLst/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6190488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First touch away from the defender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0" y="2468880"/>
            <a:ext cx="6126480" cy="38862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52160" y="2606040"/>
            <a:ext cx="5852160" cy="3611880"/>
          </a:xfrm>
          <a:gradFill flip="none" rotWithShape="1">
            <a:gsLst>
              <a:gs pos="0">
                <a:srgbClr val="3E964F"/>
              </a:gs>
              <a:gs pos="100000">
                <a:srgbClr val="2A7037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96635" y="2750515"/>
            <a:ext cx="5563210" cy="3322930"/>
          </a:xfrm>
          <a:prstGeom prst="rect">
            <a:avLst/>
          </a:prstGeom>
          <a:noFill/>
          <a:ln w="25400">
            <a:solidFill>
              <a:srgbClr val="FFFFFF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759244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59244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0" name="Oval 29"/>
          <p:cNvSpPr/>
          <p:nvPr/>
        </p:nvSpPr>
        <p:spPr>
          <a:xfrm>
            <a:off x="6827824" y="39936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870573" y="403639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759244" y="4879695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59244" y="4923587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4" name="Oval 33"/>
          <p:cNvSpPr/>
          <p:nvPr/>
        </p:nvSpPr>
        <p:spPr>
          <a:xfrm>
            <a:off x="6827824" y="514944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870573" y="5192192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988198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88198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8" name="Oval 37"/>
          <p:cNvSpPr/>
          <p:nvPr/>
        </p:nvSpPr>
        <p:spPr>
          <a:xfrm>
            <a:off x="8056778" y="39936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099527" y="403639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988198" y="4879695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88198" y="4923587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42" name="Oval 41"/>
          <p:cNvSpPr/>
          <p:nvPr/>
        </p:nvSpPr>
        <p:spPr>
          <a:xfrm>
            <a:off x="8056778" y="514944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099527" y="5192192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217152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17152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46" name="Oval 45"/>
          <p:cNvSpPr/>
          <p:nvPr/>
        </p:nvSpPr>
        <p:spPr>
          <a:xfrm>
            <a:off x="9285732" y="39936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328481" y="403639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217152" y="4879695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17152" y="4923587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50" name="Oval 49"/>
          <p:cNvSpPr/>
          <p:nvPr/>
        </p:nvSpPr>
        <p:spPr>
          <a:xfrm>
            <a:off x="9285732" y="514944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328481" y="5192192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446105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446105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54" name="Oval 53"/>
          <p:cNvSpPr/>
          <p:nvPr/>
        </p:nvSpPr>
        <p:spPr>
          <a:xfrm>
            <a:off x="10514685" y="39936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557434" y="403639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446105" y="4879695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446105" y="4923587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58" name="Oval 57"/>
          <p:cNvSpPr/>
          <p:nvPr/>
        </p:nvSpPr>
        <p:spPr>
          <a:xfrm>
            <a:off x="10514685" y="514944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557434" y="5192192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852160" y="5925312"/>
            <a:ext cx="5852160" cy="292608"/>
          </a:xfrm>
          <a:prstGeom prst="rect">
            <a:avLst/>
          </a:prstGeom>
          <a:solidFill>
            <a:srgbClr val="080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50">
                <a:solidFill>
                  <a:srgbClr val="E8EDE9"/>
                </a:solidFill>
                <a:latin typeface="Calibri"/>
              </a:rPr>
              <a:t>📏  12x12 yd boxes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 spc="80">
                <a:solidFill>
                  <a:srgbClr val="7C5DFA"/>
                </a:solidFill>
                <a:latin typeface="Calibri"/>
              </a:rPr>
              <a:t>LESSON 2</a:t>
            </a:r>
          </a:p>
        </p:txBody>
      </p:sp>
      <p:sp>
        <p:nvSpPr>
          <p:cNvPr id="63" name="Oval 62"/>
          <p:cNvSpPr/>
          <p:nvPr/>
        </p:nvSpPr>
        <p:spPr>
          <a:xfrm>
            <a:off x="5852160" y="6547104"/>
            <a:ext cx="164592" cy="164592"/>
          </a:xfrm>
          <a:prstGeom prst="ellipse">
            <a:avLst/>
          </a:prstGeom>
          <a:solidFill>
            <a:srgbClr val="F5A623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0533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A / Attacker</a:t>
            </a:r>
          </a:p>
        </p:txBody>
      </p:sp>
      <p:sp>
        <p:nvSpPr>
          <p:cNvPr id="65" name="Oval 64"/>
          <p:cNvSpPr/>
          <p:nvPr/>
        </p:nvSpPr>
        <p:spPr>
          <a:xfrm>
            <a:off x="7223760" y="6547104"/>
            <a:ext cx="164592" cy="164592"/>
          </a:xfrm>
          <a:prstGeom prst="ellipse">
            <a:avLst/>
          </a:prstGeom>
          <a:solidFill>
            <a:srgbClr val="4A90E2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4249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B / Receiver</a:t>
            </a:r>
          </a:p>
        </p:txBody>
      </p:sp>
      <p:sp>
        <p:nvSpPr>
          <p:cNvPr id="67" name="Oval 66"/>
          <p:cNvSpPr/>
          <p:nvPr/>
        </p:nvSpPr>
        <p:spPr>
          <a:xfrm>
            <a:off x="8595360" y="6547104"/>
            <a:ext cx="164592" cy="164592"/>
          </a:xfrm>
          <a:prstGeom prst="ellipse">
            <a:avLst/>
          </a:prstGeom>
          <a:solidFill>
            <a:srgbClr val="FF6B6B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7965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Defender</a:t>
            </a:r>
          </a:p>
        </p:txBody>
      </p:sp>
      <p:sp>
        <p:nvSpPr>
          <p:cNvPr id="69" name="Oval 68"/>
          <p:cNvSpPr/>
          <p:nvPr/>
        </p:nvSpPr>
        <p:spPr>
          <a:xfrm>
            <a:off x="9966960" y="654710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1681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Ball</a:t>
            </a:r>
          </a:p>
        </p:txBody>
      </p:sp>
      <p:sp>
        <p:nvSpPr>
          <p:cNvPr id="71" name="Rectangle 7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 spc="200">
                <a:solidFill>
                  <a:srgbClr val="7B8A7F"/>
                </a:solidFill>
                <a:latin typeface="Calibri"/>
              </a:rPr>
              <a:t>qmtk Soccer · Coach Playbook · Grades 6–8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905695" y="65379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 spc="200">
                <a:solidFill>
                  <a:srgbClr val="7B8A7F"/>
                </a:solidFill>
                <a:latin typeface="Calibri"/>
              </a:rPr>
              <a:t>qmtk.org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gradFill flip="none" rotWithShape="1">
            <a:gsLst>
              <a:gs pos="0">
                <a:srgbClr val="080D0A"/>
              </a:gs>
              <a:gs pos="100000">
                <a:srgbClr val="101812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4ADE80"/>
                </a:solidFill>
                <a:latin typeface="Calibri"/>
              </a:rPr>
              <a:t>qmtk Soccer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7B8A7F"/>
                </a:solidFill>
                <a:latin typeface="Calibri"/>
              </a:rPr>
              <a:t>COACH PLAYBOOK · GRADES 6–8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1005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B4C3B8"/>
                </a:solidFill>
                <a:latin typeface="Calibri"/>
              </a:rPr>
              <a:t>02.4  / 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1141095" cy="274320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14109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spc="80">
                <a:solidFill>
                  <a:srgbClr val="080D0A"/>
                </a:solidFill>
                <a:latin typeface="Calibri"/>
              </a:rPr>
              <a:t>SCRIMMAGE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08023" y="1097280"/>
            <a:ext cx="1070610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08023" y="1097280"/>
            <a:ext cx="107061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33–45 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88361" y="1097280"/>
            <a:ext cx="2636943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8361" y="1097280"/>
            <a:ext cx="263694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📏  50x35 yd, two proper goals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508760"/>
            <a:ext cx="7772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7v7 Big-Field Scrimmage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31720"/>
            <a:ext cx="640080" cy="54864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0604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4ADE80"/>
                </a:solidFill>
                <a:latin typeface="Calibri"/>
              </a:rPr>
              <a:t>THE DRILL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926080"/>
            <a:ext cx="5120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8EDE9"/>
                </a:solidFill>
                <a:latin typeface="Calibri"/>
              </a:rPr>
              <a:t>7v7 on the full field with proper goals. Coach rule: every goal must follow at least two completed passes. The bigger field rewards switching play — coach highlights every long diagonal that finds space.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0060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4ADE80"/>
                </a:solidFill>
                <a:latin typeface="Calibri"/>
              </a:rPr>
              <a:t>KEY COACHING CUES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166360"/>
            <a:ext cx="5120640" cy="18288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5422392"/>
            <a:ext cx="109728" cy="109728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34924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Look for the pass before the dribble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5843016"/>
            <a:ext cx="109728" cy="109728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769864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Switch the field when one side is crowded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" y="6263640"/>
            <a:ext cx="109728" cy="109728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6190488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Move after you pass — always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0" y="2468880"/>
            <a:ext cx="6126480" cy="38862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52160" y="2606040"/>
            <a:ext cx="5852160" cy="3611880"/>
          </a:xfrm>
          <a:gradFill flip="none" rotWithShape="1">
            <a:gsLst>
              <a:gs pos="0">
                <a:srgbClr val="3E964F"/>
              </a:gs>
              <a:gs pos="100000">
                <a:srgbClr val="2A7037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60516" y="2714396"/>
            <a:ext cx="5635448" cy="3395168"/>
          </a:xfrm>
          <a:prstGeom prst="rect">
            <a:avLst/>
          </a:prstGeom>
          <a:noFill/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8778240.0" y="2714396"/>
            <a:ext cx="0.0" cy="3395168"/>
          </a:xfrm>
          <a:prstGeom prst="line">
            <a:avLst/>
          </a:prstGeom>
          <a:ln w="19050">
            <a:solidFill>
              <a:srgbClr val="FFFF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8308695" y="3942435"/>
            <a:ext cx="939088" cy="939088"/>
          </a:xfrm>
          <a:prstGeom prst="ellipse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734898" y="4368638"/>
            <a:ext cx="86684" cy="866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60516" y="3599307"/>
            <a:ext cx="1053388" cy="1625346"/>
          </a:xfrm>
          <a:prstGeom prst="rect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542575" y="3599307"/>
            <a:ext cx="1053388" cy="1625346"/>
          </a:xfrm>
          <a:prstGeom prst="rect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960516" y="4014673"/>
            <a:ext cx="409651" cy="794613"/>
          </a:xfrm>
          <a:prstGeom prst="rect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186312" y="4014673"/>
            <a:ext cx="409651" cy="794613"/>
          </a:xfrm>
          <a:prstGeom prst="rect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934456" y="3863340"/>
            <a:ext cx="164592" cy="109728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934456" y="3863340"/>
            <a:ext cx="36576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62472" y="3863340"/>
            <a:ext cx="36576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34456" y="3863340"/>
            <a:ext cx="164592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457432" y="3863340"/>
            <a:ext cx="164592" cy="109728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1457432" y="3863340"/>
            <a:ext cx="36576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1585448" y="3863340"/>
            <a:ext cx="36576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1457432" y="3863340"/>
            <a:ext cx="164592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993331" y="4265676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93331" y="4309568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45" name="Oval 44"/>
          <p:cNvSpPr/>
          <p:nvPr/>
        </p:nvSpPr>
        <p:spPr>
          <a:xfrm>
            <a:off x="7578547" y="3543300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578547" y="3587192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47" name="Oval 46"/>
          <p:cNvSpPr/>
          <p:nvPr/>
        </p:nvSpPr>
        <p:spPr>
          <a:xfrm>
            <a:off x="7578547" y="4988052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578547" y="5031944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49" name="Oval 48"/>
          <p:cNvSpPr/>
          <p:nvPr/>
        </p:nvSpPr>
        <p:spPr>
          <a:xfrm>
            <a:off x="8163763" y="4265676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163763" y="4309568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51" name="Oval 50"/>
          <p:cNvSpPr/>
          <p:nvPr/>
        </p:nvSpPr>
        <p:spPr>
          <a:xfrm>
            <a:off x="10270540" y="4265676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270540" y="4309568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53" name="Oval 52"/>
          <p:cNvSpPr/>
          <p:nvPr/>
        </p:nvSpPr>
        <p:spPr>
          <a:xfrm>
            <a:off x="9685324" y="3543300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685324" y="3587192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55" name="Oval 54"/>
          <p:cNvSpPr/>
          <p:nvPr/>
        </p:nvSpPr>
        <p:spPr>
          <a:xfrm>
            <a:off x="9685324" y="4988052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685324" y="5031944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57" name="Oval 56"/>
          <p:cNvSpPr/>
          <p:nvPr/>
        </p:nvSpPr>
        <p:spPr>
          <a:xfrm>
            <a:off x="9100108" y="4265676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100108" y="4309568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59" name="Oval 58"/>
          <p:cNvSpPr/>
          <p:nvPr/>
        </p:nvSpPr>
        <p:spPr>
          <a:xfrm>
            <a:off x="8700516" y="4334256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743265" y="4377005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>
            <a:off x="8447227.2" y="4411980.0"/>
            <a:ext cx="623620.8000000007" cy="361188.0"/>
          </a:xfrm>
          <a:prstGeom prst="line">
            <a:avLst/>
          </a:prstGeom>
          <a:ln w="25400">
            <a:solidFill>
              <a:srgbClr val="FFFFFF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ectangle 61"/>
          <p:cNvSpPr/>
          <p:nvPr/>
        </p:nvSpPr>
        <p:spPr>
          <a:xfrm>
            <a:off x="5852160" y="5925312"/>
            <a:ext cx="5852160" cy="292608"/>
          </a:xfrm>
          <a:prstGeom prst="rect">
            <a:avLst/>
          </a:prstGeom>
          <a:solidFill>
            <a:srgbClr val="080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50">
                <a:solidFill>
                  <a:srgbClr val="E8EDE9"/>
                </a:solidFill>
                <a:latin typeface="Calibri"/>
              </a:rPr>
              <a:t>📏  50x35 yd, two proper goals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 spc="80">
                <a:solidFill>
                  <a:srgbClr val="4ADE80"/>
                </a:solidFill>
                <a:latin typeface="Calibri"/>
              </a:rPr>
              <a:t>SCRIMMAGE</a:t>
            </a:r>
          </a:p>
        </p:txBody>
      </p:sp>
      <p:sp>
        <p:nvSpPr>
          <p:cNvPr id="65" name="Oval 64"/>
          <p:cNvSpPr/>
          <p:nvPr/>
        </p:nvSpPr>
        <p:spPr>
          <a:xfrm>
            <a:off x="5852160" y="6547104"/>
            <a:ext cx="164592" cy="164592"/>
          </a:xfrm>
          <a:prstGeom prst="ellipse">
            <a:avLst/>
          </a:prstGeom>
          <a:solidFill>
            <a:srgbClr val="F5A623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0533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A / Attacker</a:t>
            </a:r>
          </a:p>
        </p:txBody>
      </p:sp>
      <p:sp>
        <p:nvSpPr>
          <p:cNvPr id="67" name="Oval 66"/>
          <p:cNvSpPr/>
          <p:nvPr/>
        </p:nvSpPr>
        <p:spPr>
          <a:xfrm>
            <a:off x="7223760" y="6547104"/>
            <a:ext cx="164592" cy="164592"/>
          </a:xfrm>
          <a:prstGeom prst="ellipse">
            <a:avLst/>
          </a:prstGeom>
          <a:solidFill>
            <a:srgbClr val="4A90E2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4249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B / Receiver</a:t>
            </a:r>
          </a:p>
        </p:txBody>
      </p:sp>
      <p:sp>
        <p:nvSpPr>
          <p:cNvPr id="69" name="Oval 68"/>
          <p:cNvSpPr/>
          <p:nvPr/>
        </p:nvSpPr>
        <p:spPr>
          <a:xfrm>
            <a:off x="8595360" y="6547104"/>
            <a:ext cx="164592" cy="164592"/>
          </a:xfrm>
          <a:prstGeom prst="ellipse">
            <a:avLst/>
          </a:prstGeom>
          <a:solidFill>
            <a:srgbClr val="FF6B6B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7965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Defender</a:t>
            </a:r>
          </a:p>
        </p:txBody>
      </p:sp>
      <p:sp>
        <p:nvSpPr>
          <p:cNvPr id="71" name="Oval 70"/>
          <p:cNvSpPr/>
          <p:nvPr/>
        </p:nvSpPr>
        <p:spPr>
          <a:xfrm>
            <a:off x="9966960" y="654710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1681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Ball</a:t>
            </a:r>
          </a:p>
        </p:txBody>
      </p:sp>
      <p:sp>
        <p:nvSpPr>
          <p:cNvPr id="73" name="Rectangle 7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 spc="200">
                <a:solidFill>
                  <a:srgbClr val="7B8A7F"/>
                </a:solidFill>
                <a:latin typeface="Calibri"/>
              </a:rPr>
              <a:t>qmtk Soccer · Coach Playbook · Grades 6–8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905695" y="65379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 spc="200">
                <a:solidFill>
                  <a:srgbClr val="7B8A7F"/>
                </a:solidFill>
                <a:latin typeface="Calibri"/>
              </a:rPr>
              <a:t>qmtk.org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