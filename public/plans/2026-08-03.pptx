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07140E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480000">
            <a:off x="7924648" y="-914400"/>
            <a:ext cx="6553047" cy="86868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91295" y="3657600"/>
            <a:ext cx="3200400" cy="320040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029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 spc="12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4124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B4C3B8"/>
                </a:solidFill>
                <a:latin typeface="Calibri"/>
              </a:rPr>
              <a:t>COACH PLAYBOOK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7772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 spc="400">
                <a:solidFill>
                  <a:srgbClr val="4ADE80"/>
                </a:solidFill>
                <a:latin typeface="Calibri"/>
              </a:rPr>
              <a:t>TRAINING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788920"/>
            <a:ext cx="8686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Week of August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8686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i="1">
                <a:solidFill>
                  <a:srgbClr val="4ADE80"/>
                </a:solidFill>
                <a:latin typeface="Calibri"/>
              </a:rPr>
              <a:t>Week 5 — Agility, Speed &amp; Coordination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5120640"/>
            <a:ext cx="91440" cy="100584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300">
                <a:solidFill>
                  <a:srgbClr val="7B8A7F"/>
                </a:solidFill>
                <a:latin typeface="Calibri"/>
              </a:rPr>
              <a:t>LOCATION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4406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West Elementary School, Andover,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06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B4C3B8"/>
                </a:solidFill>
                <a:latin typeface="Calibri"/>
              </a:rPr>
              <a:t>Thursdays · K–5 6:00–6:45 PM · Gr. 6–8 6:45–7:30 PM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50">
                <a:solidFill>
                  <a:srgbClr val="7B8A7F"/>
                </a:solidFill>
                <a:latin typeface="Calibri"/>
              </a:rPr>
              <a:t>qmtk.org  ·  Train Smart. Play Smart.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K–5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6:00–6:45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16188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16188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Body Part Dribble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Everyone dribbles in the grid. Coach calls a body part — "knee!" "elbow!" "nose!" — and players stop the ball and touch it with that body part as fast as they can. Giggles guaranteed, coordination hidden inside the fun.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Quick stop — foot on the ball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Fast reactions to the call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Back to dribbling right away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20x20 yd grid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4201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4201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30x15 yd course: cones, hoops, 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Obstacle Course Adventure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A winding course on our big field: slalom through cones with the ball, hop through hoops (leave the ball, hop, come back), dribble the ladder lines, finish with a sprint. Each lap timed loosely — race your own time, not each other.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Quick feet through the tight parts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Balance — land softly on the hops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Ball close in the slalom, big touch in the sprint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30x15 yd course: cones, hoops, lines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558626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55862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12 yd lanes, teams of 3–4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Speedy Turns Relay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Relay race: dribble to the far cone, do a pull-back turn (superhero move from Week 3!), dribble back, tag the next runner. Turning at speed is the secret skill hiding in the race.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Slow down INTO the turn, speed up OUT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the sole for the pull-back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Cheer your teammates home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12 yd lanes, teams of 3–4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K–5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01.4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5v5 on Proper Goals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5v5 big-field game. Coach calls out every great burst of speed and sharp turn — "look at those quick feet!" All that agility work shows up in the chasing and turning of the real game.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Sprint to loose balls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Turn fast when the game turns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Never stop moving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35x25 yd, two proper goals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K–5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145A2A"/>
              </a:gs>
              <a:gs pos="100000">
                <a:srgbClr val="22A24D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0" y="457200"/>
            <a:ext cx="5029200" cy="548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640080" cy="45720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500">
                <a:solidFill>
                  <a:srgbClr val="4ADE80"/>
                </a:solidFill>
                <a:latin typeface="Calibri"/>
              </a:rPr>
              <a:t>SECTION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Calibri"/>
              </a:rPr>
              <a:t>Grades 6–8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i="1">
                <a:solidFill>
                  <a:srgbClr val="C5E8CE"/>
                </a:solidFill>
                <a:latin typeface="Calibri"/>
              </a:rPr>
              <a:t>6:45–7:30 PM · 45 minute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200">
                <a:solidFill>
                  <a:srgbClr val="C5E8CE"/>
                </a:solidFill>
                <a:latin typeface="Calibri"/>
              </a:rPr>
              <a:t>qmtk Soccer · Coach Playbook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02.1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399540" cy="274320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3995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OPENING GAME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66468" y="1097280"/>
            <a:ext cx="9922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966468" y="1097280"/>
            <a:ext cx="9922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0–10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8489" y="1097280"/>
            <a:ext cx="24019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68489" y="1097280"/>
            <a:ext cx="24019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10x5 yd channels, pairs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Mirror 1v1 (No Tackling)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Attacker dribbles side-to-side on their line; defender mirrors without a ball. On the coach's whistle the attacker breaks for the end line, defender races to tag. Reaction speed, lateral quickness, and change of pace with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5A623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Low athletic stance — ready to cut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Sharp lateral touches to shift the defender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Explode on the change of pace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30" name="Oval 29"/>
          <p:cNvSpPr/>
          <p:nvPr/>
        </p:nvSpPr>
        <p:spPr>
          <a:xfrm>
            <a:off x="7226503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269252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924544" y="4265676"/>
            <a:ext cx="292608" cy="292608"/>
          </a:xfrm>
          <a:prstGeom prst="ellipse">
            <a:avLst/>
          </a:prstGeom>
          <a:solidFill>
            <a:srgbClr val="FF6B6B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24544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cxnSp>
        <p:nvCxnSpPr>
          <p:cNvPr id="34" name="Connector 33"/>
          <p:cNvCxnSpPr/>
          <p:nvPr/>
        </p:nvCxnSpPr>
        <p:spPr>
          <a:xfrm flipV="1">
            <a:off x="7276795.2" y="3617366.4000000004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7276795.2" y="4457700.0"/>
            <a:ext cx="3725265.6000000006" cy="748893.5999999996"/>
          </a:xfrm>
          <a:prstGeom prst="line">
            <a:avLst/>
          </a:prstGeom>
          <a:ln w="31750">
            <a:solidFill>
              <a:srgbClr val="F5A623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10x5 yd channels, pairs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F5A623"/>
                </a:solidFill>
                <a:latin typeface="Calibri"/>
              </a:rPr>
              <a:t>OPENING GAME</a:t>
            </a:r>
          </a:p>
        </p:txBody>
      </p:sp>
      <p:sp>
        <p:nvSpPr>
          <p:cNvPr id="39" name="Oval 38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41" name="Oval 40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02.2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10–22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21670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21670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30x20 yd, 4 stations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Speed &amp; Turn Circuit with the Ball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Four stations, 90 seconds each: (1) slalom sprint dribble, (2) 5–10–5 shuttle with the ball, (3) turn box — receive, Cruyff or pull-back, exit a different gate, (4) 20 yd flat-out sprint dribble with only 3 touches allowed. Full field means we can finally train real running speed WITH the ball.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90E2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Big touches into space, small touches in traffic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Decelerate before the turn, accelerate out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9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Pump the arms — sprint mechanics still count with a ball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30x20 yd, 4 stations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90E2"/>
                </a:solidFill>
                <a:latin typeface="Calibri"/>
              </a:rPr>
              <a:t>LESSON 1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02.3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054946" cy="274320"/>
          </a:xfrm>
          <a:prstGeom prst="roundRect">
            <a:avLst>
              <a:gd name="adj" fmla="val 50000"/>
            </a:avLst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054946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LESSON 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21874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21874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22–33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2212" y="1097280"/>
            <a:ext cx="334179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2212" y="1097280"/>
            <a:ext cx="334179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25 yd from halfway to a proper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Race to Finish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Coach plays a through ball; two players sprint from staggered starts — attacker chasing to finish on the big goal, defender chasing to clear. First to the ball decides everything. Pure game-speed: sprint, control at pace, finish under a chasing body.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7C5DFA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First 3 steps win the race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Control at full sprint — soft touch, don't break stride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7C5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Composed finish with a defender on your shoulder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96635" y="2750515"/>
            <a:ext cx="5563210" cy="3322930"/>
          </a:xfrm>
          <a:prstGeom prst="rect">
            <a:avLst/>
          </a:prstGeom>
          <a:noFill/>
          <a:ln w="25400">
            <a:solidFill>
              <a:srgbClr val="FFFFFF"/>
            </a:solidFill>
            <a:prstDash val="lg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9244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59244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0" name="Oval 29"/>
          <p:cNvSpPr/>
          <p:nvPr/>
        </p:nvSpPr>
        <p:spPr>
          <a:xfrm>
            <a:off x="6827824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870573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759244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59244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4" name="Oval 33"/>
          <p:cNvSpPr/>
          <p:nvPr/>
        </p:nvSpPr>
        <p:spPr>
          <a:xfrm>
            <a:off x="6827824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70573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988198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88198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38" name="Oval 37"/>
          <p:cNvSpPr/>
          <p:nvPr/>
        </p:nvSpPr>
        <p:spPr>
          <a:xfrm>
            <a:off x="8056778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099527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988198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88198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2" name="Oval 41"/>
          <p:cNvSpPr/>
          <p:nvPr/>
        </p:nvSpPr>
        <p:spPr>
          <a:xfrm>
            <a:off x="8056778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099527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217152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46" name="Oval 45"/>
          <p:cNvSpPr/>
          <p:nvPr/>
        </p:nvSpPr>
        <p:spPr>
          <a:xfrm>
            <a:off x="9285732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328481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217152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17152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0" name="Oval 49"/>
          <p:cNvSpPr/>
          <p:nvPr/>
        </p:nvSpPr>
        <p:spPr>
          <a:xfrm>
            <a:off x="9285732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28481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10446105" y="3723894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446105" y="3767786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4" name="Oval 53"/>
          <p:cNvSpPr/>
          <p:nvPr/>
        </p:nvSpPr>
        <p:spPr>
          <a:xfrm>
            <a:off x="10514685" y="3993642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557434" y="4036391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10446105" y="4879695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446105" y="4923587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</a:t>
            </a:r>
          </a:p>
        </p:txBody>
      </p:sp>
      <p:sp>
        <p:nvSpPr>
          <p:cNvPr id="58" name="Oval 57"/>
          <p:cNvSpPr/>
          <p:nvPr/>
        </p:nvSpPr>
        <p:spPr>
          <a:xfrm>
            <a:off x="10514685" y="5149443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557434" y="5192192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25 yd from halfway to a proper goal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7C5DFA"/>
                </a:solidFill>
                <a:latin typeface="Calibri"/>
              </a:rPr>
              <a:t>LESSON 2</a:t>
            </a:r>
          </a:p>
        </p:txBody>
      </p:sp>
      <p:sp>
        <p:nvSpPr>
          <p:cNvPr id="63" name="Oval 62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5" name="Oval 64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7" name="Oval 66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69" name="Oval 68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1" name="Rectangle 7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gradFill flip="none" rotWithShape="1">
            <a:gsLst>
              <a:gs pos="0">
                <a:srgbClr val="080D0A"/>
              </a:gs>
              <a:gs pos="100000">
                <a:srgbClr val="101812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92608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200">
                <a:solidFill>
                  <a:srgbClr val="4ADE80"/>
                </a:solidFill>
                <a:latin typeface="Calibri"/>
              </a:rPr>
              <a:t>qmtk Soccer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7B8A7F"/>
                </a:solidFill>
                <a:latin typeface="Calibri"/>
              </a:rPr>
              <a:t>COACH PLAYBOOK · GRADES 6–8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20095" y="292608"/>
            <a:ext cx="1005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400" b="1" i="0">
                <a:solidFill>
                  <a:srgbClr val="B4C3B8"/>
                </a:solidFill>
                <a:latin typeface="Calibri"/>
              </a:rPr>
              <a:t>02.4  /  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097280"/>
            <a:ext cx="1141095" cy="2743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4109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 spc="80">
                <a:solidFill>
                  <a:srgbClr val="080D0A"/>
                </a:solidFill>
                <a:latin typeface="Calibri"/>
              </a:rPr>
              <a:t>SCRIMMAGE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08023" y="1097280"/>
            <a:ext cx="1070610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08023" y="1097280"/>
            <a:ext cx="107061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33–45 MIN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88361" y="1097280"/>
            <a:ext cx="2636943" cy="274320"/>
          </a:xfrm>
          <a:prstGeom prst="roundRect">
            <a:avLst>
              <a:gd name="adj" fmla="val 50000"/>
            </a:avLst>
          </a:prstGeom>
          <a:solidFill>
            <a:srgbClr val="1822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8361" y="1097280"/>
            <a:ext cx="263694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8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1508760"/>
            <a:ext cx="77724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7v7 Big-Field Scrimmage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331720"/>
            <a:ext cx="640080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0604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THE DRILL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926080"/>
            <a:ext cx="512064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8EDE9"/>
                </a:solidFill>
                <a:latin typeface="Calibri"/>
              </a:rPr>
              <a:t>7v7 with proper goals. Coach rule: any breakaway won by a sprint (attacking OR recovering) gets a shout-out. The big field is a speed field — this week's work shows up in every long run.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4ADE80"/>
                </a:solidFill>
                <a:latin typeface="Calibri"/>
              </a:rPr>
              <a:t>KEY COACHING CUES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166360"/>
            <a:ext cx="5120640" cy="18288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5800" y="5422392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34924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Sprint into space behind the defense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584301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76986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Recovery runs at full speed</a:t>
            </a:r>
          </a:p>
        </p:txBody>
      </p:sp>
      <p:sp>
        <p:nvSpPr>
          <p:cNvPr id="23" name="Oval 22"/>
          <p:cNvSpPr/>
          <p:nvPr/>
        </p:nvSpPr>
        <p:spPr>
          <a:xfrm>
            <a:off x="685800" y="6263640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619048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8EDE9"/>
                </a:solidFill>
                <a:latin typeface="Calibri"/>
              </a:rPr>
              <a:t>Use the whole field to stretch them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0" y="2468880"/>
            <a:ext cx="6126480" cy="3886200"/>
          </a:xfrm>
          <a:prstGeom prst="roundRect">
            <a:avLst>
              <a:gd name="adj" fmla="val 12000"/>
            </a:avLst>
          </a:prstGeom>
          <a:solidFill>
            <a:srgbClr val="18221B"/>
          </a:solidFill>
          <a:ln w="12700">
            <a:solidFill>
              <a:srgbClr val="1F2D23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52160" y="2606040"/>
            <a:ext cx="5852160" cy="3611880"/>
          </a:xfrm>
          <a:gradFill flip="none" rotWithShape="1">
            <a:gsLst>
              <a:gs pos="0">
                <a:srgbClr val="3E964F"/>
              </a:gs>
              <a:gs pos="100000">
                <a:srgbClr val="2A7037"/>
              </a:gs>
            </a:gsLst>
            <a:lin ang="8100000" scaled="0"/>
          </a:gradFill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960516" y="2714396"/>
            <a:ext cx="5635448" cy="3395168"/>
          </a:xfrm>
          <a:prstGeom prst="rect">
            <a:avLst/>
          </a:pr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8778240.0" y="2714396"/>
            <a:ext cx="0.0" cy="3395168"/>
          </a:xfrm>
          <a:prstGeom prst="line">
            <a:avLst/>
          </a:prstGeom>
          <a:ln w="19050">
            <a:solidFill>
              <a:srgbClr val="FFFFFF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8308695" y="3942435"/>
            <a:ext cx="939088" cy="939088"/>
          </a:xfrm>
          <a:prstGeom prst="ellipse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734898" y="4368638"/>
            <a:ext cx="86684" cy="866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960516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542575" y="3599307"/>
            <a:ext cx="1053388" cy="1625346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0516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186312" y="4014673"/>
            <a:ext cx="409651" cy="794613"/>
          </a:xfrm>
          <a:prstGeom prst="rect">
            <a:avLst/>
          </a:prstGeom>
          <a:noFill/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934456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934456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6247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34456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457432" y="3863340"/>
            <a:ext cx="164592" cy="109728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57432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585448" y="3863340"/>
            <a:ext cx="36576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57432" y="3863340"/>
            <a:ext cx="164592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993331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993331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5" name="Oval 44"/>
          <p:cNvSpPr/>
          <p:nvPr/>
        </p:nvSpPr>
        <p:spPr>
          <a:xfrm>
            <a:off x="7578547" y="3543300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78547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7" name="Oval 46"/>
          <p:cNvSpPr/>
          <p:nvPr/>
        </p:nvSpPr>
        <p:spPr>
          <a:xfrm>
            <a:off x="7578547" y="4988052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78547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49" name="Oval 48"/>
          <p:cNvSpPr/>
          <p:nvPr/>
        </p:nvSpPr>
        <p:spPr>
          <a:xfrm>
            <a:off x="8163763" y="4265676"/>
            <a:ext cx="292608" cy="292608"/>
          </a:xfrm>
          <a:prstGeom prst="ellipse">
            <a:avLst/>
          </a:prstGeom>
          <a:solidFill>
            <a:srgbClr val="F5A623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63763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51" name="Oval 50"/>
          <p:cNvSpPr/>
          <p:nvPr/>
        </p:nvSpPr>
        <p:spPr>
          <a:xfrm>
            <a:off x="10270540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70540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3" name="Oval 52"/>
          <p:cNvSpPr/>
          <p:nvPr/>
        </p:nvSpPr>
        <p:spPr>
          <a:xfrm>
            <a:off x="9685324" y="3543300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685324" y="3587192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5" name="Oval 54"/>
          <p:cNvSpPr/>
          <p:nvPr/>
        </p:nvSpPr>
        <p:spPr>
          <a:xfrm>
            <a:off x="9685324" y="4988052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85324" y="5031944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7" name="Oval 56"/>
          <p:cNvSpPr/>
          <p:nvPr/>
        </p:nvSpPr>
        <p:spPr>
          <a:xfrm>
            <a:off x="9100108" y="4265676"/>
            <a:ext cx="292608" cy="292608"/>
          </a:xfrm>
          <a:prstGeom prst="ellipse">
            <a:avLst/>
          </a:prstGeom>
          <a:solidFill>
            <a:srgbClr val="4A90E2"/>
          </a:solidFill>
          <a:ln w="19050">
            <a:solidFill>
              <a:srgbClr val="FFFFFF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00108" y="4309568"/>
            <a:ext cx="292608" cy="2048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59" name="Oval 58"/>
          <p:cNvSpPr/>
          <p:nvPr/>
        </p:nvSpPr>
        <p:spPr>
          <a:xfrm>
            <a:off x="8700516" y="4334256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80D0A"/>
            </a:solidFill>
          </a:ln>
          <a:effectLst>
            <a:outerShdw blurRad="60000" dist="38100" dir="5400000" algn="ctr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743265" y="4377005"/>
            <a:ext cx="69950" cy="69950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Connector 60"/>
          <p:cNvCxnSpPr/>
          <p:nvPr/>
        </p:nvCxnSpPr>
        <p:spPr>
          <a:xfrm>
            <a:off x="8447227.2" y="4411980.0"/>
            <a:ext cx="623620.8000000007" cy="361188.0"/>
          </a:xfrm>
          <a:prstGeom prst="line">
            <a:avLst/>
          </a:prstGeom>
          <a:ln w="25400">
            <a:solidFill>
              <a:srgbClr val="FFFFFF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ectangle 61"/>
          <p:cNvSpPr/>
          <p:nvPr/>
        </p:nvSpPr>
        <p:spPr>
          <a:xfrm>
            <a:off x="5852160" y="5925312"/>
            <a:ext cx="5852160" cy="292608"/>
          </a:xfrm>
          <a:prstGeom prst="rect">
            <a:avLst/>
          </a:prstGeom>
          <a:solidFill>
            <a:srgbClr val="080D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 i="0" spc="50">
                <a:solidFill>
                  <a:srgbClr val="E8EDE9"/>
                </a:solidFill>
                <a:latin typeface="Calibri"/>
              </a:rPr>
              <a:t>📏  50x35 yd, two proper goals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89320" y="5925312"/>
            <a:ext cx="557784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 i="0" spc="80">
                <a:solidFill>
                  <a:srgbClr val="4ADE80"/>
                </a:solidFill>
                <a:latin typeface="Calibri"/>
              </a:rPr>
              <a:t>SCRIMMAGE</a:t>
            </a:r>
          </a:p>
        </p:txBody>
      </p:sp>
      <p:sp>
        <p:nvSpPr>
          <p:cNvPr id="65" name="Oval 64"/>
          <p:cNvSpPr/>
          <p:nvPr/>
        </p:nvSpPr>
        <p:spPr>
          <a:xfrm>
            <a:off x="5852160" y="6547104"/>
            <a:ext cx="164592" cy="164592"/>
          </a:xfrm>
          <a:prstGeom prst="ellipse">
            <a:avLst/>
          </a:prstGeom>
          <a:solidFill>
            <a:srgbClr val="F5A623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0533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A / Attacker</a:t>
            </a:r>
          </a:p>
        </p:txBody>
      </p:sp>
      <p:sp>
        <p:nvSpPr>
          <p:cNvPr id="67" name="Oval 66"/>
          <p:cNvSpPr/>
          <p:nvPr/>
        </p:nvSpPr>
        <p:spPr>
          <a:xfrm>
            <a:off x="7223760" y="6547104"/>
            <a:ext cx="164592" cy="164592"/>
          </a:xfrm>
          <a:prstGeom prst="ellipse">
            <a:avLst/>
          </a:prstGeom>
          <a:solidFill>
            <a:srgbClr val="4A90E2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249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Player B / Receiver</a:t>
            </a:r>
          </a:p>
        </p:txBody>
      </p:sp>
      <p:sp>
        <p:nvSpPr>
          <p:cNvPr id="69" name="Oval 68"/>
          <p:cNvSpPr/>
          <p:nvPr/>
        </p:nvSpPr>
        <p:spPr>
          <a:xfrm>
            <a:off x="8595360" y="6547104"/>
            <a:ext cx="164592" cy="164592"/>
          </a:xfrm>
          <a:prstGeom prst="ellipse">
            <a:avLst/>
          </a:prstGeom>
          <a:solidFill>
            <a:srgbClr val="FF6B6B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7965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Defender</a:t>
            </a:r>
          </a:p>
        </p:txBody>
      </p:sp>
      <p:sp>
        <p:nvSpPr>
          <p:cNvPr id="71" name="Oval 70"/>
          <p:cNvSpPr/>
          <p:nvPr/>
        </p:nvSpPr>
        <p:spPr>
          <a:xfrm>
            <a:off x="9966960" y="6547104"/>
            <a:ext cx="164592" cy="16459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80D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168128" y="649224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B4C3B8"/>
                </a:solidFill>
                <a:latin typeface="Calibri"/>
              </a:rPr>
              <a:t>Ball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01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57200" y="653796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 spc="200">
                <a:solidFill>
                  <a:srgbClr val="7B8A7F"/>
                </a:solidFill>
                <a:latin typeface="Calibri"/>
              </a:rPr>
              <a:t>qmtk Soccer · Coach Playbook · Grades 6–8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905695" y="653796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 spc="200">
                <a:solidFill>
                  <a:srgbClr val="7B8A7F"/>
                </a:solidFill>
                <a:latin typeface="Calibri"/>
              </a:rPr>
              <a:t>qmtk.org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