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07140E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480000">
            <a:off x="7924648" y="-914400"/>
            <a:ext cx="6553047" cy="86868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91295" y="3657600"/>
            <a:ext cx="3200400" cy="320040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12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412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4C3B8"/>
                </a:solidFill>
                <a:latin typeface="Calibri"/>
              </a:rPr>
              <a:t>COACH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4ADE80"/>
                </a:solidFill>
                <a:latin typeface="Calibri"/>
              </a:rPr>
              <a:t>TRAINING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Week of May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DE80"/>
                </a:solidFill>
                <a:latin typeface="Calibri"/>
              </a:rPr>
              <a:t>Week 3 — Driving with the Ball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20640"/>
            <a:ext cx="91440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7B8A7F"/>
                </a:solidFill>
                <a:latin typeface="Calibri"/>
              </a:rPr>
              <a:t>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4C3B8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7B8A7F"/>
                </a:solidFill>
                <a:latin typeface="Calibri"/>
              </a:rPr>
              <a:t>qmtk.org  · 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3–5 · 45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20104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20104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20x10 yd open area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Follow the Coach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Coach jogs around with their ball. Players follow, copying everything — change of direction, sudden stops, speed changes. A moving warm-up they love.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Keep the ball with you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Watch the leader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Soft, quick touches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0" name="Oval 29"/>
          <p:cNvSpPr/>
          <p:nvPr/>
        </p:nvSpPr>
        <p:spPr>
          <a:xfrm>
            <a:off x="7010704" y="361188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53453" y="365462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95590" y="444627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95590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7947050" y="451485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89799" y="455759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Oval 37"/>
          <p:cNvSpPr/>
          <p:nvPr/>
        </p:nvSpPr>
        <p:spPr>
          <a:xfrm>
            <a:off x="9176004" y="37924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18753" y="38352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10170871" y="469544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13620" y="473819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Oval 45"/>
          <p:cNvSpPr/>
          <p:nvPr/>
        </p:nvSpPr>
        <p:spPr>
          <a:xfrm>
            <a:off x="10931652" y="397306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74401" y="401581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7595920" y="534558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38669" y="538833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34924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39313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4" name="Oval 53"/>
          <p:cNvSpPr/>
          <p:nvPr/>
        </p:nvSpPr>
        <p:spPr>
          <a:xfrm>
            <a:off x="9468612" y="541782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11361" y="546056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39328" y="325434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39328" y="329824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8" name="Oval 57"/>
          <p:cNvSpPr/>
          <p:nvPr/>
        </p:nvSpPr>
        <p:spPr>
          <a:xfrm>
            <a:off x="8590788" y="332292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633537" y="336567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577072" y="4210812"/>
            <a:ext cx="402336" cy="402336"/>
          </a:xfrm>
          <a:prstGeom prst="ellipse">
            <a:avLst/>
          </a:prstGeom>
          <a:solidFill>
            <a:srgbClr val="22A24D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77072" y="4271163"/>
            <a:ext cx="402336" cy="2816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20x10 yd open area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10–25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0887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0887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 yd straight runs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Push &amp; Chase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Players push the ball ahead with the laces, then sprint to catch up and stop it. Builds the feeling of driving forward at speed.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Push with the laces — not the toe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Run with the ball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Stop it cleanly at the 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7666329.6" y="4366260.0"/>
            <a:ext cx="0.0" cy="91440.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778240.0" y="4366260.0"/>
            <a:ext cx="0.0" cy="91440.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0150.4" y="4366260.0"/>
            <a:ext cx="0.0" cy="91440.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002060.8" y="4366260.0"/>
            <a:ext cx="0.0" cy="91440.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0901476" y="4494459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sosceles Triangle 32"/>
          <p:cNvSpPr/>
          <p:nvPr/>
        </p:nvSpPr>
        <p:spPr>
          <a:xfrm>
            <a:off x="10901476" y="4311396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935004" y="4386834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08115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8115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7" name="Oval 36"/>
          <p:cNvSpPr/>
          <p:nvPr/>
        </p:nvSpPr>
        <p:spPr>
          <a:xfrm>
            <a:off x="6641287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84036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755587.2" y="4411980.0"/>
            <a:ext cx="4063593.6000000006" cy="0.0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 yd straight runs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43" name="Oval 42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5" name="Oval 44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7" name="Oval 46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9" name="Oval 48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25–35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16704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16704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 yd lanes, 4 cones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Race to the Cone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Two players race, dribbling their ball to the far cone and back. Light competition, lots of laughs. Build the urge to go fast with the ball.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Eyes up — see the cone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Big touches when there's space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Stop the ball at the 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7666329.6" y="4366260.0"/>
            <a:ext cx="0.0" cy="91440.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778240.0" y="4366260.0"/>
            <a:ext cx="0.0" cy="91440.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0150.4" y="4366260.0"/>
            <a:ext cx="0.0" cy="91440.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002060.8" y="4366260.0"/>
            <a:ext cx="0.0" cy="91440.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0901476" y="4494459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sosceles Triangle 32"/>
          <p:cNvSpPr/>
          <p:nvPr/>
        </p:nvSpPr>
        <p:spPr>
          <a:xfrm>
            <a:off x="10901476" y="4311396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935004" y="4386834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08115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8115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7" name="Oval 36"/>
          <p:cNvSpPr/>
          <p:nvPr/>
        </p:nvSpPr>
        <p:spPr>
          <a:xfrm>
            <a:off x="6641287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84036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755587.2" y="4411980.0"/>
            <a:ext cx="4063593.6000000006" cy="0.0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 yd lanes, 4 cones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43" name="Oval 42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5" name="Oval 44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7" name="Oval 46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9" name="Oval 48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35–45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Small-sided fun game. Coach encourages players to "run with the ball" toward the goal. Everyone gets a shot.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Run with the ball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Take a swing at goal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for teammates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527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527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527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91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91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671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91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44460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4460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7695590" y="455462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95590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804672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919411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19411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9568281" y="455462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8281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7" name="Oval 46"/>
          <p:cNvSpPr/>
          <p:nvPr/>
        </p:nvSpPr>
        <p:spPr>
          <a:xfrm>
            <a:off x="9217152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7152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9" name="Oval 4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54" name="Oval 53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6" name="Oval 55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8" name="Oval 57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0" name="Oval 59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6–11 · 60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Sharks &amp; Minnows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Everyone gets a ball, 1–2 sharks try to kick them out. Forces dribbling at speed under pressure. Last minnow wins.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Shield and protect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Change direction at speed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Head up, scan for pressure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47106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1495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0" name="Oval 29"/>
          <p:cNvSpPr/>
          <p:nvPr/>
        </p:nvSpPr>
        <p:spPr>
          <a:xfrm>
            <a:off x="7028992" y="358536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1741" y="362811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78547" y="444627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8547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7848295" y="456057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91044" y="460331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8" name="Oval 37"/>
          <p:cNvSpPr/>
          <p:nvPr/>
        </p:nvSpPr>
        <p:spPr>
          <a:xfrm>
            <a:off x="9194292" y="372983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37041" y="377258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10189159" y="474116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31908" y="478391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6" name="Oval 45"/>
          <p:cNvSpPr/>
          <p:nvPr/>
        </p:nvSpPr>
        <p:spPr>
          <a:xfrm>
            <a:off x="10949940" y="40187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92689" y="406153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0" name="Oval 49"/>
          <p:cNvSpPr/>
          <p:nvPr/>
        </p:nvSpPr>
        <p:spPr>
          <a:xfrm>
            <a:off x="7614208" y="539130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56957" y="543405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42147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46536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4" name="Oval 53"/>
          <p:cNvSpPr/>
          <p:nvPr/>
        </p:nvSpPr>
        <p:spPr>
          <a:xfrm>
            <a:off x="9486900" y="553577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29649" y="557852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21040" y="417515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422452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8622792.0" y="4202582.4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9784080" y="478917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83854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0085832.0" y="4816602.0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245359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24535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Pairs, 15 yd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First Touch &amp; Drive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Partner passes the ball. Player takes a directional first touch into space and drives forward 5 yards. Pass back. Switch roles. The point: first touch goes where you want to go.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Open your body before the ball arrives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First touch into space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Drive at pace after the touch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168896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68896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742035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6310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59244" y="3362706"/>
            <a:ext cx="292608" cy="292608"/>
          </a:xfrm>
          <a:prstGeom prst="ellipse">
            <a:avLst/>
          </a:prstGeom>
          <a:solidFill>
            <a:srgbClr val="22A24D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59244" y="340659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42708.8" y="3554730.0"/>
            <a:ext cx="226771.2000000002" cy="76581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498080.0" y="4411980.0"/>
            <a:ext cx="1572768.0" cy="0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116568.0" y="4274820.0"/>
            <a:ext cx="2359152.0" cy="137160.0"/>
          </a:xfrm>
          <a:prstGeom prst="line">
            <a:avLst/>
          </a:prstGeom>
          <a:ln w="31750">
            <a:solidFill>
              <a:srgbClr val="E24A4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9802368" y="4539996"/>
            <a:ext cx="292608" cy="292608"/>
          </a:xfrm>
          <a:prstGeom prst="ellipse">
            <a:avLst/>
          </a:prstGeom>
          <a:solidFill>
            <a:srgbClr val="FF6B6B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02368" y="458388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Pairs, 15 yd channels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0" name="Oval 49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2" name="Oval 51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4" name="Oval 53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56" name="Oval 55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30–45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63694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63694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 yd lane to goal, 1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Drive &amp; Finish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Receive a pass, take one driving touch toward goal, finish. Both feet, both sides. After the first round, add a defender chasing — finish under pressure.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Driving touch — push into space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Plant foot, lock ankle, follow through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Decide quickly — shoot or another touch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168896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68896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742035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6310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59244" y="3362706"/>
            <a:ext cx="292608" cy="292608"/>
          </a:xfrm>
          <a:prstGeom prst="ellipse">
            <a:avLst/>
          </a:prstGeom>
          <a:solidFill>
            <a:srgbClr val="22A24D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59244" y="340659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42708.8" y="3554730.0"/>
            <a:ext cx="226771.2000000002" cy="76581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498080.0" y="4411980.0"/>
            <a:ext cx="1572768.0" cy="0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116568.0" y="4274820.0"/>
            <a:ext cx="2359152.0" cy="137160.0"/>
          </a:xfrm>
          <a:prstGeom prst="line">
            <a:avLst/>
          </a:prstGeom>
          <a:ln w="31750">
            <a:solidFill>
              <a:srgbClr val="E24A4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9802368" y="4539996"/>
            <a:ext cx="292608" cy="292608"/>
          </a:xfrm>
          <a:prstGeom prst="ellipse">
            <a:avLst/>
          </a:prstGeom>
          <a:solidFill>
            <a:srgbClr val="FF6B6B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02368" y="458388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 yd lane to goal, 1 goal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0" name="Oval 49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2" name="Oval 51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4" name="Oval 53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56" name="Oval 55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45–60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4803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4803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4v4 or 5v5. Coach challenge: at least one driving run with the ball per goal scored. Rewards bravery on the ball.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Carry the ball when space is open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Pass when pressure arrives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 hard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98805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8163763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63763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1" name="Oval 50"/>
          <p:cNvSpPr/>
          <p:nvPr/>
        </p:nvSpPr>
        <p:spPr>
          <a:xfrm>
            <a:off x="10270540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70540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Oval 52"/>
          <p:cNvSpPr/>
          <p:nvPr/>
        </p:nvSpPr>
        <p:spPr>
          <a:xfrm>
            <a:off x="9685324" y="354330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8532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5" name="Oval 54"/>
          <p:cNvSpPr/>
          <p:nvPr/>
        </p:nvSpPr>
        <p:spPr>
          <a:xfrm>
            <a:off x="9685324" y="498805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85324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7" name="Oval 56"/>
          <p:cNvSpPr/>
          <p:nvPr/>
        </p:nvSpPr>
        <p:spPr>
          <a:xfrm>
            <a:off x="9100108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0010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8447227.2" y="4411980.0"/>
            <a:ext cx="623620.8000000007" cy="36118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