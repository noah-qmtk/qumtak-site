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A24D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Coach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of May 11,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2A24D"/>
                </a:solidFill>
                <a:latin typeface="Calibri"/>
              </a:rPr>
              <a:t>Week 3 — Driving with the Ball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BC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94415" cy="1828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C80"/>
                </a:solidFill>
                <a:latin typeface="Calibri"/>
              </a:rPr>
              <a:t>qmtk.org ·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3–5  ·  45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Follow the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0–10 MIN  ·  📏 20x10 yd open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Coach jogs around with their ball. Players follow, copying everything — change of direction, sudden stops, speed changes. A moving warm-up they love.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Keep the ball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Watch the leader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Soft, quick touches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5892393" y="238658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2393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6120993" y="245059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83096" y="353872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2" name="Oval 21"/>
          <p:cNvSpPr/>
          <p:nvPr/>
        </p:nvSpPr>
        <p:spPr>
          <a:xfrm>
            <a:off x="6711696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257860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0" y="264261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68742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8742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8" name="Oval 27"/>
          <p:cNvSpPr/>
          <p:nvPr/>
        </p:nvSpPr>
        <p:spPr>
          <a:xfrm>
            <a:off x="7997342" y="379476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0456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1" name="Oval 30"/>
          <p:cNvSpPr/>
          <p:nvPr/>
        </p:nvSpPr>
        <p:spPr>
          <a:xfrm>
            <a:off x="8449056" y="28346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35624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24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364224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51776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7" name="Oval 36"/>
          <p:cNvSpPr/>
          <p:nvPr/>
        </p:nvSpPr>
        <p:spPr>
          <a:xfrm>
            <a:off x="7580376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967728" y="3310128"/>
            <a:ext cx="329184" cy="329184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7728" y="338328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20x10 yd open area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Push &amp; Chase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10–25 MIN  ·  📏 10 yd straight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Players push the ball ahead with the laces, then sprint to catch up and stop it. Builds the feeling of driving forward at speed.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Push with the laces — not the toe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Run with the ball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Stop it cleanly at the 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5788152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8152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6025896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5320" y="3401568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089904.0" y="3474720.0"/>
            <a:ext cx="2154326.4000000004" cy="0.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10 yd straight runs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Race to the Cone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25–35 MIN  ·  📏 10 yd lanes, 4 cones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Two players race, dribbling their ball to the far cone and back. Light competition, lots of laughs. Build the urge to go fast with the ball.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Eyes up — see the cone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Big touches when there's 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Stop the ball at the 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Oval 16"/>
          <p:cNvSpPr/>
          <p:nvPr/>
        </p:nvSpPr>
        <p:spPr>
          <a:xfrm>
            <a:off x="5788152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8152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6025896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5320" y="3401568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089904.0" y="3474720.0"/>
            <a:ext cx="2154326.4000000004" cy="0.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10 yd lanes, 4 cones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Pre-K &amp; K  ·  35–45 MIN  ·  📏 20x15 yd, two small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Small-sided fun game. Coach encourages players to "run with the ball" toward the goal. Everyone gets a shot.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Run with the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Take a swing at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Cheer for teammates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227832"/>
            <a:ext cx="73152" cy="50292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35624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6378854" y="392277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8854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Oval 22"/>
          <p:cNvSpPr/>
          <p:nvPr/>
        </p:nvSpPr>
        <p:spPr>
          <a:xfrm>
            <a:off x="7699248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5" name="Oval 24"/>
          <p:cNvSpPr/>
          <p:nvPr/>
        </p:nvSpPr>
        <p:spPr>
          <a:xfrm>
            <a:off x="7942478" y="392277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2478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7" name="Oval 26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20x15 yd, two small goals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FE8D5"/>
                </a:solidFill>
                <a:latin typeface="Calibri"/>
              </a:rPr>
              <a:t>Ages 6–11  ·  60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Sharks &amp; Minnows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0–10 MIN  ·  📏 20x20 yd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Everyone gets a ball, 1–2 sharks try to kick them out. Forces dribbling at speed under pressure. Last minnow wins.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Shield and protect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Change direction at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Head up, scan for pressure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OPENING GAME</a:t>
            </a:r>
          </a:p>
        </p:txBody>
      </p:sp>
      <p:sp>
        <p:nvSpPr>
          <p:cNvPr id="17" name="Oval 16"/>
          <p:cNvSpPr/>
          <p:nvPr/>
        </p:nvSpPr>
        <p:spPr>
          <a:xfrm>
            <a:off x="5892393" y="257860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2393" y="26151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Oval 18"/>
          <p:cNvSpPr/>
          <p:nvPr/>
        </p:nvSpPr>
        <p:spPr>
          <a:xfrm>
            <a:off x="6120993" y="264261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83096" y="3538728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357530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2" name="Oval 21"/>
          <p:cNvSpPr/>
          <p:nvPr/>
        </p:nvSpPr>
        <p:spPr>
          <a:xfrm>
            <a:off x="6711696" y="3602736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0" y="28346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68742" y="3807561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8742" y="3844137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8" name="Oval 27"/>
          <p:cNvSpPr/>
          <p:nvPr/>
        </p:nvSpPr>
        <p:spPr>
          <a:xfrm>
            <a:off x="7997342" y="3871569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0456" y="2962656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99923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1" name="Oval 30"/>
          <p:cNvSpPr/>
          <p:nvPr/>
        </p:nvSpPr>
        <p:spPr>
          <a:xfrm>
            <a:off x="8449056" y="3026664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9865" y="430682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9865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6468465" y="43708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2280" y="3328416"/>
            <a:ext cx="292608" cy="29260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3383280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7" name="Oval 36"/>
          <p:cNvSpPr/>
          <p:nvPr/>
        </p:nvSpPr>
        <p:spPr>
          <a:xfrm>
            <a:off x="7680960" y="2944368"/>
            <a:ext cx="292608" cy="29260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2999232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20x20 yd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First Touch &amp; Drive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10–30 MIN  ·  📏 Pairs, 15 yd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Partner passes the ball. Player takes a directional first touch into space and drives forward 5 yards. Pass back. Switch roles. The point: first touch goes where you want to 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Open your body before the ball arrives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First touch into 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Drive at pace after the touch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1</a:t>
            </a:r>
          </a:p>
        </p:txBody>
      </p:sp>
      <p:sp>
        <p:nvSpPr>
          <p:cNvPr id="17" name="Oval 16"/>
          <p:cNvSpPr/>
          <p:nvPr/>
        </p:nvSpPr>
        <p:spPr>
          <a:xfrm>
            <a:off x="5788152" y="33467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8152" y="33832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Oval 18"/>
          <p:cNvSpPr/>
          <p:nvPr/>
        </p:nvSpPr>
        <p:spPr>
          <a:xfrm>
            <a:off x="6025896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5320" y="3401568"/>
            <a:ext cx="146304" cy="146304"/>
          </a:xfrm>
          <a:prstGeom prst="ellipse">
            <a:avLst/>
          </a:prstGeom>
          <a:solidFill>
            <a:srgbClr val="F5A623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089904.0" y="3474720.0"/>
            <a:ext cx="2154326.4000000004" cy="0.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Pairs, 15 yd channels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Drive &amp;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30–45 MIN  ·  📏 20 yd lane to goal, 1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Receive a pass, take one driving touch toward goal, finish. Both feet, both sides. After the first round, add a defender chasing — finish under 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Driving touch — push into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Plant foot, lock ankle, follow 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Decide quickly — shoot or another touch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LESSON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83080"/>
            <a:ext cx="731520" cy="73152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47183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475488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7068312" y="4919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7132320.0" y="1965960"/>
            <a:ext cx="0.0" cy="3017520"/>
          </a:xfrm>
          <a:prstGeom prst="line">
            <a:avLst/>
          </a:prstGeom>
          <a:ln w="31750">
            <a:solidFill>
              <a:srgbClr val="F5A6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20 yd lane to goal, 1 goal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A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A24D"/>
                </a:solidFill>
                <a:latin typeface="Calibri"/>
              </a:rPr>
              <a:t>SCRIMMAGE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Grades 1–5  ·  45–60 MIN  ·  📏 30x20 yd, two real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DRILL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4v4 or 5v5. Coach challenge: at least one driving run with the ball per goal scored. Rewards bravery on the ball.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A24D"/>
                </a:solidFill>
                <a:latin typeface="Calibri"/>
              </a:rPr>
              <a:t>KEY COACHING 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Carry the ball when space is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Pass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8C4BC"/>
                </a:solidFill>
                <a:latin typeface="Calibri"/>
              </a:rPr>
              <a:t>•  Compete hard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554480"/>
            <a:ext cx="3474720" cy="3840480"/>
          </a:xfrm>
          <a:prstGeom prst="rect">
            <a:avLst/>
          </a:prstGeom>
          <a:solidFill>
            <a:srgbClr val="2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9824" y="1609344"/>
            <a:ext cx="3364992" cy="3730752"/>
          </a:xfrm>
          <a:prstGeom prst="rect">
            <a:avLst/>
          </a:prstGeom>
          <a:solidFill>
            <a:srgbClr val="2D7A3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1828800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SCRIMMAGE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13648" y="3154680"/>
            <a:ext cx="73152" cy="640080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132320.0" y="1737360"/>
            <a:ext cx="0.0" cy="3474720"/>
          </a:xfrm>
          <a:prstGeom prst="line">
            <a:avLst/>
          </a:prstGeom>
          <a:ln w="1270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031382" y="277063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1382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73075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15468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6830568" y="43068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434340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7977225" y="277063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7225" y="280720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3730752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3767328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7351776" y="3154680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6" y="3191256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2386584"/>
            <a:ext cx="256032" cy="25603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42316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6" name="Oval 35"/>
          <p:cNvSpPr/>
          <p:nvPr/>
        </p:nvSpPr>
        <p:spPr>
          <a:xfrm>
            <a:off x="7068312" y="341071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F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54864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7A8C80"/>
                </a:solidFill>
                <a:latin typeface="Calibri"/>
              </a:rPr>
              <a:t>Setup: 30x20 yd, two real goals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1D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711696"/>
            <a:ext cx="11094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C80"/>
                </a:solidFill>
                <a:latin typeface="Calibri"/>
              </a:rPr>
              <a:t>qmtk Soccer · Coach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71169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A8C80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