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May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3 — Driving with the Ball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Sanborn Elementary School Lower Field,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5:50–6:50 PM (Mon &amp; Fri)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Pre-K &amp; Kindergarten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3–5  · 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0104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0104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20x10 yd open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Follow the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jogs around with their ball. Players follow, copying everything — change of direction, sudden stops, speed changes. A moving warm-up they love.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Keep the ball with you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Watch the leader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Soft, quick touches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Oval 29"/>
          <p:cNvSpPr/>
          <p:nvPr/>
        </p:nvSpPr>
        <p:spPr>
          <a:xfrm>
            <a:off x="7010704" y="361188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3453" y="365462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95590" y="444627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5590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7947050" y="451485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89799" y="455759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Oval 37"/>
          <p:cNvSpPr/>
          <p:nvPr/>
        </p:nvSpPr>
        <p:spPr>
          <a:xfrm>
            <a:off x="9176004" y="379247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8753" y="383522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10170871" y="469544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13620" y="473819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10931652" y="39730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4401" y="401581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7595920" y="534558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8669" y="538833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34924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39313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Oval 53"/>
          <p:cNvSpPr/>
          <p:nvPr/>
        </p:nvSpPr>
        <p:spPr>
          <a:xfrm>
            <a:off x="9468612" y="541782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11361" y="546056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39328" y="3254349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3298241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Oval 57"/>
          <p:cNvSpPr/>
          <p:nvPr/>
        </p:nvSpPr>
        <p:spPr>
          <a:xfrm>
            <a:off x="8590788" y="3322929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33537" y="3365678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577072" y="4210812"/>
            <a:ext cx="402336" cy="402336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4271163"/>
            <a:ext cx="402336" cy="2816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20x10 yd open area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0887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0887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straight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Push &amp; Chase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Players push the ball ahead with the laces, then sprint to catch up and stop it. Builds the feeling of driving forward at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Push with the laces — not the toe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with the ball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Stop it cleanly at the 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666329.6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78240.0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90150.4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002060.8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901476" y="4494459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10901476" y="4311396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35004" y="4386834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8115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8115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7" name="Oval 36"/>
          <p:cNvSpPr/>
          <p:nvPr/>
        </p:nvSpPr>
        <p:spPr>
          <a:xfrm>
            <a:off x="6641287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84036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755587.2" y="4411980.0"/>
            <a:ext cx="4063593.6000000006" cy="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straight runs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43" name="Oval 4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5" name="Oval 4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7" name="Oval 4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9" name="Oval 4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25–35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 yd lanes, 4 cones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Race to the Cone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Two players race, dribbling their ball to the far cone and back. Light competition, lots of laughs. Build the urge to go fast with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Eyes up — see the cone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touches when there's space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Stop the ball at the 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666329.6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778240.0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90150.4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002060.8" y="4366260.0"/>
            <a:ext cx="0.0" cy="91440.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901476" y="4494459"/>
            <a:ext cx="201168" cy="36210"/>
          </a:xfrm>
          <a:prstGeom prst="rect">
            <a:avLst/>
          </a:prstGeom>
          <a:solidFill>
            <a:srgbClr val="C95A14"/>
          </a:solidFill>
          <a:ln>
            <a:noFill/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10901476" y="4311396"/>
            <a:ext cx="201168" cy="201168"/>
          </a:xfrm>
          <a:gradFill flip="none" rotWithShape="1">
            <a:gsLst>
              <a:gs pos="0">
                <a:srgbClr val="F5A623"/>
              </a:gs>
              <a:gs pos="100000">
                <a:srgbClr val="EE7B2C"/>
              </a:gs>
            </a:gsLst>
            <a:lin ang="5400000" scaled="0"/>
          </a:gradFill>
          <a:prstGeom prst="triangl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35004" y="4386834"/>
            <a:ext cx="134112" cy="24140"/>
          </a:xfrm>
          <a:prstGeom prst="rect">
            <a:avLst/>
          </a:prstGeom>
          <a:solidFill>
            <a:srgbClr val="FF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8115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8115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7" name="Oval 36"/>
          <p:cNvSpPr/>
          <p:nvPr/>
        </p:nvSpPr>
        <p:spPr>
          <a:xfrm>
            <a:off x="6641287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84036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755587.2" y="4411980.0"/>
            <a:ext cx="4063593.6000000006" cy="0.0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 yd lanes, 4 cones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43" name="Oval 4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5" name="Oval 4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7" name="Oval 4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9" name="Oval 4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PRE-K &amp;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35–45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Everyone Scores Mini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Small-sided fun game. Coach encourages players to "run with the ball" toward the goal. Everyone gets a shot.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Run with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Take a swing at goal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for teammates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527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527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527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9144" y="4091940"/>
            <a:ext cx="164592" cy="6400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9144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67160" y="4091940"/>
            <a:ext cx="36576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9144" y="40919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44460" y="3615537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4460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7695590" y="455462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5590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46720" y="527700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3" name="Oval 42"/>
          <p:cNvSpPr/>
          <p:nvPr/>
        </p:nvSpPr>
        <p:spPr>
          <a:xfrm>
            <a:off x="9919411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19411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5" name="Oval 44"/>
          <p:cNvSpPr/>
          <p:nvPr/>
        </p:nvSpPr>
        <p:spPr>
          <a:xfrm>
            <a:off x="9568281" y="455462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8281" y="459851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7" name="Oval 46"/>
          <p:cNvSpPr/>
          <p:nvPr/>
        </p:nvSpPr>
        <p:spPr>
          <a:xfrm>
            <a:off x="9217152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9" name="Oval 4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20x15 yd, two small goals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54" name="Oval 53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6" name="Oval 55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8" name="Oval 57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0" name="Oval 59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Pre-K &amp; 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Ages 6–11  ·  60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Sharks &amp; Minnows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Everyone gets a ball, 1–2 sharks try to kick them out. Forces dribbling at speed under pressure. Last minnow wins.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Shield and protect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Change direction at speed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Head up, scan for 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47106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51495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0" name="Oval 29"/>
          <p:cNvSpPr/>
          <p:nvPr/>
        </p:nvSpPr>
        <p:spPr>
          <a:xfrm>
            <a:off x="7028992" y="35853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1741" y="362811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8547" y="444627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8547" y="449016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4" name="Oval 33"/>
          <p:cNvSpPr/>
          <p:nvPr/>
        </p:nvSpPr>
        <p:spPr>
          <a:xfrm>
            <a:off x="7848295" y="4560570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91044" y="4603319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24544" y="361553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24544" y="365942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8" name="Oval 37"/>
          <p:cNvSpPr/>
          <p:nvPr/>
        </p:nvSpPr>
        <p:spPr>
          <a:xfrm>
            <a:off x="9194292" y="372983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7041" y="377258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19411" y="4626864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9411" y="467075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2" name="Oval 41"/>
          <p:cNvSpPr/>
          <p:nvPr/>
        </p:nvSpPr>
        <p:spPr>
          <a:xfrm>
            <a:off x="10189159" y="47411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31908" y="4783913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80192" y="3904488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80192" y="3948380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46" name="Oval 45"/>
          <p:cNvSpPr/>
          <p:nvPr/>
        </p:nvSpPr>
        <p:spPr>
          <a:xfrm>
            <a:off x="10949940" y="401878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92689" y="4061537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44460" y="527700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44460" y="532089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0" name="Oval 49"/>
          <p:cNvSpPr/>
          <p:nvPr/>
        </p:nvSpPr>
        <p:spPr>
          <a:xfrm>
            <a:off x="7614208" y="539130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56957" y="543405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17152" y="5421477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5465369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54" name="Oval 53"/>
          <p:cNvSpPr/>
          <p:nvPr/>
        </p:nvSpPr>
        <p:spPr>
          <a:xfrm>
            <a:off x="9486900" y="5535777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529649" y="5578526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21040" y="417515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22452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8622792.0" y="4202582.4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784080" y="4789170"/>
            <a:ext cx="329184" cy="329184"/>
          </a:xfrm>
          <a:prstGeom prst="ellipse">
            <a:avLst/>
          </a:prstGeom>
          <a:solidFill>
            <a:srgbClr val="E24A4A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4080" y="4838548"/>
            <a:ext cx="329184" cy="230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0085832.0" y="4816602.0"/>
            <a:ext cx="365760.0" cy="137160.0"/>
          </a:xfrm>
          <a:prstGeom prst="line">
            <a:avLst/>
          </a:prstGeom>
          <a:ln w="31750">
            <a:solidFill>
              <a:srgbClr val="FF6B6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10–30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245359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2453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Pairs, 15 yd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First Touch &amp; Drive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Partner passes the ball. Player takes a directional first touch into space and drives forward 5 yards. Pass back. Switch roles. The point: first touch goes where you want to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Open your body before the ball arrives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touch into space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Drive at pace after the touch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68896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68896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42035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6310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59244" y="3362706"/>
            <a:ext cx="292608" cy="292608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59244" y="34065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42708.8" y="3554730.0"/>
            <a:ext cx="226771.2000000002" cy="76581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98080.0" y="4411980.0"/>
            <a:ext cx="1572768.0" cy="0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116568.0" y="4274820.0"/>
            <a:ext cx="2359152.0" cy="13716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802368" y="453999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02368" y="458388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Pairs, 15 yd 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50" name="Oval 49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2" name="Oval 51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4" name="Oval 53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56" name="Oval 55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30–45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 yd lane to goal, 1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Drive &amp; Finish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Receive a pass, take one driving touch toward goal, finish. Both feet, both sides. After the first round, add a defender chasing — finish under pressure.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Driving touch — push into space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Plant foot, lock ankle, follow through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Decide quickly — shoot or another touch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68896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68896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742035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6310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59244" y="3362706"/>
            <a:ext cx="292608" cy="292608"/>
          </a:xfrm>
          <a:prstGeom prst="ellipse">
            <a:avLst/>
          </a:prstGeom>
          <a:solidFill>
            <a:srgbClr val="22A24D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59244" y="340659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42708.8" y="3554730.0"/>
            <a:ext cx="226771.2000000002" cy="765810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98080.0" y="4411980.0"/>
            <a:ext cx="1572768.0" cy="0.0"/>
          </a:xfrm>
          <a:prstGeom prst="line">
            <a:avLst/>
          </a:prstGeom>
          <a:ln w="25400">
            <a:solidFill>
              <a:srgbClr val="F5A623"/>
            </a:solidFill>
            <a:prstDash val="dash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116568.0" y="4274820.0"/>
            <a:ext cx="2359152.0" cy="137160.0"/>
          </a:xfrm>
          <a:prstGeom prst="line">
            <a:avLst/>
          </a:prstGeom>
          <a:ln w="31750">
            <a:solidFill>
              <a:srgbClr val="E24A4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802368" y="453999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02368" y="458388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 yd lane to goal, 1 goal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50" name="Oval 49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52" name="Oval 51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54" name="Oval 53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56" name="Oval 55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45–60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4803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4803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Small-Sided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4v4 or 5v5. Coach challenge: at least one driving run with the ball per goal scored. Rewards bravery on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Carry the ball when space is open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Pass when pressure arrives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Compete hard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two real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1–5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