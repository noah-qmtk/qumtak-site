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07140E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480000">
            <a:off x="7924648" y="-914400"/>
            <a:ext cx="6553047" cy="86868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91295" y="3657600"/>
            <a:ext cx="3200400" cy="320040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12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412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4C3B8"/>
                </a:solidFill>
                <a:latin typeface="Calibri"/>
              </a:rPr>
              <a:t>COACH PLAYBOOK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4ADE80"/>
                </a:solidFill>
                <a:latin typeface="Calibri"/>
              </a:rPr>
              <a:t>TRAINING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Week of May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DE80"/>
                </a:solidFill>
                <a:latin typeface="Calibri"/>
              </a:rPr>
              <a:t>Week 2 — Passing &amp; First Touch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120640"/>
            <a:ext cx="91440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20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7B8A7F"/>
                </a:solidFill>
                <a:latin typeface="Calibri"/>
              </a:rPr>
              <a:t>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40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806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4C3B8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7B8A7F"/>
                </a:solidFill>
                <a:latin typeface="Calibri"/>
              </a:rPr>
              <a:t>qmtk.org  · 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3–5 · 45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20887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20887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Circle, 8 yd radius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Pass the Coach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Players stand in a circle around the coach. Roll the ball, then later pass it to the coach. Coach passes it back. Lots of high-fives, lots of reps.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Plant foot beside the ball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Inside of the foot — the 'passing foot'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Watch the ball into your foot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31936" y="306171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31936" y="310560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778240.0" y="3299460.0"/>
            <a:ext cx="0.0" cy="94792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573229" y="351501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73229" y="355891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8906923.207362378" y="3718335.125636122"/>
            <a:ext cx="741119.9535129555" cy="591023.440896345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805710" y="453358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05710" y="457747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8938705.334921831" y="4448605.1655617375"/>
            <a:ext cx="924161.465938691" cy="210933.8238833407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9154314" y="535040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54314" y="539429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8849653.792388838" y="4560272.267905795"/>
            <a:ext cx="411290.5450542271" cy="854053.6170130046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109557" y="535040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9557" y="539429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8295535.662556934" y="4560272.267905795"/>
            <a:ext cx="411290.54505422805" cy="854053.6170130046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7458161" y="453358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58161" y="457747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7693613.199139478" y="4448605.1655617375"/>
            <a:ext cx="924161.465938691" cy="210933.8238833416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7690642" y="351501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90642" y="355891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908436.839124667" y="3718335.125636122"/>
            <a:ext cx="741119.9535129545" cy="591023.440896345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8577072" y="4210812"/>
            <a:ext cx="402336" cy="402336"/>
          </a:xfrm>
          <a:prstGeom prst="ellipse">
            <a:avLst/>
          </a:prstGeom>
          <a:solidFill>
            <a:srgbClr val="22A24D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77072" y="4271163"/>
            <a:ext cx="402336" cy="2816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1" name="Oval 50"/>
          <p:cNvSpPr/>
          <p:nvPr/>
        </p:nvSpPr>
        <p:spPr>
          <a:xfrm>
            <a:off x="8974836" y="437997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017585" y="442272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Circle, 8 yd radius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6" name="Oval 55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8" name="Oval 57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0" name="Oval 59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2" name="Oval 61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10–25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19320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19320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Pairs, 5 yd apart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Stop &amp; 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Partner rolls the ball. Player stops it with the sole, then passes it back. Strict 2-step rhythm. Build the basic first-touch-then-pass habit.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Stop with the bottom of the foot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Then push with the inside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Eye contact with partner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43569" y="3679728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8443569" y="3496665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77097" y="3572103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3569" y="4008912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8443569" y="3825849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77097" y="3901287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59244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92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6" name="Oval 35"/>
          <p:cNvSpPr/>
          <p:nvPr/>
        </p:nvSpPr>
        <p:spPr>
          <a:xfrm>
            <a:off x="10504627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04627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8" name="Oval 37"/>
          <p:cNvSpPr/>
          <p:nvPr/>
        </p:nvSpPr>
        <p:spPr>
          <a:xfrm>
            <a:off x="7010704" y="368411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53453" y="372686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7070140.8" y="3725265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7070140.8" y="3807561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8443569" y="5124480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sosceles Triangle 42"/>
          <p:cNvSpPr/>
          <p:nvPr/>
        </p:nvSpPr>
        <p:spPr>
          <a:xfrm>
            <a:off x="8443569" y="4941417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77097" y="5016855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43569" y="5453664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8443569" y="5270601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77097" y="5346039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59244" y="506028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59244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0" name="Oval 49"/>
          <p:cNvSpPr/>
          <p:nvPr/>
        </p:nvSpPr>
        <p:spPr>
          <a:xfrm>
            <a:off x="10504627" y="5060289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04627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2" name="Oval 51"/>
          <p:cNvSpPr/>
          <p:nvPr/>
        </p:nvSpPr>
        <p:spPr>
          <a:xfrm>
            <a:off x="7010704" y="51288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3453" y="5171618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7070140.8" y="5170017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070140.8" y="5252313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Pairs, 5 yd apart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9" name="Oval 58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1" name="Oval 60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3" name="Oval 62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5" name="Oval 64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25–35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32367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3236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5 yd cone gates, pairs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Pass Through the 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Partners face each other with a 2-cone gate in the middle. Pass the ball through the gate. Move further apart as they succeed.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Aim — pick a target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Right pace — not too hard, not too soft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Cheer when partner scores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43569" y="3679728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8443569" y="3496665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77097" y="3572103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3569" y="4008912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8443569" y="3825849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77097" y="3901287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59244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92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6" name="Oval 35"/>
          <p:cNvSpPr/>
          <p:nvPr/>
        </p:nvSpPr>
        <p:spPr>
          <a:xfrm>
            <a:off x="10504627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04627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8" name="Oval 37"/>
          <p:cNvSpPr/>
          <p:nvPr/>
        </p:nvSpPr>
        <p:spPr>
          <a:xfrm>
            <a:off x="7010704" y="368411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53453" y="372686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7070140.8" y="3725265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7070140.8" y="3807561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8443569" y="5124480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sosceles Triangle 42"/>
          <p:cNvSpPr/>
          <p:nvPr/>
        </p:nvSpPr>
        <p:spPr>
          <a:xfrm>
            <a:off x="8443569" y="4941417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77097" y="5016855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43569" y="5453664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8443569" y="5270601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77097" y="5346039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59244" y="506028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59244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0" name="Oval 49"/>
          <p:cNvSpPr/>
          <p:nvPr/>
        </p:nvSpPr>
        <p:spPr>
          <a:xfrm>
            <a:off x="10504627" y="5060289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04627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2" name="Oval 51"/>
          <p:cNvSpPr/>
          <p:nvPr/>
        </p:nvSpPr>
        <p:spPr>
          <a:xfrm>
            <a:off x="7010704" y="51288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3453" y="5171618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7070140.8" y="5170017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070140.8" y="5252313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5 yd cone gates, pairs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9" name="Oval 58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1" name="Oval 60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3" name="Oval 62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5" name="Oval 64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35–45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5586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5586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Everyone Scores Mini Game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Small-sided game. Coach reminds players to pass to a teammate when they can. Every kid gets a shot. Goals celebrated, no scorekeeping.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Pass to a teammate sometimes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Run to the ball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Have fun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527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527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807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527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91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91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671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91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44460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4460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9" name="Oval 38"/>
          <p:cNvSpPr/>
          <p:nvPr/>
        </p:nvSpPr>
        <p:spPr>
          <a:xfrm>
            <a:off x="7695590" y="455462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95590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1" name="Oval 40"/>
          <p:cNvSpPr/>
          <p:nvPr/>
        </p:nvSpPr>
        <p:spPr>
          <a:xfrm>
            <a:off x="804672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9919411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19411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9568281" y="455462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8281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7" name="Oval 46"/>
          <p:cNvSpPr/>
          <p:nvPr/>
        </p:nvSpPr>
        <p:spPr>
          <a:xfrm>
            <a:off x="9217152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7152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9" name="Oval 4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54" name="Oval 53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6" name="Oval 55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8" name="Oval 57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0" name="Oval 59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6–11 · 60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16188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16188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Pass Tag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Two taggers with balls — they tag others by passing the ball into them. Everyone else dribbles to avoid. Switch taggers every minute.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Accurate passing on the move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Heads up — scan the field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Quick changes of direction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47106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51495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0" name="Oval 29"/>
          <p:cNvSpPr/>
          <p:nvPr/>
        </p:nvSpPr>
        <p:spPr>
          <a:xfrm>
            <a:off x="7028992" y="358536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1741" y="362811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78547" y="444627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78547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4" name="Oval 33"/>
          <p:cNvSpPr/>
          <p:nvPr/>
        </p:nvSpPr>
        <p:spPr>
          <a:xfrm>
            <a:off x="7848295" y="456057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91044" y="460331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24544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245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8" name="Oval 37"/>
          <p:cNvSpPr/>
          <p:nvPr/>
        </p:nvSpPr>
        <p:spPr>
          <a:xfrm>
            <a:off x="9194292" y="372983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37041" y="377258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9411" y="4626864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9411" y="467075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10189159" y="474116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31908" y="478391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80192" y="3904488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394838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6" name="Oval 45"/>
          <p:cNvSpPr/>
          <p:nvPr/>
        </p:nvSpPr>
        <p:spPr>
          <a:xfrm>
            <a:off x="10949940" y="40187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92689" y="4061537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44460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446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0" name="Oval 49"/>
          <p:cNvSpPr/>
          <p:nvPr/>
        </p:nvSpPr>
        <p:spPr>
          <a:xfrm>
            <a:off x="7614208" y="539130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56957" y="543405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17152" y="542147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46536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4" name="Oval 53"/>
          <p:cNvSpPr/>
          <p:nvPr/>
        </p:nvSpPr>
        <p:spPr>
          <a:xfrm>
            <a:off x="9486900" y="553577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29649" y="557852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21040" y="417515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422452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8622792.0" y="4202582.4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9784080" y="478917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483854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10085832.0" y="4816602.0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0104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0104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Pairs, 10 yd apart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2-Touch Partner Passing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Strict 2-touch: first touch settles, second touch passes back. Add movement — pass and follow your pass. Builds clean technique and rhythm.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Soft, controlled first touch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Accurate inside-of-the-foot pass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Communicate — eye contact, call for the ball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43569" y="3679728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8443569" y="3496665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77097" y="3572103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3569" y="4008912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8443569" y="3825849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77097" y="3901287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59244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92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6" name="Oval 35"/>
          <p:cNvSpPr/>
          <p:nvPr/>
        </p:nvSpPr>
        <p:spPr>
          <a:xfrm>
            <a:off x="10504627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04627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8" name="Oval 37"/>
          <p:cNvSpPr/>
          <p:nvPr/>
        </p:nvSpPr>
        <p:spPr>
          <a:xfrm>
            <a:off x="7010704" y="368411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53453" y="372686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7070140.8" y="3725265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7070140.8" y="3807561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8443569" y="5124480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sosceles Triangle 42"/>
          <p:cNvSpPr/>
          <p:nvPr/>
        </p:nvSpPr>
        <p:spPr>
          <a:xfrm>
            <a:off x="8443569" y="4941417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77097" y="5016855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43569" y="5453664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8443569" y="5270601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77097" y="5346039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59244" y="506028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59244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0" name="Oval 49"/>
          <p:cNvSpPr/>
          <p:nvPr/>
        </p:nvSpPr>
        <p:spPr>
          <a:xfrm>
            <a:off x="10504627" y="5060289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04627" y="510418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2" name="Oval 51"/>
          <p:cNvSpPr/>
          <p:nvPr/>
        </p:nvSpPr>
        <p:spPr>
          <a:xfrm>
            <a:off x="7010704" y="51288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3453" y="5171618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7070140.8" y="5170017.6"/>
            <a:ext cx="3416198.3999999994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070140.8" y="5252313.6"/>
            <a:ext cx="3416198.3999999994" cy="0.0"/>
          </a:xfrm>
          <a:prstGeom prst="line">
            <a:avLst/>
          </a:prstGeom>
          <a:ln w="25400">
            <a:solidFill>
              <a:srgbClr val="4ADE80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Pairs, 10 yd apart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9" name="Oval 58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1" name="Oval 60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3" name="Oval 62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5" name="Oval 64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30–45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9502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9502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10x10 yd triangle, groups of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Pass &amp; Move Triangles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Three players, three cones. Pass to the next cone, then sprint to the empty cone. Continuous movement. Mirrors real positional play.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Pass and move — never stand still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Open up to receive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Look before you receive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227417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417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0" name="Oval 29"/>
          <p:cNvSpPr/>
          <p:nvPr/>
        </p:nvSpPr>
        <p:spPr>
          <a:xfrm>
            <a:off x="8631936" y="3254349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1936" y="329824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2" name="Oval 31"/>
          <p:cNvSpPr/>
          <p:nvPr/>
        </p:nvSpPr>
        <p:spPr>
          <a:xfrm>
            <a:off x="10036454" y="5277002"/>
            <a:ext cx="292608" cy="292608"/>
          </a:xfrm>
          <a:prstGeom prst="ellipse">
            <a:avLst/>
          </a:prstGeom>
          <a:solidFill>
            <a:srgbClr val="7C5DF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36454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7465161.6" y="3400653.6"/>
            <a:ext cx="1221638.4000000004" cy="2022652.800000000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869680.0" y="3400653.6"/>
            <a:ext cx="1221638.4000000004" cy="2022652.8000000003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282281.6" y="5423306.4"/>
            <a:ext cx="2991916.8000000007" cy="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460589" y="534558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03338" y="538833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10x10 yd triangle, groups of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42" name="Oval 41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44" name="Oval 43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46" name="Oval 45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48" name="Oval 47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45–60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4803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4803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Small-Sided Scrimmage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4v4 or 5v5. Coach rule: every goal must follow at least one pass. Forces players to look up and link with teammates.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Find a pass first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Move after you pass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Compete, communicate, have fun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08695" y="3942435"/>
            <a:ext cx="939088" cy="93908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34898" y="4368638"/>
            <a:ext cx="86684" cy="866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34456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34456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6247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34456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5" name="Oval 44"/>
          <p:cNvSpPr/>
          <p:nvPr/>
        </p:nvSpPr>
        <p:spPr>
          <a:xfrm>
            <a:off x="7578547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78547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7" name="Oval 46"/>
          <p:cNvSpPr/>
          <p:nvPr/>
        </p:nvSpPr>
        <p:spPr>
          <a:xfrm>
            <a:off x="7578547" y="498805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8547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Oval 48"/>
          <p:cNvSpPr/>
          <p:nvPr/>
        </p:nvSpPr>
        <p:spPr>
          <a:xfrm>
            <a:off x="8163763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63763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1" name="Oval 50"/>
          <p:cNvSpPr/>
          <p:nvPr/>
        </p:nvSpPr>
        <p:spPr>
          <a:xfrm>
            <a:off x="10270540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70540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Oval 52"/>
          <p:cNvSpPr/>
          <p:nvPr/>
        </p:nvSpPr>
        <p:spPr>
          <a:xfrm>
            <a:off x="9685324" y="354330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8532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5" name="Oval 54"/>
          <p:cNvSpPr/>
          <p:nvPr/>
        </p:nvSpPr>
        <p:spPr>
          <a:xfrm>
            <a:off x="9685324" y="498805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85324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7" name="Oval 56"/>
          <p:cNvSpPr/>
          <p:nvPr/>
        </p:nvSpPr>
        <p:spPr>
          <a:xfrm>
            <a:off x="9100108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00108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9" name="Oval 5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8447227.2" y="4411980.0"/>
            <a:ext cx="623620.8000000007" cy="36118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