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07140E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480000">
            <a:off x="7924648" y="-914400"/>
            <a:ext cx="6553047" cy="86868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91295" y="3657600"/>
            <a:ext cx="3200400" cy="320040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spc="12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4124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B4C3B8"/>
                </a:solidFill>
                <a:latin typeface="Calibri"/>
              </a:rPr>
              <a:t>COACH PLAYBOOK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400">
                <a:solidFill>
                  <a:srgbClr val="4ADE80"/>
                </a:solidFill>
                <a:latin typeface="Calibri"/>
              </a:rPr>
              <a:t>TRAINING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8686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Week of May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4ADE80"/>
                </a:solidFill>
                <a:latin typeface="Calibri"/>
              </a:rPr>
              <a:t>Week 2 — Passing &amp; First Touch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120640"/>
            <a:ext cx="91440" cy="10058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20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7B8A7F"/>
                </a:solidFill>
                <a:latin typeface="Calibri"/>
              </a:rPr>
              <a:t>LOCATION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4406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Sanborn Elementary School Lower Field, Andover, 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8064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B4C3B8"/>
                </a:solidFill>
                <a:latin typeface="Calibri"/>
              </a:rPr>
              <a:t>5:50–6:50 PM (Mon &amp; Fri)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50">
                <a:solidFill>
                  <a:srgbClr val="7B8A7F"/>
                </a:solidFill>
                <a:latin typeface="Calibri"/>
              </a:rPr>
              <a:t>qmtk.org  ·  Train Smart. Play Smart.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5720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640080" cy="4572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500">
                <a:solidFill>
                  <a:srgbClr val="4ADE80"/>
                </a:solidFill>
                <a:latin typeface="Calibri"/>
              </a:rPr>
              <a:t>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Pre-K &amp; Kindergarten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C5E8CE"/>
                </a:solidFill>
                <a:latin typeface="Calibri"/>
              </a:rPr>
              <a:t>Ages 3–5  ·  45 minute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C5E8CE"/>
                </a:solidFill>
                <a:latin typeface="Calibri"/>
              </a:rPr>
              <a:t>qmtk Soccer · Coach Playbook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01.1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39954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3995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OPENING GAME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66468" y="1097280"/>
            <a:ext cx="9922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6468" y="1097280"/>
            <a:ext cx="9922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0–10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8489" y="1097280"/>
            <a:ext cx="20887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8489" y="1097280"/>
            <a:ext cx="20887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Circle, 8 yd radius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Pass the Coach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Players stand in a circle around the coach. Roll the ball, then later pass it to the coach. Coach passes it back. Lots of high-fives, lots of reps.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Plant foot beside the ball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Inside of the foot — the 'passing foot'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Watch the ball into your foot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31936" y="306171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31936" y="310560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778240.0" y="3299460.0"/>
            <a:ext cx="0.0" cy="947928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573229" y="3515019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73229" y="355891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8906923.207362378" y="3718335.125636122"/>
            <a:ext cx="741119.9535129555" cy="591023.4408963453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9805710" y="453358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05710" y="457747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cxnSp>
        <p:nvCxnSpPr>
          <p:cNvPr id="36" name="Connector 35"/>
          <p:cNvCxnSpPr/>
          <p:nvPr/>
        </p:nvCxnSpPr>
        <p:spPr>
          <a:xfrm flipH="1" flipV="1">
            <a:off x="8938705.334921831" y="4448605.1655617375"/>
            <a:ext cx="924161.465938691" cy="210933.8238833407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9154314" y="535040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54314" y="539429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8849653.792388838" y="4560272.267905795"/>
            <a:ext cx="411290.5450542271" cy="854053.6170130046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8109557" y="535040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9557" y="539429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8295535.662556934" y="4560272.267905795"/>
            <a:ext cx="411290.54505422805" cy="854053.6170130046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7458161" y="453358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58161" y="457747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7693613.199139478" y="4448605.1655617375"/>
            <a:ext cx="924161.465938691" cy="210933.82388334163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7690642" y="3515019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90642" y="355891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908436.839124667" y="3718335.125636122"/>
            <a:ext cx="741119.9535129545" cy="591023.4408963453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8577072" y="4210812"/>
            <a:ext cx="402336" cy="402336"/>
          </a:xfrm>
          <a:prstGeom prst="ellipse">
            <a:avLst/>
          </a:prstGeom>
          <a:solidFill>
            <a:srgbClr val="22A24D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77072" y="4271163"/>
            <a:ext cx="402336" cy="2816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1" name="Oval 50"/>
          <p:cNvSpPr/>
          <p:nvPr/>
        </p:nvSpPr>
        <p:spPr>
          <a:xfrm>
            <a:off x="8974836" y="437997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017585" y="442272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Circle, 8 yd radius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56" name="Oval 55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58" name="Oval 57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0" name="Oval 59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2" name="Oval 61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01.2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10–25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19320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19320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Pairs, 5 yd apart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Stop &amp; Pass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Partner rolls the ball. Player stops it with the sole, then passes it back. Strict 2-step rhythm. Build the basic first-touch-then-pass habit.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Stop with the bottom of the foot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Then push with the inside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Eye contact with partner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43569" y="3679728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Isosceles Triangle 28"/>
          <p:cNvSpPr/>
          <p:nvPr/>
        </p:nvSpPr>
        <p:spPr>
          <a:xfrm>
            <a:off x="8443569" y="3496665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77097" y="3572103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43569" y="4008912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Isosceles Triangle 31"/>
          <p:cNvSpPr/>
          <p:nvPr/>
        </p:nvSpPr>
        <p:spPr>
          <a:xfrm>
            <a:off x="8443569" y="3825849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77097" y="3901287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759244" y="3615537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59244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6" name="Oval 35"/>
          <p:cNvSpPr/>
          <p:nvPr/>
        </p:nvSpPr>
        <p:spPr>
          <a:xfrm>
            <a:off x="10504627" y="361553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04627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8" name="Oval 37"/>
          <p:cNvSpPr/>
          <p:nvPr/>
        </p:nvSpPr>
        <p:spPr>
          <a:xfrm>
            <a:off x="7010704" y="368411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053453" y="3726866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7070140.8" y="3725265.6"/>
            <a:ext cx="3416198.3999999994" cy="0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7070140.8" y="3807561.6"/>
            <a:ext cx="3416198.3999999994" cy="0.0"/>
          </a:xfrm>
          <a:prstGeom prst="line">
            <a:avLst/>
          </a:prstGeom>
          <a:ln w="25400">
            <a:solidFill>
              <a:srgbClr val="4ADE8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8443569" y="5124480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Isosceles Triangle 42"/>
          <p:cNvSpPr/>
          <p:nvPr/>
        </p:nvSpPr>
        <p:spPr>
          <a:xfrm>
            <a:off x="8443569" y="4941417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477097" y="5016855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43569" y="5453664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Isosceles Triangle 45"/>
          <p:cNvSpPr/>
          <p:nvPr/>
        </p:nvSpPr>
        <p:spPr>
          <a:xfrm>
            <a:off x="8443569" y="5270601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477097" y="5346039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759244" y="5060289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59244" y="510418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50" name="Oval 49"/>
          <p:cNvSpPr/>
          <p:nvPr/>
        </p:nvSpPr>
        <p:spPr>
          <a:xfrm>
            <a:off x="10504627" y="5060289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04627" y="510418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2" name="Oval 51"/>
          <p:cNvSpPr/>
          <p:nvPr/>
        </p:nvSpPr>
        <p:spPr>
          <a:xfrm>
            <a:off x="7010704" y="512886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53453" y="5171618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7070140.8" y="5170017.6"/>
            <a:ext cx="3416198.3999999994" cy="0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7070140.8" y="5252313.6"/>
            <a:ext cx="3416198.3999999994" cy="0.0"/>
          </a:xfrm>
          <a:prstGeom prst="line">
            <a:avLst/>
          </a:prstGeom>
          <a:ln w="25400">
            <a:solidFill>
              <a:srgbClr val="4ADE8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Pairs, 5 yd apart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59" name="Oval 58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1" name="Oval 60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3" name="Oval 62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5" name="Oval 64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01.3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25–35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32367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3236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5 yd cone gates, pairs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Pass Through the Gate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Partners face each other with a 2-cone gate in the middle. Pass the ball through the gate. Move further apart as they succeed.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Aim — pick a target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Right pace — not too hard, not too soft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Cheer when partner scores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43569" y="3679728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Isosceles Triangle 28"/>
          <p:cNvSpPr/>
          <p:nvPr/>
        </p:nvSpPr>
        <p:spPr>
          <a:xfrm>
            <a:off x="8443569" y="3496665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77097" y="3572103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43569" y="4008912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Isosceles Triangle 31"/>
          <p:cNvSpPr/>
          <p:nvPr/>
        </p:nvSpPr>
        <p:spPr>
          <a:xfrm>
            <a:off x="8443569" y="3825849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77097" y="3901287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759244" y="3615537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59244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6" name="Oval 35"/>
          <p:cNvSpPr/>
          <p:nvPr/>
        </p:nvSpPr>
        <p:spPr>
          <a:xfrm>
            <a:off x="10504627" y="361553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04627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8" name="Oval 37"/>
          <p:cNvSpPr/>
          <p:nvPr/>
        </p:nvSpPr>
        <p:spPr>
          <a:xfrm>
            <a:off x="7010704" y="368411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053453" y="3726866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7070140.8" y="3725265.6"/>
            <a:ext cx="3416198.3999999994" cy="0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7070140.8" y="3807561.6"/>
            <a:ext cx="3416198.3999999994" cy="0.0"/>
          </a:xfrm>
          <a:prstGeom prst="line">
            <a:avLst/>
          </a:prstGeom>
          <a:ln w="25400">
            <a:solidFill>
              <a:srgbClr val="4ADE8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8443569" y="5124480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Isosceles Triangle 42"/>
          <p:cNvSpPr/>
          <p:nvPr/>
        </p:nvSpPr>
        <p:spPr>
          <a:xfrm>
            <a:off x="8443569" y="4941417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477097" y="5016855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43569" y="5453664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Isosceles Triangle 45"/>
          <p:cNvSpPr/>
          <p:nvPr/>
        </p:nvSpPr>
        <p:spPr>
          <a:xfrm>
            <a:off x="8443569" y="5270601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477097" y="5346039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759244" y="5060289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59244" y="510418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50" name="Oval 49"/>
          <p:cNvSpPr/>
          <p:nvPr/>
        </p:nvSpPr>
        <p:spPr>
          <a:xfrm>
            <a:off x="10504627" y="5060289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04627" y="510418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2" name="Oval 51"/>
          <p:cNvSpPr/>
          <p:nvPr/>
        </p:nvSpPr>
        <p:spPr>
          <a:xfrm>
            <a:off x="7010704" y="512886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53453" y="5171618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7070140.8" y="5170017.6"/>
            <a:ext cx="3416198.3999999994" cy="0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7070140.8" y="5252313.6"/>
            <a:ext cx="3416198.3999999994" cy="0.0"/>
          </a:xfrm>
          <a:prstGeom prst="line">
            <a:avLst/>
          </a:prstGeom>
          <a:ln w="25400">
            <a:solidFill>
              <a:srgbClr val="4ADE8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5 yd cone gates, pairs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59" name="Oval 58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1" name="Oval 60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3" name="Oval 62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5" name="Oval 64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01.4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41095" cy="274320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4109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SCRIMMAGE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8023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8023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35–45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8361" y="1097280"/>
            <a:ext cx="25586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8361" y="1097280"/>
            <a:ext cx="25586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20x15 yd, two small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Everyone Scores Mini Game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Small-sided game. Coach reminds players to pass to a teammate when they can. Every kid gets a shot. Goals celebrated, no scorekeeping.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Pass to a teammate sometimes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Run to the ball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Have fun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778240.0" y="2714396"/>
            <a:ext cx="0.0" cy="3395168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952744" y="4091940"/>
            <a:ext cx="164592" cy="6400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52744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80760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52744" y="40919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439144" y="4091940"/>
            <a:ext cx="164592" cy="6400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9144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567160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9144" y="40919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44460" y="3615537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4460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9" name="Oval 38"/>
          <p:cNvSpPr/>
          <p:nvPr/>
        </p:nvSpPr>
        <p:spPr>
          <a:xfrm>
            <a:off x="7695590" y="455462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95590" y="459851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1" name="Oval 40"/>
          <p:cNvSpPr/>
          <p:nvPr/>
        </p:nvSpPr>
        <p:spPr>
          <a:xfrm>
            <a:off x="8046720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0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3" name="Oval 42"/>
          <p:cNvSpPr/>
          <p:nvPr/>
        </p:nvSpPr>
        <p:spPr>
          <a:xfrm>
            <a:off x="9919411" y="361553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19411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5" name="Oval 44"/>
          <p:cNvSpPr/>
          <p:nvPr/>
        </p:nvSpPr>
        <p:spPr>
          <a:xfrm>
            <a:off x="9568281" y="455462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68281" y="459851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7" name="Oval 46"/>
          <p:cNvSpPr/>
          <p:nvPr/>
        </p:nvSpPr>
        <p:spPr>
          <a:xfrm>
            <a:off x="9217152" y="527700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17152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9" name="Oval 48"/>
          <p:cNvSpPr/>
          <p:nvPr/>
        </p:nvSpPr>
        <p:spPr>
          <a:xfrm>
            <a:off x="8700516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743265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20x15 yd, two small goals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DE80"/>
                </a:solidFill>
                <a:latin typeface="Calibri"/>
              </a:rPr>
              <a:t>SCRIMMAGE</a:t>
            </a:r>
          </a:p>
        </p:txBody>
      </p:sp>
      <p:sp>
        <p:nvSpPr>
          <p:cNvPr id="54" name="Oval 53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56" name="Oval 55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58" name="Oval 57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0" name="Oval 59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5720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640080" cy="4572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500">
                <a:solidFill>
                  <a:srgbClr val="4ADE80"/>
                </a:solidFill>
                <a:latin typeface="Calibri"/>
              </a:rPr>
              <a:t>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Grades 1–5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C5E8CE"/>
                </a:solidFill>
                <a:latin typeface="Calibri"/>
              </a:rPr>
              <a:t>Ages 6–11  ·  60 minute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C5E8CE"/>
                </a:solidFill>
                <a:latin typeface="Calibri"/>
              </a:rPr>
              <a:t>qmtk Soccer · Coach Playbook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02.1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39954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3995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OPENING GAME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66468" y="1097280"/>
            <a:ext cx="9922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6468" y="1097280"/>
            <a:ext cx="9922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0–10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8489" y="1097280"/>
            <a:ext cx="16188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8489" y="1097280"/>
            <a:ext cx="16188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20x20 yd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Pass Tag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Two taggers with balls — they tag others by passing the ball into them. Everyone else dribbles to avoid. Switch taggers every minute.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Accurate passing on the move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Heads up — scan the field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Quick changes of direction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59244" y="347106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9244" y="351495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0" name="Oval 29"/>
          <p:cNvSpPr/>
          <p:nvPr/>
        </p:nvSpPr>
        <p:spPr>
          <a:xfrm>
            <a:off x="7028992" y="358536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1741" y="362811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578547" y="4446270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78547" y="449016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4" name="Oval 33"/>
          <p:cNvSpPr/>
          <p:nvPr/>
        </p:nvSpPr>
        <p:spPr>
          <a:xfrm>
            <a:off x="7848295" y="456057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891044" y="4603319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24544" y="361553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24544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8" name="Oval 37"/>
          <p:cNvSpPr/>
          <p:nvPr/>
        </p:nvSpPr>
        <p:spPr>
          <a:xfrm>
            <a:off x="9194292" y="372983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237041" y="3772586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919411" y="4626864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19411" y="467075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42" name="Oval 41"/>
          <p:cNvSpPr/>
          <p:nvPr/>
        </p:nvSpPr>
        <p:spPr>
          <a:xfrm>
            <a:off x="10189159" y="474116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231908" y="478391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680192" y="3904488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80192" y="3948380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46" name="Oval 45"/>
          <p:cNvSpPr/>
          <p:nvPr/>
        </p:nvSpPr>
        <p:spPr>
          <a:xfrm>
            <a:off x="10949940" y="401878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992689" y="4061537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344460" y="527700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44460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50" name="Oval 49"/>
          <p:cNvSpPr/>
          <p:nvPr/>
        </p:nvSpPr>
        <p:spPr>
          <a:xfrm>
            <a:off x="7614208" y="539130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656957" y="543405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217152" y="542147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17152" y="546536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54" name="Oval 53"/>
          <p:cNvSpPr/>
          <p:nvPr/>
        </p:nvSpPr>
        <p:spPr>
          <a:xfrm>
            <a:off x="9486900" y="553577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529649" y="5578526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321040" y="4175150"/>
            <a:ext cx="329184" cy="329184"/>
          </a:xfrm>
          <a:prstGeom prst="ellipse">
            <a:avLst/>
          </a:prstGeom>
          <a:solidFill>
            <a:srgbClr val="E24A4A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4224528"/>
            <a:ext cx="329184" cy="230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8622792.0" y="4202582.4"/>
            <a:ext cx="365760.0" cy="137160.0"/>
          </a:xfrm>
          <a:prstGeom prst="line">
            <a:avLst/>
          </a:prstGeom>
          <a:ln w="31750">
            <a:solidFill>
              <a:srgbClr val="FF6B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9784080" y="4789170"/>
            <a:ext cx="329184" cy="329184"/>
          </a:xfrm>
          <a:prstGeom prst="ellipse">
            <a:avLst/>
          </a:prstGeom>
          <a:solidFill>
            <a:srgbClr val="E24A4A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784080" y="4838548"/>
            <a:ext cx="329184" cy="230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cxnSp>
        <p:nvCxnSpPr>
          <p:cNvPr id="61" name="Connector 60"/>
          <p:cNvCxnSpPr/>
          <p:nvPr/>
        </p:nvCxnSpPr>
        <p:spPr>
          <a:xfrm flipV="1">
            <a:off x="10085832.0" y="4816602.0"/>
            <a:ext cx="365760.0" cy="137160.0"/>
          </a:xfrm>
          <a:prstGeom prst="line">
            <a:avLst/>
          </a:prstGeom>
          <a:ln w="31750">
            <a:solidFill>
              <a:srgbClr val="FF6B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20x20 yd grid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65" name="Oval 64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7" name="Oval 66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9" name="Oval 68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71" name="Oval 70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02.2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10–30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0104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0104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Pairs, 10 yd apart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2-Touch Partner Passing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Strict 2-touch: first touch settles, second touch passes back. Add movement — pass and follow your pass. Builds clean technique and rhythm.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Soft, controlled first touch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Accurate inside-of-the-foot pass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Communicate — eye contact, call for the ball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43569" y="3679728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Isosceles Triangle 28"/>
          <p:cNvSpPr/>
          <p:nvPr/>
        </p:nvSpPr>
        <p:spPr>
          <a:xfrm>
            <a:off x="8443569" y="3496665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77097" y="3572103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43569" y="4008912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Isosceles Triangle 31"/>
          <p:cNvSpPr/>
          <p:nvPr/>
        </p:nvSpPr>
        <p:spPr>
          <a:xfrm>
            <a:off x="8443569" y="3825849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77097" y="3901287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759244" y="3615537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59244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6" name="Oval 35"/>
          <p:cNvSpPr/>
          <p:nvPr/>
        </p:nvSpPr>
        <p:spPr>
          <a:xfrm>
            <a:off x="10504627" y="361553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04627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8" name="Oval 37"/>
          <p:cNvSpPr/>
          <p:nvPr/>
        </p:nvSpPr>
        <p:spPr>
          <a:xfrm>
            <a:off x="7010704" y="368411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053453" y="3726866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7070140.8" y="3725265.6"/>
            <a:ext cx="3416198.3999999994" cy="0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7070140.8" y="3807561.6"/>
            <a:ext cx="3416198.3999999994" cy="0.0"/>
          </a:xfrm>
          <a:prstGeom prst="line">
            <a:avLst/>
          </a:prstGeom>
          <a:ln w="25400">
            <a:solidFill>
              <a:srgbClr val="4ADE8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8443569" y="5124480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Isosceles Triangle 42"/>
          <p:cNvSpPr/>
          <p:nvPr/>
        </p:nvSpPr>
        <p:spPr>
          <a:xfrm>
            <a:off x="8443569" y="4941417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477097" y="5016855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43569" y="5453664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Isosceles Triangle 45"/>
          <p:cNvSpPr/>
          <p:nvPr/>
        </p:nvSpPr>
        <p:spPr>
          <a:xfrm>
            <a:off x="8443569" y="5270601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477097" y="5346039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759244" y="5060289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59244" y="510418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50" name="Oval 49"/>
          <p:cNvSpPr/>
          <p:nvPr/>
        </p:nvSpPr>
        <p:spPr>
          <a:xfrm>
            <a:off x="10504627" y="5060289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04627" y="510418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2" name="Oval 51"/>
          <p:cNvSpPr/>
          <p:nvPr/>
        </p:nvSpPr>
        <p:spPr>
          <a:xfrm>
            <a:off x="7010704" y="512886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53453" y="5171618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7070140.8" y="5170017.6"/>
            <a:ext cx="3416198.3999999994" cy="0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7070140.8" y="5252313.6"/>
            <a:ext cx="3416198.3999999994" cy="0.0"/>
          </a:xfrm>
          <a:prstGeom prst="line">
            <a:avLst/>
          </a:prstGeom>
          <a:ln w="25400">
            <a:solidFill>
              <a:srgbClr val="4ADE8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Pairs, 10 yd apart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59" name="Oval 58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1" name="Oval 60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3" name="Oval 62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5" name="Oval 64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02.3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30–45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9502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9502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10x10 yd triangle, groups of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Pass &amp; Move Triangles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Three players, three cones. Pass to the next cone, then sprint to the empty cone. Continuous movement. Mirrors real positional play.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Pass and move — never stand still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Open up to receive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Look before you receive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227417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7417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0" name="Oval 29"/>
          <p:cNvSpPr/>
          <p:nvPr/>
        </p:nvSpPr>
        <p:spPr>
          <a:xfrm>
            <a:off x="8631936" y="3254349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31936" y="329824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2" name="Oval 31"/>
          <p:cNvSpPr/>
          <p:nvPr/>
        </p:nvSpPr>
        <p:spPr>
          <a:xfrm>
            <a:off x="10036454" y="5277002"/>
            <a:ext cx="292608" cy="292608"/>
          </a:xfrm>
          <a:prstGeom prst="ellipse">
            <a:avLst/>
          </a:prstGeom>
          <a:solidFill>
            <a:srgbClr val="7C5DFA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36454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7465161.6" y="3400653.6"/>
            <a:ext cx="1221638.4000000004" cy="2022652.8000000003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869680.0" y="3400653.6"/>
            <a:ext cx="1221638.4000000004" cy="2022652.8000000003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7282281.6" y="5423306.4"/>
            <a:ext cx="2991916.8000000007" cy="0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7460589" y="534558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503338" y="538833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10x10 yd triangle, groups of 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42" name="Oval 41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44" name="Oval 43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46" name="Oval 45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48" name="Oval 47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02.4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41095" cy="274320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4109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SCRIMMAGE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8023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8023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45–60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8361" y="1097280"/>
            <a:ext cx="24803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8361" y="1097280"/>
            <a:ext cx="24803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30x20 yd, two real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Small-Sided Scrimmage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4v4 or 5v5. Coach rule: every goal must follow at least one pass. Forces players to look up and link with teammates.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Find a pass first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Move after you pass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Compete, communicate, have fun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778240.0" y="2714396"/>
            <a:ext cx="0.0" cy="3395168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308695" y="3942435"/>
            <a:ext cx="939088" cy="939088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34898" y="4368638"/>
            <a:ext cx="86684" cy="8668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60516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542575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60516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186312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34456" y="3863340"/>
            <a:ext cx="164592" cy="10972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34456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62472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34456" y="38633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457432" y="3863340"/>
            <a:ext cx="164592" cy="10972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57432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585448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57432" y="38633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993331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93331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5" name="Oval 44"/>
          <p:cNvSpPr/>
          <p:nvPr/>
        </p:nvSpPr>
        <p:spPr>
          <a:xfrm>
            <a:off x="7578547" y="3543300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78547" y="358719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7" name="Oval 46"/>
          <p:cNvSpPr/>
          <p:nvPr/>
        </p:nvSpPr>
        <p:spPr>
          <a:xfrm>
            <a:off x="7578547" y="498805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78547" y="503194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9" name="Oval 48"/>
          <p:cNvSpPr/>
          <p:nvPr/>
        </p:nvSpPr>
        <p:spPr>
          <a:xfrm>
            <a:off x="8163763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63763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51" name="Oval 50"/>
          <p:cNvSpPr/>
          <p:nvPr/>
        </p:nvSpPr>
        <p:spPr>
          <a:xfrm>
            <a:off x="10270540" y="426567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70540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3" name="Oval 52"/>
          <p:cNvSpPr/>
          <p:nvPr/>
        </p:nvSpPr>
        <p:spPr>
          <a:xfrm>
            <a:off x="9685324" y="3543300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85324" y="358719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5" name="Oval 54"/>
          <p:cNvSpPr/>
          <p:nvPr/>
        </p:nvSpPr>
        <p:spPr>
          <a:xfrm>
            <a:off x="9685324" y="498805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85324" y="503194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7" name="Oval 56"/>
          <p:cNvSpPr/>
          <p:nvPr/>
        </p:nvSpPr>
        <p:spPr>
          <a:xfrm>
            <a:off x="9100108" y="426567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00108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9" name="Oval 58"/>
          <p:cNvSpPr/>
          <p:nvPr/>
        </p:nvSpPr>
        <p:spPr>
          <a:xfrm>
            <a:off x="8700516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743265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8447227.2" y="4411980.0"/>
            <a:ext cx="623620.8000000007" cy="361188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30x20 yd, two real goals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DE80"/>
                </a:solidFill>
                <a:latin typeface="Calibri"/>
              </a:rPr>
              <a:t>SCRIMMAGE</a:t>
            </a:r>
          </a:p>
        </p:txBody>
      </p:sp>
      <p:sp>
        <p:nvSpPr>
          <p:cNvPr id="65" name="Oval 64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7" name="Oval 66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9" name="Oval 68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71" name="Oval 70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