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A24D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4BC"/>
                </a:solidFill>
                <a:latin typeface="Calibri"/>
              </a:rPr>
              <a:t>Coach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of May 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A24D"/>
                </a:solidFill>
                <a:latin typeface="Calibri"/>
              </a:rPr>
              <a:t>Week 2 — Passing &amp; First Touch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4BC"/>
                </a:solidFill>
                <a:latin typeface="Calibri"/>
              </a:rPr>
              <a:t>Sanborn Elementary School Lower Field, Andover, 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4BC"/>
                </a:solidFill>
                <a:latin typeface="Calibri"/>
              </a:rPr>
              <a:t>5:50–6:50 PM (Mon &amp; Fri)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035040"/>
            <a:ext cx="11094415" cy="18288"/>
          </a:xfrm>
          <a:prstGeom prst="rect">
            <a:avLst/>
          </a:prstGeom>
          <a:solidFill>
            <a:srgbClr val="22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C80"/>
                </a:solidFill>
                <a:latin typeface="Calibri"/>
              </a:rPr>
              <a:t>qmtk.org ·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Pre-K &amp; Kindergarten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FE8D5"/>
                </a:solidFill>
                <a:latin typeface="Calibri"/>
              </a:rPr>
              <a:t>Ages 3–5  ·  45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Pass the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Pre-K &amp; K  ·  0–10 MIN  ·  📏 Circle, 8 yd radius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Players stand in a circle around the coach. Roll the ball, then later pass it to the coach. Coach passes it back. Lots of high-fives, lots of reps.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Plant foot beside the ball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Inside of the foot — the 'passing foot'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Watch the ball into your foot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OPENING GAME</a:t>
            </a:r>
          </a:p>
        </p:txBody>
      </p:sp>
      <p:sp>
        <p:nvSpPr>
          <p:cNvPr id="17" name="Oval 16"/>
          <p:cNvSpPr/>
          <p:nvPr/>
        </p:nvSpPr>
        <p:spPr>
          <a:xfrm>
            <a:off x="7004304" y="218846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4304" y="222504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9" name="Oval 18"/>
          <p:cNvSpPr/>
          <p:nvPr/>
        </p:nvSpPr>
        <p:spPr>
          <a:xfrm>
            <a:off x="7909852" y="2624553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852" y="2661129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1" name="Oval 20"/>
          <p:cNvSpPr/>
          <p:nvPr/>
        </p:nvSpPr>
        <p:spPr>
          <a:xfrm>
            <a:off x="8133504" y="360443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3504" y="364101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3" name="Oval 22"/>
          <p:cNvSpPr/>
          <p:nvPr/>
        </p:nvSpPr>
        <p:spPr>
          <a:xfrm>
            <a:off x="7506845" y="439024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6845" y="442681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5" name="Oval 24"/>
          <p:cNvSpPr/>
          <p:nvPr/>
        </p:nvSpPr>
        <p:spPr>
          <a:xfrm>
            <a:off x="6501762" y="439024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762" y="442681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7" name="Oval 26"/>
          <p:cNvSpPr/>
          <p:nvPr/>
        </p:nvSpPr>
        <p:spPr>
          <a:xfrm>
            <a:off x="5875103" y="360443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5103" y="364101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9" name="Oval 28"/>
          <p:cNvSpPr/>
          <p:nvPr/>
        </p:nvSpPr>
        <p:spPr>
          <a:xfrm>
            <a:off x="6098755" y="2624553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8755" y="2661129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1" name="Oval 30"/>
          <p:cNvSpPr/>
          <p:nvPr/>
        </p:nvSpPr>
        <p:spPr>
          <a:xfrm>
            <a:off x="6967728" y="3310128"/>
            <a:ext cx="329184" cy="329184"/>
          </a:xfrm>
          <a:prstGeom prst="ellipse">
            <a:avLst/>
          </a:prstGeom>
          <a:solidFill>
            <a:srgbClr val="E24A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338328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3" name="Oval 32"/>
          <p:cNvSpPr/>
          <p:nvPr/>
        </p:nvSpPr>
        <p:spPr>
          <a:xfrm>
            <a:off x="7296912" y="34107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Circle, 8 yd radius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Stop &amp;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Pre-K &amp; K  ·  10–25 MIN  ·  📏 Pairs, 5 yd apart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Partner rolls the ball. Player stops it with the sole, then passes it back. Strict 2-step rhythm. Build the basic first-touch-then-pass habit.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Stop with the bottom of the foot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Then push with the inside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Eye contact with partner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17" name="Oval 16"/>
          <p:cNvSpPr/>
          <p:nvPr/>
        </p:nvSpPr>
        <p:spPr>
          <a:xfrm>
            <a:off x="5961888" y="257860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257860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6989673" y="2523744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89673" y="2743200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47104" y="264261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63640.0" y="2706624.0"/>
            <a:ext cx="1737360.0" cy="0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961888" y="411480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1888" y="41513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0" y="4114800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1513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6989673" y="405993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89673" y="42793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4178808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263640.0" y="4242816.0"/>
            <a:ext cx="1737360.0" cy="0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Pairs, 5 yd apart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Pass Through the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Pre-K &amp; K  ·  25–35 MIN  ·  📏 5 yd cone gates,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Partners face each other with a 2-cone gate in the middle. Pass the ball through the gate. Move further apart as they succeed.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Aim — pick a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Right pace — not too hard, not too 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Cheer when partner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LESSON 2</a:t>
            </a:r>
          </a:p>
        </p:txBody>
      </p:sp>
      <p:sp>
        <p:nvSpPr>
          <p:cNvPr id="17" name="Oval 16"/>
          <p:cNvSpPr/>
          <p:nvPr/>
        </p:nvSpPr>
        <p:spPr>
          <a:xfrm>
            <a:off x="5961888" y="257860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257860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6989673" y="2523744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89673" y="2743200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47104" y="264261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63640.0" y="2706624.0"/>
            <a:ext cx="1737360.0" cy="0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961888" y="411480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1888" y="41513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0" y="4114800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1513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6989673" y="405993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89673" y="42793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4178808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263640.0" y="4242816.0"/>
            <a:ext cx="1737360.0" cy="0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5 yd cone gates, pairs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A24D"/>
                </a:solidFill>
                <a:latin typeface="Calibri"/>
              </a:rPr>
              <a:t>SCRIMMAGE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Everyone Scores Mini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Pre-K &amp; K  ·  35–45 MIN  ·  📏 20x15 yd, two small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Small-sided game. Coach reminds players to pass to a teammate when they can. Every kid gets a shot. Goals celebrated, no scorekeeping.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Pass to a teammate sometimes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Run to the ball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Have fun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SCRIMMAGE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3227832"/>
            <a:ext cx="73152" cy="50292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3227832"/>
            <a:ext cx="73152" cy="50292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35624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6378854" y="392277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8854" y="395935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7699248" y="277063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Oval 24"/>
          <p:cNvSpPr/>
          <p:nvPr/>
        </p:nvSpPr>
        <p:spPr>
          <a:xfrm>
            <a:off x="7942478" y="3922776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2478" y="395935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7068312" y="34107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20x15 yd, two small goals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Grades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FE8D5"/>
                </a:solidFill>
                <a:latin typeface="Calibri"/>
              </a:rPr>
              <a:t>Ages 6–11  ·  60 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Pass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Grades 1–5  ·  0–10 MIN  ·  📏 20x20 yd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Two taggers with balls — they tag others by passing the ball into them. Everyone else dribbles to avoid. Switch taggers every minute.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Accurate passing on the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Heads up — scan the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Quick changes of direction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OPENING GAME</a:t>
            </a:r>
          </a:p>
        </p:txBody>
      </p:sp>
      <p:sp>
        <p:nvSpPr>
          <p:cNvPr id="17" name="Oval 16"/>
          <p:cNvSpPr/>
          <p:nvPr/>
        </p:nvSpPr>
        <p:spPr>
          <a:xfrm>
            <a:off x="5892393" y="257860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2393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9" name="Oval 18"/>
          <p:cNvSpPr/>
          <p:nvPr/>
        </p:nvSpPr>
        <p:spPr>
          <a:xfrm>
            <a:off x="6120993" y="264261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83096" y="353872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357530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2" name="Oval 21"/>
          <p:cNvSpPr/>
          <p:nvPr/>
        </p:nvSpPr>
        <p:spPr>
          <a:xfrm>
            <a:off x="6711696" y="360273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277063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5" name="Oval 24"/>
          <p:cNvSpPr/>
          <p:nvPr/>
        </p:nvSpPr>
        <p:spPr>
          <a:xfrm>
            <a:off x="7406640" y="283464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68742" y="3807561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68742" y="3844137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8" name="Oval 27"/>
          <p:cNvSpPr/>
          <p:nvPr/>
        </p:nvSpPr>
        <p:spPr>
          <a:xfrm>
            <a:off x="7997342" y="3871569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0456" y="2962656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299923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1" name="Oval 30"/>
          <p:cNvSpPr/>
          <p:nvPr/>
        </p:nvSpPr>
        <p:spPr>
          <a:xfrm>
            <a:off x="8449056" y="302666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39865" y="4306824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9865" y="434340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6468465" y="437083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2280" y="3328416"/>
            <a:ext cx="292608" cy="29260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338328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7" name="Oval 36"/>
          <p:cNvSpPr/>
          <p:nvPr/>
        </p:nvSpPr>
        <p:spPr>
          <a:xfrm>
            <a:off x="7680960" y="2944368"/>
            <a:ext cx="292608" cy="29260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2999232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20x20 yd grid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2-Touch Partner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Grades 1–5  ·  10–30 MIN  ·  📏 Pairs, 10 yd apart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Strict 2-touch: first touch settles, second touch passes back. Add movement — pass and follow your pass. Builds clean technique and rhythm.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Soft, controlled first touch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Accurate inside-of-the-foot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Communicate — eye contact, call for the ball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17" name="Oval 16"/>
          <p:cNvSpPr/>
          <p:nvPr/>
        </p:nvSpPr>
        <p:spPr>
          <a:xfrm>
            <a:off x="5961888" y="257860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257860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6989673" y="2523744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89673" y="2743200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47104" y="264261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63640.0" y="2706624.0"/>
            <a:ext cx="1737360.0" cy="0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961888" y="411480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1888" y="41513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0" y="4114800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1513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6989673" y="405993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89673" y="42793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4178808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263640.0" y="4242816.0"/>
            <a:ext cx="1737360.0" cy="0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Pairs, 10 yd apart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Pass &amp; Move Triangles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Grades 1–5  ·  30–45 MIN  ·  📏 10x10 yd triangle, groups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Three players, three cones. Pass to the next cone, then sprint to the empty cone. Continuous movement. Mirrors real positional play.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Pass and move — never stand still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Open up to receive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Look before you receive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LESSON 2</a:t>
            </a:r>
          </a:p>
        </p:txBody>
      </p:sp>
      <p:sp>
        <p:nvSpPr>
          <p:cNvPr id="17" name="Oval 16"/>
          <p:cNvSpPr/>
          <p:nvPr/>
        </p:nvSpPr>
        <p:spPr>
          <a:xfrm>
            <a:off x="6135624" y="411480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41513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7004304" y="2386584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304" y="242316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7872984" y="4114800"/>
            <a:ext cx="256032" cy="256032"/>
          </a:xfrm>
          <a:prstGeom prst="ellipse">
            <a:avLst/>
          </a:prstGeom>
          <a:solidFill>
            <a:srgbClr val="7C5D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2984" y="41513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263640.0" y="2514600.0"/>
            <a:ext cx="868680.0" cy="1728216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32320.0" y="2514600.0"/>
            <a:ext cx="868680.0" cy="1728216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263640.0" y="4242816.0"/>
            <a:ext cx="1737360.0" cy="0.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442862" y="360273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10x10 yd triangle, groups of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A24D"/>
                </a:solidFill>
                <a:latin typeface="Calibri"/>
              </a:rPr>
              <a:t>SCRIMMAGE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Small-Sided Scrimmage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Grades 1–5  ·  45–60 MIN  ·  📏 30x20 yd, two real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4v4 or 5v5. Coach rule: every goal must follow at least one pass. Forces players to look up and link with teammates.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Find a pass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Move after you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Compete, communicate, have fun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SCRIMMAGE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3154680"/>
            <a:ext cx="73152" cy="64008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3154680"/>
            <a:ext cx="73152" cy="64008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132320.0" y="1737360"/>
            <a:ext cx="0.0" cy="347472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031382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1382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73075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673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6656832" y="315468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319125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6830568" y="43068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34340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7977225" y="277063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7225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7699248" y="373075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37673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7351776" y="3154680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1776" y="319125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4" name="Oval 33"/>
          <p:cNvSpPr/>
          <p:nvPr/>
        </p:nvSpPr>
        <p:spPr>
          <a:xfrm>
            <a:off x="7178040" y="2386584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42316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7068312" y="34107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30x20 yd, two real goals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