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2A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2A24D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C4BC"/>
                </a:solidFill>
                <a:latin typeface="Calibri"/>
              </a:rPr>
              <a:t>Coach Playbook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of June 8,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060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22A24D"/>
                </a:solidFill>
                <a:latin typeface="Calibri"/>
              </a:rPr>
              <a:t>Week 7 — Game Application &amp; Celebration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C4BC"/>
                </a:solidFill>
                <a:latin typeface="Calibri"/>
              </a:rPr>
              <a:t>Sanborn Elementary School Lower Field, Andover, 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C4BC"/>
                </a:solidFill>
                <a:latin typeface="Calibri"/>
              </a:rPr>
              <a:t>5:50–6:50 PM (Mon &amp; Fri)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035040"/>
            <a:ext cx="11094415" cy="18288"/>
          </a:xfrm>
          <a:prstGeom prst="rect">
            <a:avLst/>
          </a:prstGeom>
          <a:solidFill>
            <a:srgbClr val="22A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C80"/>
                </a:solidFill>
                <a:latin typeface="Calibri"/>
              </a:rPr>
              <a:t>qmtk.org · Train Smart. Play Smart.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697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Pre-K &amp; Kindergarten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204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CFE8D5"/>
                </a:solidFill>
                <a:latin typeface="Calibri"/>
              </a:rPr>
              <a:t>Ages 3–5  ·  45 minutes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A623"/>
                </a:solidFill>
                <a:latin typeface="Calibri"/>
              </a:rPr>
              <a:t>OPENING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Coach's Choice Warm-Up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Pre-K &amp; K  ·  0–10 MIN  ·  📏 15x15 yd grid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Kids vote between Red Light Green Light, Follow the Coach, or Pass the Coach. Their favorite from the season. Big energy, big smiles.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Touches on the ball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Smiles and laughs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Be ready to learn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OPENING GAME</a:t>
            </a:r>
          </a:p>
        </p:txBody>
      </p:sp>
      <p:sp>
        <p:nvSpPr>
          <p:cNvPr id="17" name="Oval 16"/>
          <p:cNvSpPr/>
          <p:nvPr/>
        </p:nvSpPr>
        <p:spPr>
          <a:xfrm>
            <a:off x="6135624" y="334670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5624" y="33832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9" name="Oval 18"/>
          <p:cNvSpPr/>
          <p:nvPr/>
        </p:nvSpPr>
        <p:spPr>
          <a:xfrm>
            <a:off x="7004304" y="2578608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4304" y="2615184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1" name="Oval 20"/>
          <p:cNvSpPr/>
          <p:nvPr/>
        </p:nvSpPr>
        <p:spPr>
          <a:xfrm>
            <a:off x="7872984" y="334670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72984" y="33832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3" name="Oval 22"/>
          <p:cNvSpPr/>
          <p:nvPr/>
        </p:nvSpPr>
        <p:spPr>
          <a:xfrm>
            <a:off x="7004304" y="430682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04304" y="434340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5" name="Oval 24"/>
          <p:cNvSpPr/>
          <p:nvPr/>
        </p:nvSpPr>
        <p:spPr>
          <a:xfrm>
            <a:off x="7068312" y="341071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15x15 yd grid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A90E2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Skills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Pre-K &amp; K  ·  10–25 MIN  ·  📏 Personal space, 1 ball each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Kids show what they've learned: toe taps, stops, passes. Coach calls out names and gives every kid a "superstar move" to perform. Confidence builder.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Try your favorite skill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Show off — it's okay!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Cheer for each other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LESSON 1</a:t>
            </a:r>
          </a:p>
        </p:txBody>
      </p:sp>
      <p:sp>
        <p:nvSpPr>
          <p:cNvPr id="17" name="Oval 16"/>
          <p:cNvSpPr/>
          <p:nvPr/>
        </p:nvSpPr>
        <p:spPr>
          <a:xfrm>
            <a:off x="5961888" y="2770632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61888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9" name="Oval 18"/>
          <p:cNvSpPr/>
          <p:nvPr/>
        </p:nvSpPr>
        <p:spPr>
          <a:xfrm>
            <a:off x="6025896" y="3141878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61888" y="3922775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61888" y="3959351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2" name="Oval 21"/>
          <p:cNvSpPr/>
          <p:nvPr/>
        </p:nvSpPr>
        <p:spPr>
          <a:xfrm>
            <a:off x="6025896" y="429402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7337" y="2770632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7337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5" name="Oval 24"/>
          <p:cNvSpPr/>
          <p:nvPr/>
        </p:nvSpPr>
        <p:spPr>
          <a:xfrm>
            <a:off x="6651345" y="3141878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87337" y="3922775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7337" y="3959351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8" name="Oval 27"/>
          <p:cNvSpPr/>
          <p:nvPr/>
        </p:nvSpPr>
        <p:spPr>
          <a:xfrm>
            <a:off x="6651345" y="429402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212787" y="2770632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12787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1" name="Oval 30"/>
          <p:cNvSpPr/>
          <p:nvPr/>
        </p:nvSpPr>
        <p:spPr>
          <a:xfrm>
            <a:off x="7276795" y="3141878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212787" y="3922775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12787" y="3959351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4" name="Oval 33"/>
          <p:cNvSpPr/>
          <p:nvPr/>
        </p:nvSpPr>
        <p:spPr>
          <a:xfrm>
            <a:off x="7276795" y="429402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838236" y="2770632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38236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7" name="Oval 36"/>
          <p:cNvSpPr/>
          <p:nvPr/>
        </p:nvSpPr>
        <p:spPr>
          <a:xfrm>
            <a:off x="7902244" y="3141878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838236" y="3922775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38236" y="3959351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40" name="Oval 39"/>
          <p:cNvSpPr/>
          <p:nvPr/>
        </p:nvSpPr>
        <p:spPr>
          <a:xfrm>
            <a:off x="7902244" y="429402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Personal space, 1 ball each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C5DFA"/>
                </a:solidFill>
                <a:latin typeface="Calibri"/>
              </a:rPr>
              <a:t>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Pass &amp; Shoot Combo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Pre-K &amp; K  ·  25–35 MIN  ·  📏 10 yd to small goal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Pass to coach, coach passes back, player shoots at the goal. Combines passing and shooting from the season. Lots of celebrations.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Pass first, then shoot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Take the shot when it comes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High-five after each goal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LESSON 2</a:t>
            </a:r>
          </a:p>
        </p:txBody>
      </p:sp>
      <p:sp>
        <p:nvSpPr>
          <p:cNvPr id="17" name="Oval 16"/>
          <p:cNvSpPr/>
          <p:nvPr/>
        </p:nvSpPr>
        <p:spPr>
          <a:xfrm>
            <a:off x="6135624" y="334670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5624" y="33832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9" name="Oval 18"/>
          <p:cNvSpPr/>
          <p:nvPr/>
        </p:nvSpPr>
        <p:spPr>
          <a:xfrm>
            <a:off x="7004304" y="2578608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4304" y="2615184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1" name="Oval 20"/>
          <p:cNvSpPr/>
          <p:nvPr/>
        </p:nvSpPr>
        <p:spPr>
          <a:xfrm>
            <a:off x="7872984" y="334670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72984" y="33832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3" name="Oval 22"/>
          <p:cNvSpPr/>
          <p:nvPr/>
        </p:nvSpPr>
        <p:spPr>
          <a:xfrm>
            <a:off x="7004304" y="430682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04304" y="434340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5" name="Oval 24"/>
          <p:cNvSpPr/>
          <p:nvPr/>
        </p:nvSpPr>
        <p:spPr>
          <a:xfrm>
            <a:off x="7068312" y="341071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10 yd to small goal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A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A24D"/>
                </a:solidFill>
                <a:latin typeface="Calibri"/>
              </a:rPr>
              <a:t>SCRIMMAGE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Everyone Scores Celebration Game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Pre-K &amp; K  ·  35–45 MIN  ·  📏 20x15 yd, two small goals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Last small-sided game of the season. Every kid scores at least twice. Coach celebrates each goal like the World Cup final.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Have fun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Cheer for every goal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End the season smiling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SCRIMMAGE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3227832"/>
            <a:ext cx="73152" cy="502920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13648" y="3227832"/>
            <a:ext cx="73152" cy="502920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135624" y="2770632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5624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1" name="Oval 20"/>
          <p:cNvSpPr/>
          <p:nvPr/>
        </p:nvSpPr>
        <p:spPr>
          <a:xfrm>
            <a:off x="6378854" y="3922776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8854" y="3959352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3" name="Oval 22"/>
          <p:cNvSpPr/>
          <p:nvPr/>
        </p:nvSpPr>
        <p:spPr>
          <a:xfrm>
            <a:off x="7699248" y="2770632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99248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5" name="Oval 24"/>
          <p:cNvSpPr/>
          <p:nvPr/>
        </p:nvSpPr>
        <p:spPr>
          <a:xfrm>
            <a:off x="7942478" y="3922776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42478" y="3959352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7" name="Oval 26"/>
          <p:cNvSpPr/>
          <p:nvPr/>
        </p:nvSpPr>
        <p:spPr>
          <a:xfrm>
            <a:off x="7068312" y="341071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20x15 yd, two small goals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697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Grades 1–5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204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CFE8D5"/>
                </a:solidFill>
                <a:latin typeface="Calibri"/>
              </a:rPr>
              <a:t>Ages 6–11  ·  60 minutes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A623"/>
                </a:solidFill>
                <a:latin typeface="Calibri"/>
              </a:rPr>
              <a:t>OPENING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World Cup Knockout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Grades 1–5  ·  0–10 MIN  ·  📏 20x20 yd grid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Pairs play 1v1. Winner stays, loser is out. Tournament-style bracket. Players' favorite competitive game.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Compete on every play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Use moves from the season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Win the duel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OPENING GAME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3154680"/>
            <a:ext cx="73152" cy="640080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13648" y="3154680"/>
            <a:ext cx="73152" cy="640080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132320.0" y="1737360"/>
            <a:ext cx="0.0" cy="3474720"/>
          </a:xfrm>
          <a:prstGeom prst="line">
            <a:avLst/>
          </a:prstGeom>
          <a:ln w="1270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6031382" y="2770632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1382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3730752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376732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4" name="Oval 23"/>
          <p:cNvSpPr/>
          <p:nvPr/>
        </p:nvSpPr>
        <p:spPr>
          <a:xfrm>
            <a:off x="6656832" y="3154680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191256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6" name="Oval 25"/>
          <p:cNvSpPr/>
          <p:nvPr/>
        </p:nvSpPr>
        <p:spPr>
          <a:xfrm>
            <a:off x="6830568" y="430682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30568" y="434340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8" name="Oval 27"/>
          <p:cNvSpPr/>
          <p:nvPr/>
        </p:nvSpPr>
        <p:spPr>
          <a:xfrm>
            <a:off x="7977225" y="2770632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77225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0" name="Oval 29"/>
          <p:cNvSpPr/>
          <p:nvPr/>
        </p:nvSpPr>
        <p:spPr>
          <a:xfrm>
            <a:off x="7699248" y="3730752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99248" y="376732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2" name="Oval 31"/>
          <p:cNvSpPr/>
          <p:nvPr/>
        </p:nvSpPr>
        <p:spPr>
          <a:xfrm>
            <a:off x="7351776" y="3154680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51776" y="3191256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4" name="Oval 33"/>
          <p:cNvSpPr/>
          <p:nvPr/>
        </p:nvSpPr>
        <p:spPr>
          <a:xfrm>
            <a:off x="7178040" y="2386584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78040" y="242316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6" name="Oval 35"/>
          <p:cNvSpPr/>
          <p:nvPr/>
        </p:nvSpPr>
        <p:spPr>
          <a:xfrm>
            <a:off x="7068312" y="341071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20x20 yd grid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A90E2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Free Play with a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Grades 1–5  ·  10–30 MIN  ·  📏 Two halves of the 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Coach picks a theme from the season — passing, driving, finishing, 1v1, combinations — and players run through it one last time at full speed. Mastery rep.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Apply the season's skills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Game speed, game pressure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Coach-coach the rep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LESSON 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3154680"/>
            <a:ext cx="73152" cy="640080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13648" y="3154680"/>
            <a:ext cx="73152" cy="640080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135624" y="334670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5624" y="33832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GK</a:t>
            </a:r>
          </a:p>
        </p:txBody>
      </p:sp>
      <p:sp>
        <p:nvSpPr>
          <p:cNvPr id="21" name="Oval 20"/>
          <p:cNvSpPr/>
          <p:nvPr/>
        </p:nvSpPr>
        <p:spPr>
          <a:xfrm>
            <a:off x="6656832" y="2578608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2615184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Oval 22"/>
          <p:cNvSpPr/>
          <p:nvPr/>
        </p:nvSpPr>
        <p:spPr>
          <a:xfrm>
            <a:off x="6656832" y="4114800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56832" y="4151376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Oval 24"/>
          <p:cNvSpPr/>
          <p:nvPr/>
        </p:nvSpPr>
        <p:spPr>
          <a:xfrm>
            <a:off x="7178040" y="334670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78040" y="33832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27" name="Oval 26"/>
          <p:cNvSpPr/>
          <p:nvPr/>
        </p:nvSpPr>
        <p:spPr>
          <a:xfrm>
            <a:off x="7872984" y="334670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72984" y="33832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Two halves of the field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C5DFA"/>
                </a:solidFill>
                <a:latin typeface="Calibri"/>
              </a:rPr>
              <a:t>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Position-Based Play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Grades 1–5  ·  30–45 MIN  ·  📏 Half-field tactical zone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Quick chalk talk on positions — striker, midfielder, defender, goalie. Walk through where each goes. Players try a new position they haven't played.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Where do I go without the ball?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Stay in your position's zone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Learn a new role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LESSON 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3154680"/>
            <a:ext cx="73152" cy="640080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13648" y="3154680"/>
            <a:ext cx="73152" cy="640080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135624" y="334670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5624" y="33832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GK</a:t>
            </a:r>
          </a:p>
        </p:txBody>
      </p:sp>
      <p:sp>
        <p:nvSpPr>
          <p:cNvPr id="21" name="Oval 20"/>
          <p:cNvSpPr/>
          <p:nvPr/>
        </p:nvSpPr>
        <p:spPr>
          <a:xfrm>
            <a:off x="6656832" y="2578608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2615184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Oval 22"/>
          <p:cNvSpPr/>
          <p:nvPr/>
        </p:nvSpPr>
        <p:spPr>
          <a:xfrm>
            <a:off x="6656832" y="4114800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56832" y="4151376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Oval 24"/>
          <p:cNvSpPr/>
          <p:nvPr/>
        </p:nvSpPr>
        <p:spPr>
          <a:xfrm>
            <a:off x="7178040" y="334670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78040" y="33832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27" name="Oval 26"/>
          <p:cNvSpPr/>
          <p:nvPr/>
        </p:nvSpPr>
        <p:spPr>
          <a:xfrm>
            <a:off x="7872984" y="334670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72984" y="33832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Half-field tactical zone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A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A24D"/>
                </a:solidFill>
                <a:latin typeface="Calibri"/>
              </a:rPr>
              <a:t>SCRIMMAGE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Season Finale Scrimmage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Grades 1–5  ·  45–60 MIN  ·  📏 Full available field, two real goals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Final scrimmage. Real positions, real goals. Coach celebrates great moments throughout — passes, runs, defending, finishes. End-of-season vibes.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Apply everything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Play with joy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Celebrate teammates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SCRIMMAGE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3154680"/>
            <a:ext cx="73152" cy="640080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13648" y="3154680"/>
            <a:ext cx="73152" cy="640080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132320.0" y="1737360"/>
            <a:ext cx="0.0" cy="3474720"/>
          </a:xfrm>
          <a:prstGeom prst="line">
            <a:avLst/>
          </a:prstGeom>
          <a:ln w="1270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6031382" y="2770632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1382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3730752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376732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4" name="Oval 23"/>
          <p:cNvSpPr/>
          <p:nvPr/>
        </p:nvSpPr>
        <p:spPr>
          <a:xfrm>
            <a:off x="6656832" y="3154680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191256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6" name="Oval 25"/>
          <p:cNvSpPr/>
          <p:nvPr/>
        </p:nvSpPr>
        <p:spPr>
          <a:xfrm>
            <a:off x="6830568" y="430682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30568" y="434340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8" name="Oval 27"/>
          <p:cNvSpPr/>
          <p:nvPr/>
        </p:nvSpPr>
        <p:spPr>
          <a:xfrm>
            <a:off x="7977225" y="2770632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77225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0" name="Oval 29"/>
          <p:cNvSpPr/>
          <p:nvPr/>
        </p:nvSpPr>
        <p:spPr>
          <a:xfrm>
            <a:off x="7699248" y="3730752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99248" y="376732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2" name="Oval 31"/>
          <p:cNvSpPr/>
          <p:nvPr/>
        </p:nvSpPr>
        <p:spPr>
          <a:xfrm>
            <a:off x="7351776" y="3154680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51776" y="3191256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4" name="Oval 33"/>
          <p:cNvSpPr/>
          <p:nvPr/>
        </p:nvSpPr>
        <p:spPr>
          <a:xfrm>
            <a:off x="7178040" y="2386584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78040" y="242316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6" name="Oval 35"/>
          <p:cNvSpPr/>
          <p:nvPr/>
        </p:nvSpPr>
        <p:spPr>
          <a:xfrm>
            <a:off x="7068312" y="341071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Full available field, two real goals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