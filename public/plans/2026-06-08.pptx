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gradFill flip="none" rotWithShape="1">
            <a:gsLst>
              <a:gs pos="0">
                <a:srgbClr val="080D0A"/>
              </a:gs>
              <a:gs pos="100000">
                <a:srgbClr val="07140E"/>
              </a:gs>
            </a:gsLst>
            <a:lin ang="8100000" scaled="0"/>
          </a:gradFill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480000">
            <a:off x="7924648" y="-914400"/>
            <a:ext cx="6553047" cy="8686800"/>
          </a:xfrm>
          <a:gradFill flip="none" rotWithShape="1">
            <a:gsLst>
              <a:gs pos="0">
                <a:srgbClr val="145A2A"/>
              </a:gs>
              <a:gs pos="100000">
                <a:srgbClr val="22A24D"/>
              </a:gs>
            </a:gsLst>
            <a:lin ang="8100000" scaled="0"/>
          </a:gradFill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991295" y="3657600"/>
            <a:ext cx="3200400" cy="3200400"/>
          </a:xfrm>
          <a:prstGeom prst="ellipse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502920"/>
            <a:ext cx="3657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 spc="120">
                <a:solidFill>
                  <a:srgbClr val="4ADE80"/>
                </a:solidFill>
                <a:latin typeface="Calibri"/>
              </a:rPr>
              <a:t>qmtk Soccer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841248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400">
                <a:solidFill>
                  <a:srgbClr val="B4C3B8"/>
                </a:solidFill>
                <a:latin typeface="Calibri"/>
              </a:rPr>
              <a:t>COACH PLAYBOOK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377440"/>
            <a:ext cx="7772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 spc="400">
                <a:solidFill>
                  <a:srgbClr val="4ADE80"/>
                </a:solidFill>
                <a:latin typeface="Calibri"/>
              </a:rPr>
              <a:t>TRAINING SESSION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88920"/>
            <a:ext cx="86868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000" b="1" i="0">
                <a:solidFill>
                  <a:srgbClr val="FFFFFF"/>
                </a:solidFill>
                <a:latin typeface="Calibri"/>
              </a:rPr>
              <a:t>Week of June 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114800"/>
            <a:ext cx="8686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1">
                <a:solidFill>
                  <a:srgbClr val="4ADE80"/>
                </a:solidFill>
                <a:latin typeface="Calibri"/>
              </a:rPr>
              <a:t>Week 7 — Game Application &amp; Celebration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5120640"/>
            <a:ext cx="91440" cy="1005840"/>
          </a:xfrm>
          <a:prstGeom prst="rect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12064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 spc="300">
                <a:solidFill>
                  <a:srgbClr val="7B8A7F"/>
                </a:solidFill>
                <a:latin typeface="Calibri"/>
              </a:rPr>
              <a:t>LOCATION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54406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Sanborn Elementary School Lower Field, Andover, MA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580644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B4C3B8"/>
                </a:solidFill>
                <a:latin typeface="Calibri"/>
              </a:rPr>
              <a:t>5:50–6:50 PM (Mon &amp; Fri)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35508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250">
                <a:solidFill>
                  <a:srgbClr val="7B8A7F"/>
                </a:solidFill>
                <a:latin typeface="Calibri"/>
              </a:rPr>
              <a:t>qmtk.org  ·  Train Smart. Play Smart.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gradFill flip="none" rotWithShape="1">
            <a:gsLst>
              <a:gs pos="0">
                <a:srgbClr val="145A2A"/>
              </a:gs>
              <a:gs pos="100000">
                <a:srgbClr val="22A24D"/>
              </a:gs>
            </a:gsLst>
            <a:lin ang="8100000" scaled="0"/>
          </a:gradFill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0" y="457200"/>
            <a:ext cx="5029200" cy="5486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0" b="1" i="0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2743200"/>
            <a:ext cx="640080" cy="45720"/>
          </a:xfrm>
          <a:prstGeom prst="rect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880360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500">
                <a:solidFill>
                  <a:srgbClr val="4ADE80"/>
                </a:solidFill>
                <a:latin typeface="Calibri"/>
              </a:rPr>
              <a:t>SECTION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246120"/>
            <a:ext cx="100584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600" b="1" i="0">
                <a:solidFill>
                  <a:srgbClr val="FFFFFF"/>
                </a:solidFill>
                <a:latin typeface="Calibri"/>
              </a:rPr>
              <a:t>Pre-K &amp; Kindergarten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61772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1">
                <a:solidFill>
                  <a:srgbClr val="C5E8CE"/>
                </a:solidFill>
                <a:latin typeface="Calibri"/>
              </a:rPr>
              <a:t>Ages 3–5  ·  45 minute session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40080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200">
                <a:solidFill>
                  <a:srgbClr val="C5E8CE"/>
                </a:solidFill>
                <a:latin typeface="Calibri"/>
              </a:rPr>
              <a:t>qmtk Soccer · Coach Playbook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gradFill flip="none" rotWithShape="1">
            <a:gsLst>
              <a:gs pos="0">
                <a:srgbClr val="080D0A"/>
              </a:gs>
              <a:gs pos="100000">
                <a:srgbClr val="101812"/>
              </a:gs>
            </a:gsLst>
            <a:lin ang="8100000" scaled="0"/>
          </a:gradFill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9260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00">
                <a:solidFill>
                  <a:srgbClr val="4ADE80"/>
                </a:solidFill>
                <a:latin typeface="Calibri"/>
              </a:rPr>
              <a:t>qmtk Soccer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3035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 spc="400">
                <a:solidFill>
                  <a:srgbClr val="7B8A7F"/>
                </a:solidFill>
                <a:latin typeface="Calibri"/>
              </a:rPr>
              <a:t>COACH PLAYBOOK · PRE-K &amp; 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292608"/>
            <a:ext cx="1005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400" b="1" i="0">
                <a:solidFill>
                  <a:srgbClr val="B4C3B8"/>
                </a:solidFill>
                <a:latin typeface="Calibri"/>
              </a:rPr>
              <a:t>01.1  /  04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097280"/>
            <a:ext cx="1399540" cy="274320"/>
          </a:xfrm>
          <a:prstGeom prst="roundRect">
            <a:avLst>
              <a:gd name="adj" fmla="val 50000"/>
            </a:avLst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097280"/>
            <a:ext cx="13995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 spc="80">
                <a:solidFill>
                  <a:srgbClr val="080D0A"/>
                </a:solidFill>
                <a:latin typeface="Calibri"/>
              </a:rPr>
              <a:t>OPENING GAME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966468" y="1097280"/>
            <a:ext cx="992293" cy="274320"/>
          </a:xfrm>
          <a:prstGeom prst="roundRect">
            <a:avLst>
              <a:gd name="adj" fmla="val 50000"/>
            </a:avLst>
          </a:prstGeom>
          <a:solidFill>
            <a:srgbClr val="1822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966468" y="1097280"/>
            <a:ext cx="992293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 spc="80">
                <a:solidFill>
                  <a:srgbClr val="E8EDE9"/>
                </a:solidFill>
                <a:latin typeface="Calibri"/>
              </a:rPr>
              <a:t>0–10 MIN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068489" y="1097280"/>
            <a:ext cx="1618826" cy="274320"/>
          </a:xfrm>
          <a:prstGeom prst="roundRect">
            <a:avLst>
              <a:gd name="adj" fmla="val 50000"/>
            </a:avLst>
          </a:prstGeom>
          <a:solidFill>
            <a:srgbClr val="1822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68489" y="1097280"/>
            <a:ext cx="161882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 spc="80">
                <a:solidFill>
                  <a:srgbClr val="E8EDE9"/>
                </a:solidFill>
                <a:latin typeface="Calibri"/>
              </a:rPr>
              <a:t>📏  15x15 yd grid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1508760"/>
            <a:ext cx="77724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"/>
              </a:rPr>
              <a:t>Coach's Choice Warm-Up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331720"/>
            <a:ext cx="640080" cy="54864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2606040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400">
                <a:solidFill>
                  <a:srgbClr val="F5A623"/>
                </a:solidFill>
                <a:latin typeface="Calibri"/>
              </a:rPr>
              <a:t>THE DRILL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926080"/>
            <a:ext cx="512064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E8EDE9"/>
                </a:solidFill>
                <a:latin typeface="Calibri"/>
              </a:rPr>
              <a:t>Kids vote between Red Light Green Light, Follow the Coach, or Pass the Coach. Their favorite from the season. Big energy, big smiles.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800600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400">
                <a:solidFill>
                  <a:srgbClr val="F5A623"/>
                </a:solidFill>
                <a:latin typeface="Calibri"/>
              </a:rPr>
              <a:t>KEY COACHING CUES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166360"/>
            <a:ext cx="5120640" cy="1828800"/>
          </a:xfrm>
          <a:prstGeom prst="roundRect">
            <a:avLst>
              <a:gd name="adj" fmla="val 12000"/>
            </a:avLst>
          </a:prstGeom>
          <a:solidFill>
            <a:srgbClr val="18221B"/>
          </a:solidFill>
          <a:ln w="12700">
            <a:solidFill>
              <a:srgbClr val="1F2D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85800" y="5422392"/>
            <a:ext cx="109728" cy="109728"/>
          </a:xfrm>
          <a:prstGeom prst="ellipse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5349240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8EDE9"/>
                </a:solidFill>
                <a:latin typeface="Calibri"/>
              </a:rPr>
              <a:t>Touches on the ball</a:t>
            </a:r>
          </a:p>
        </p:txBody>
      </p:sp>
      <p:sp>
        <p:nvSpPr>
          <p:cNvPr id="21" name="Oval 20"/>
          <p:cNvSpPr/>
          <p:nvPr/>
        </p:nvSpPr>
        <p:spPr>
          <a:xfrm>
            <a:off x="685800" y="5843016"/>
            <a:ext cx="109728" cy="109728"/>
          </a:xfrm>
          <a:prstGeom prst="ellipse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5769864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8EDE9"/>
                </a:solidFill>
                <a:latin typeface="Calibri"/>
              </a:rPr>
              <a:t>Smiles and laughs</a:t>
            </a:r>
          </a:p>
        </p:txBody>
      </p:sp>
      <p:sp>
        <p:nvSpPr>
          <p:cNvPr id="23" name="Oval 22"/>
          <p:cNvSpPr/>
          <p:nvPr/>
        </p:nvSpPr>
        <p:spPr>
          <a:xfrm>
            <a:off x="685800" y="6263640"/>
            <a:ext cx="109728" cy="109728"/>
          </a:xfrm>
          <a:prstGeom prst="ellipse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6190488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8EDE9"/>
                </a:solidFill>
                <a:latin typeface="Calibri"/>
              </a:rPr>
              <a:t>Be ready to learn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715000" y="2468880"/>
            <a:ext cx="6126480" cy="3886200"/>
          </a:xfrm>
          <a:prstGeom prst="roundRect">
            <a:avLst>
              <a:gd name="adj" fmla="val 12000"/>
            </a:avLst>
          </a:prstGeom>
          <a:solidFill>
            <a:srgbClr val="18221B"/>
          </a:solidFill>
          <a:ln w="12700">
            <a:solidFill>
              <a:srgbClr val="1F2D23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852160" y="2606040"/>
            <a:ext cx="5852160" cy="3611880"/>
          </a:xfrm>
          <a:gradFill flip="none" rotWithShape="1">
            <a:gsLst>
              <a:gs pos="0">
                <a:srgbClr val="3E964F"/>
              </a:gs>
              <a:gs pos="100000">
                <a:srgbClr val="2A7037"/>
              </a:gs>
            </a:gsLst>
            <a:lin ang="8100000" scaled="0"/>
          </a:gradFill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996635" y="2750515"/>
            <a:ext cx="5563210" cy="3322930"/>
          </a:xfrm>
          <a:prstGeom prst="rect">
            <a:avLst/>
          </a:prstGeom>
          <a:noFill/>
          <a:ln w="25400">
            <a:solidFill>
              <a:srgbClr val="FFFFFF"/>
            </a:solidFill>
            <a:prstDash val="lg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759244" y="3723894"/>
            <a:ext cx="292608" cy="292608"/>
          </a:xfrm>
          <a:prstGeom prst="ellipse">
            <a:avLst/>
          </a:prstGeom>
          <a:solidFill>
            <a:srgbClr val="F5A623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59244" y="3767786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P</a:t>
            </a:r>
          </a:p>
        </p:txBody>
      </p:sp>
      <p:sp>
        <p:nvSpPr>
          <p:cNvPr id="30" name="Oval 29"/>
          <p:cNvSpPr/>
          <p:nvPr/>
        </p:nvSpPr>
        <p:spPr>
          <a:xfrm>
            <a:off x="6827824" y="3993642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80D0A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870573" y="4036391"/>
            <a:ext cx="69950" cy="69950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759244" y="4879695"/>
            <a:ext cx="292608" cy="292608"/>
          </a:xfrm>
          <a:prstGeom prst="ellipse">
            <a:avLst/>
          </a:prstGeom>
          <a:solidFill>
            <a:srgbClr val="F5A623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759244" y="4923587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P</a:t>
            </a:r>
          </a:p>
        </p:txBody>
      </p:sp>
      <p:sp>
        <p:nvSpPr>
          <p:cNvPr id="34" name="Oval 33"/>
          <p:cNvSpPr/>
          <p:nvPr/>
        </p:nvSpPr>
        <p:spPr>
          <a:xfrm>
            <a:off x="6827824" y="5149443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80D0A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6870573" y="5192192"/>
            <a:ext cx="69950" cy="69950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7988198" y="3723894"/>
            <a:ext cx="292608" cy="292608"/>
          </a:xfrm>
          <a:prstGeom prst="ellipse">
            <a:avLst/>
          </a:prstGeom>
          <a:solidFill>
            <a:srgbClr val="F5A623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988198" y="3767786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P</a:t>
            </a:r>
          </a:p>
        </p:txBody>
      </p:sp>
      <p:sp>
        <p:nvSpPr>
          <p:cNvPr id="38" name="Oval 37"/>
          <p:cNvSpPr/>
          <p:nvPr/>
        </p:nvSpPr>
        <p:spPr>
          <a:xfrm>
            <a:off x="8056778" y="3993642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80D0A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8099527" y="4036391"/>
            <a:ext cx="69950" cy="69950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988198" y="4879695"/>
            <a:ext cx="292608" cy="292608"/>
          </a:xfrm>
          <a:prstGeom prst="ellipse">
            <a:avLst/>
          </a:prstGeom>
          <a:solidFill>
            <a:srgbClr val="F5A623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988198" y="4923587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P</a:t>
            </a:r>
          </a:p>
        </p:txBody>
      </p:sp>
      <p:sp>
        <p:nvSpPr>
          <p:cNvPr id="42" name="Oval 41"/>
          <p:cNvSpPr/>
          <p:nvPr/>
        </p:nvSpPr>
        <p:spPr>
          <a:xfrm>
            <a:off x="8056778" y="5149443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80D0A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8099527" y="5192192"/>
            <a:ext cx="69950" cy="69950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9217152" y="3723894"/>
            <a:ext cx="292608" cy="292608"/>
          </a:xfrm>
          <a:prstGeom prst="ellipse">
            <a:avLst/>
          </a:prstGeom>
          <a:solidFill>
            <a:srgbClr val="F5A623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217152" y="3767786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P</a:t>
            </a:r>
          </a:p>
        </p:txBody>
      </p:sp>
      <p:sp>
        <p:nvSpPr>
          <p:cNvPr id="46" name="Oval 45"/>
          <p:cNvSpPr/>
          <p:nvPr/>
        </p:nvSpPr>
        <p:spPr>
          <a:xfrm>
            <a:off x="9285732" y="3993642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80D0A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9328481" y="4036391"/>
            <a:ext cx="69950" cy="69950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9217152" y="4879695"/>
            <a:ext cx="292608" cy="292608"/>
          </a:xfrm>
          <a:prstGeom prst="ellipse">
            <a:avLst/>
          </a:prstGeom>
          <a:solidFill>
            <a:srgbClr val="F5A623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217152" y="4923587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P</a:t>
            </a:r>
          </a:p>
        </p:txBody>
      </p:sp>
      <p:sp>
        <p:nvSpPr>
          <p:cNvPr id="50" name="Oval 49"/>
          <p:cNvSpPr/>
          <p:nvPr/>
        </p:nvSpPr>
        <p:spPr>
          <a:xfrm>
            <a:off x="9285732" y="5149443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80D0A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9328481" y="5192192"/>
            <a:ext cx="69950" cy="69950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10446105" y="3723894"/>
            <a:ext cx="292608" cy="292608"/>
          </a:xfrm>
          <a:prstGeom prst="ellipse">
            <a:avLst/>
          </a:prstGeom>
          <a:solidFill>
            <a:srgbClr val="F5A623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0446105" y="3767786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P</a:t>
            </a:r>
          </a:p>
        </p:txBody>
      </p:sp>
      <p:sp>
        <p:nvSpPr>
          <p:cNvPr id="54" name="Oval 53"/>
          <p:cNvSpPr/>
          <p:nvPr/>
        </p:nvSpPr>
        <p:spPr>
          <a:xfrm>
            <a:off x="10514685" y="3993642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80D0A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10557434" y="4036391"/>
            <a:ext cx="69950" cy="69950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10446105" y="4879695"/>
            <a:ext cx="292608" cy="292608"/>
          </a:xfrm>
          <a:prstGeom prst="ellipse">
            <a:avLst/>
          </a:prstGeom>
          <a:solidFill>
            <a:srgbClr val="F5A623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0446105" y="4923587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P</a:t>
            </a:r>
          </a:p>
        </p:txBody>
      </p:sp>
      <p:sp>
        <p:nvSpPr>
          <p:cNvPr id="58" name="Oval 57"/>
          <p:cNvSpPr/>
          <p:nvPr/>
        </p:nvSpPr>
        <p:spPr>
          <a:xfrm>
            <a:off x="10514685" y="5149443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80D0A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10557434" y="5192192"/>
            <a:ext cx="69950" cy="69950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5852160" y="5925312"/>
            <a:ext cx="5852160" cy="292608"/>
          </a:xfrm>
          <a:prstGeom prst="rect">
            <a:avLst/>
          </a:prstGeom>
          <a:solidFill>
            <a:srgbClr val="080D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989320" y="5925312"/>
            <a:ext cx="557784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 spc="50">
                <a:solidFill>
                  <a:srgbClr val="E8EDE9"/>
                </a:solidFill>
                <a:latin typeface="Calibri"/>
              </a:rPr>
              <a:t>📏  15x15 yd grid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989320" y="5925312"/>
            <a:ext cx="557784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1" i="0" spc="80">
                <a:solidFill>
                  <a:srgbClr val="F5A623"/>
                </a:solidFill>
                <a:latin typeface="Calibri"/>
              </a:rPr>
              <a:t>OPENING GAME</a:t>
            </a:r>
          </a:p>
        </p:txBody>
      </p:sp>
      <p:sp>
        <p:nvSpPr>
          <p:cNvPr id="63" name="Oval 62"/>
          <p:cNvSpPr/>
          <p:nvPr/>
        </p:nvSpPr>
        <p:spPr>
          <a:xfrm>
            <a:off x="5852160" y="6547104"/>
            <a:ext cx="164592" cy="164592"/>
          </a:xfrm>
          <a:prstGeom prst="ellipse">
            <a:avLst/>
          </a:prstGeom>
          <a:solidFill>
            <a:srgbClr val="F5A623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0533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Player A / Attacker</a:t>
            </a:r>
          </a:p>
        </p:txBody>
      </p:sp>
      <p:sp>
        <p:nvSpPr>
          <p:cNvPr id="65" name="Oval 64"/>
          <p:cNvSpPr/>
          <p:nvPr/>
        </p:nvSpPr>
        <p:spPr>
          <a:xfrm>
            <a:off x="7223760" y="6547104"/>
            <a:ext cx="164592" cy="164592"/>
          </a:xfrm>
          <a:prstGeom prst="ellipse">
            <a:avLst/>
          </a:prstGeom>
          <a:solidFill>
            <a:srgbClr val="4A90E2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4249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Player B / Receiver</a:t>
            </a:r>
          </a:p>
        </p:txBody>
      </p:sp>
      <p:sp>
        <p:nvSpPr>
          <p:cNvPr id="67" name="Oval 66"/>
          <p:cNvSpPr/>
          <p:nvPr/>
        </p:nvSpPr>
        <p:spPr>
          <a:xfrm>
            <a:off x="8595360" y="6547104"/>
            <a:ext cx="164592" cy="164592"/>
          </a:xfrm>
          <a:prstGeom prst="ellipse">
            <a:avLst/>
          </a:prstGeom>
          <a:solidFill>
            <a:srgbClr val="FF6B6B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87965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Defender</a:t>
            </a:r>
          </a:p>
        </p:txBody>
      </p:sp>
      <p:sp>
        <p:nvSpPr>
          <p:cNvPr id="69" name="Oval 68"/>
          <p:cNvSpPr/>
          <p:nvPr/>
        </p:nvSpPr>
        <p:spPr>
          <a:xfrm>
            <a:off x="9966960" y="6547104"/>
            <a:ext cx="164592" cy="164592"/>
          </a:xfrm>
          <a:prstGeom prst="ellipse">
            <a:avLst/>
          </a:prstGeom>
          <a:solidFill>
            <a:srgbClr val="FFFFFF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01681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Ball</a:t>
            </a:r>
          </a:p>
        </p:txBody>
      </p:sp>
      <p:sp>
        <p:nvSpPr>
          <p:cNvPr id="71" name="Rectangle 70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018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7200" y="653796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 spc="200">
                <a:solidFill>
                  <a:srgbClr val="7B8A7F"/>
                </a:solidFill>
                <a:latin typeface="Calibri"/>
              </a:rPr>
              <a:t>qmtk Soccer · Coach Playbook · Pre-K &amp; K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905695" y="6537960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 spc="200">
                <a:solidFill>
                  <a:srgbClr val="7B8A7F"/>
                </a:solidFill>
                <a:latin typeface="Calibri"/>
              </a:rPr>
              <a:t>qmtk.org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gradFill flip="none" rotWithShape="1">
            <a:gsLst>
              <a:gs pos="0">
                <a:srgbClr val="080D0A"/>
              </a:gs>
              <a:gs pos="100000">
                <a:srgbClr val="101812"/>
              </a:gs>
            </a:gsLst>
            <a:lin ang="8100000" scaled="0"/>
          </a:gradFill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A90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9260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00">
                <a:solidFill>
                  <a:srgbClr val="4ADE80"/>
                </a:solidFill>
                <a:latin typeface="Calibri"/>
              </a:rPr>
              <a:t>qmtk Soccer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3035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 spc="400">
                <a:solidFill>
                  <a:srgbClr val="7B8A7F"/>
                </a:solidFill>
                <a:latin typeface="Calibri"/>
              </a:rPr>
              <a:t>COACH PLAYBOOK · PRE-K &amp; 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292608"/>
            <a:ext cx="1005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400" b="1" i="0">
                <a:solidFill>
                  <a:srgbClr val="B4C3B8"/>
                </a:solidFill>
                <a:latin typeface="Calibri"/>
              </a:rPr>
              <a:t>01.2  /  04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097280"/>
            <a:ext cx="1054946" cy="274320"/>
          </a:xfrm>
          <a:prstGeom prst="roundRect">
            <a:avLst>
              <a:gd name="adj" fmla="val 50000"/>
            </a:avLst>
          </a:prstGeom>
          <a:solidFill>
            <a:srgbClr val="4A90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097280"/>
            <a:ext cx="105494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 spc="80">
                <a:solidFill>
                  <a:srgbClr val="080D0A"/>
                </a:solidFill>
                <a:latin typeface="Calibri"/>
              </a:rPr>
              <a:t>LESSON 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621874" y="1097280"/>
            <a:ext cx="1070610" cy="274320"/>
          </a:xfrm>
          <a:prstGeom prst="roundRect">
            <a:avLst>
              <a:gd name="adj" fmla="val 50000"/>
            </a:avLst>
          </a:prstGeom>
          <a:solidFill>
            <a:srgbClr val="1822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21874" y="1097280"/>
            <a:ext cx="107061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 spc="80">
                <a:solidFill>
                  <a:srgbClr val="E8EDE9"/>
                </a:solidFill>
                <a:latin typeface="Calibri"/>
              </a:rPr>
              <a:t>10–25 MIN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02212" y="1097280"/>
            <a:ext cx="2715260" cy="274320"/>
          </a:xfrm>
          <a:prstGeom prst="roundRect">
            <a:avLst>
              <a:gd name="adj" fmla="val 50000"/>
            </a:avLst>
          </a:prstGeom>
          <a:solidFill>
            <a:srgbClr val="1822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02212" y="1097280"/>
            <a:ext cx="27152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 spc="80">
                <a:solidFill>
                  <a:srgbClr val="E8EDE9"/>
                </a:solidFill>
                <a:latin typeface="Calibri"/>
              </a:rPr>
              <a:t>📏  Personal space, 1 ball each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1508760"/>
            <a:ext cx="77724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"/>
              </a:rPr>
              <a:t>Skills Showcase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331720"/>
            <a:ext cx="640080" cy="54864"/>
          </a:xfrm>
          <a:prstGeom prst="rect">
            <a:avLst/>
          </a:prstGeom>
          <a:solidFill>
            <a:srgbClr val="4A90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2606040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400">
                <a:solidFill>
                  <a:srgbClr val="4A90E2"/>
                </a:solidFill>
                <a:latin typeface="Calibri"/>
              </a:rPr>
              <a:t>THE DRILL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926080"/>
            <a:ext cx="512064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E8EDE9"/>
                </a:solidFill>
                <a:latin typeface="Calibri"/>
              </a:rPr>
              <a:t>Kids show what they've learned: toe taps, stops, passes. Coach calls out names and gives every kid a "superstar move" to perform. Confidence builder.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800600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400">
                <a:solidFill>
                  <a:srgbClr val="4A90E2"/>
                </a:solidFill>
                <a:latin typeface="Calibri"/>
              </a:rPr>
              <a:t>KEY COACHING CUES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166360"/>
            <a:ext cx="5120640" cy="1828800"/>
          </a:xfrm>
          <a:prstGeom prst="roundRect">
            <a:avLst>
              <a:gd name="adj" fmla="val 12000"/>
            </a:avLst>
          </a:prstGeom>
          <a:solidFill>
            <a:srgbClr val="18221B"/>
          </a:solidFill>
          <a:ln w="12700">
            <a:solidFill>
              <a:srgbClr val="1F2D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85800" y="5422392"/>
            <a:ext cx="109728" cy="109728"/>
          </a:xfrm>
          <a:prstGeom prst="ellipse">
            <a:avLst/>
          </a:prstGeom>
          <a:solidFill>
            <a:srgbClr val="4A90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5349240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8EDE9"/>
                </a:solidFill>
                <a:latin typeface="Calibri"/>
              </a:rPr>
              <a:t>Try your favorite skill</a:t>
            </a:r>
          </a:p>
        </p:txBody>
      </p:sp>
      <p:sp>
        <p:nvSpPr>
          <p:cNvPr id="21" name="Oval 20"/>
          <p:cNvSpPr/>
          <p:nvPr/>
        </p:nvSpPr>
        <p:spPr>
          <a:xfrm>
            <a:off x="685800" y="5843016"/>
            <a:ext cx="109728" cy="109728"/>
          </a:xfrm>
          <a:prstGeom prst="ellipse">
            <a:avLst/>
          </a:prstGeom>
          <a:solidFill>
            <a:srgbClr val="4A90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5769864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8EDE9"/>
                </a:solidFill>
                <a:latin typeface="Calibri"/>
              </a:rPr>
              <a:t>Show off — it's okay!</a:t>
            </a:r>
          </a:p>
        </p:txBody>
      </p:sp>
      <p:sp>
        <p:nvSpPr>
          <p:cNvPr id="23" name="Oval 22"/>
          <p:cNvSpPr/>
          <p:nvPr/>
        </p:nvSpPr>
        <p:spPr>
          <a:xfrm>
            <a:off x="685800" y="6263640"/>
            <a:ext cx="109728" cy="109728"/>
          </a:xfrm>
          <a:prstGeom prst="ellipse">
            <a:avLst/>
          </a:prstGeom>
          <a:solidFill>
            <a:srgbClr val="4A90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6190488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8EDE9"/>
                </a:solidFill>
                <a:latin typeface="Calibri"/>
              </a:rPr>
              <a:t>Cheer for each other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715000" y="2468880"/>
            <a:ext cx="6126480" cy="3886200"/>
          </a:xfrm>
          <a:prstGeom prst="roundRect">
            <a:avLst>
              <a:gd name="adj" fmla="val 12000"/>
            </a:avLst>
          </a:prstGeom>
          <a:solidFill>
            <a:srgbClr val="18221B"/>
          </a:solidFill>
          <a:ln w="12700">
            <a:solidFill>
              <a:srgbClr val="1F2D23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852160" y="2606040"/>
            <a:ext cx="5852160" cy="3611880"/>
          </a:xfrm>
          <a:gradFill flip="none" rotWithShape="1">
            <a:gsLst>
              <a:gs pos="0">
                <a:srgbClr val="3E964F"/>
              </a:gs>
              <a:gs pos="100000">
                <a:srgbClr val="2A7037"/>
              </a:gs>
            </a:gsLst>
            <a:lin ang="8100000" scaled="0"/>
          </a:gradFill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996635" y="2750515"/>
            <a:ext cx="5563210" cy="3322930"/>
          </a:xfrm>
          <a:prstGeom prst="rect">
            <a:avLst/>
          </a:prstGeom>
          <a:noFill/>
          <a:ln w="25400">
            <a:solidFill>
              <a:srgbClr val="FFFFFF"/>
            </a:solidFill>
            <a:prstDash val="lg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759244" y="3723894"/>
            <a:ext cx="292608" cy="292608"/>
          </a:xfrm>
          <a:prstGeom prst="ellipse">
            <a:avLst/>
          </a:prstGeom>
          <a:solidFill>
            <a:srgbClr val="F5A623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59244" y="3767786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P</a:t>
            </a:r>
          </a:p>
        </p:txBody>
      </p:sp>
      <p:sp>
        <p:nvSpPr>
          <p:cNvPr id="30" name="Oval 29"/>
          <p:cNvSpPr/>
          <p:nvPr/>
        </p:nvSpPr>
        <p:spPr>
          <a:xfrm>
            <a:off x="6827824" y="3993642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80D0A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870573" y="4036391"/>
            <a:ext cx="69950" cy="69950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759244" y="4879695"/>
            <a:ext cx="292608" cy="292608"/>
          </a:xfrm>
          <a:prstGeom prst="ellipse">
            <a:avLst/>
          </a:prstGeom>
          <a:solidFill>
            <a:srgbClr val="F5A623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759244" y="4923587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P</a:t>
            </a:r>
          </a:p>
        </p:txBody>
      </p:sp>
      <p:sp>
        <p:nvSpPr>
          <p:cNvPr id="34" name="Oval 33"/>
          <p:cNvSpPr/>
          <p:nvPr/>
        </p:nvSpPr>
        <p:spPr>
          <a:xfrm>
            <a:off x="6827824" y="5149443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80D0A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6870573" y="5192192"/>
            <a:ext cx="69950" cy="69950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7988198" y="3723894"/>
            <a:ext cx="292608" cy="292608"/>
          </a:xfrm>
          <a:prstGeom prst="ellipse">
            <a:avLst/>
          </a:prstGeom>
          <a:solidFill>
            <a:srgbClr val="F5A623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988198" y="3767786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P</a:t>
            </a:r>
          </a:p>
        </p:txBody>
      </p:sp>
      <p:sp>
        <p:nvSpPr>
          <p:cNvPr id="38" name="Oval 37"/>
          <p:cNvSpPr/>
          <p:nvPr/>
        </p:nvSpPr>
        <p:spPr>
          <a:xfrm>
            <a:off x="8056778" y="3993642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80D0A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8099527" y="4036391"/>
            <a:ext cx="69950" cy="69950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988198" y="4879695"/>
            <a:ext cx="292608" cy="292608"/>
          </a:xfrm>
          <a:prstGeom prst="ellipse">
            <a:avLst/>
          </a:prstGeom>
          <a:solidFill>
            <a:srgbClr val="F5A623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988198" y="4923587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P</a:t>
            </a:r>
          </a:p>
        </p:txBody>
      </p:sp>
      <p:sp>
        <p:nvSpPr>
          <p:cNvPr id="42" name="Oval 41"/>
          <p:cNvSpPr/>
          <p:nvPr/>
        </p:nvSpPr>
        <p:spPr>
          <a:xfrm>
            <a:off x="8056778" y="5149443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80D0A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8099527" y="5192192"/>
            <a:ext cx="69950" cy="69950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9217152" y="3723894"/>
            <a:ext cx="292608" cy="292608"/>
          </a:xfrm>
          <a:prstGeom prst="ellipse">
            <a:avLst/>
          </a:prstGeom>
          <a:solidFill>
            <a:srgbClr val="F5A623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217152" y="3767786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P</a:t>
            </a:r>
          </a:p>
        </p:txBody>
      </p:sp>
      <p:sp>
        <p:nvSpPr>
          <p:cNvPr id="46" name="Oval 45"/>
          <p:cNvSpPr/>
          <p:nvPr/>
        </p:nvSpPr>
        <p:spPr>
          <a:xfrm>
            <a:off x="9285732" y="3993642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80D0A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9328481" y="4036391"/>
            <a:ext cx="69950" cy="69950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9217152" y="4879695"/>
            <a:ext cx="292608" cy="292608"/>
          </a:xfrm>
          <a:prstGeom prst="ellipse">
            <a:avLst/>
          </a:prstGeom>
          <a:solidFill>
            <a:srgbClr val="F5A623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217152" y="4923587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P</a:t>
            </a:r>
          </a:p>
        </p:txBody>
      </p:sp>
      <p:sp>
        <p:nvSpPr>
          <p:cNvPr id="50" name="Oval 49"/>
          <p:cNvSpPr/>
          <p:nvPr/>
        </p:nvSpPr>
        <p:spPr>
          <a:xfrm>
            <a:off x="9285732" y="5149443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80D0A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9328481" y="5192192"/>
            <a:ext cx="69950" cy="69950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10446105" y="3723894"/>
            <a:ext cx="292608" cy="292608"/>
          </a:xfrm>
          <a:prstGeom prst="ellipse">
            <a:avLst/>
          </a:prstGeom>
          <a:solidFill>
            <a:srgbClr val="F5A623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0446105" y="3767786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P</a:t>
            </a:r>
          </a:p>
        </p:txBody>
      </p:sp>
      <p:sp>
        <p:nvSpPr>
          <p:cNvPr id="54" name="Oval 53"/>
          <p:cNvSpPr/>
          <p:nvPr/>
        </p:nvSpPr>
        <p:spPr>
          <a:xfrm>
            <a:off x="10514685" y="3993642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80D0A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10557434" y="4036391"/>
            <a:ext cx="69950" cy="69950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10446105" y="4879695"/>
            <a:ext cx="292608" cy="292608"/>
          </a:xfrm>
          <a:prstGeom prst="ellipse">
            <a:avLst/>
          </a:prstGeom>
          <a:solidFill>
            <a:srgbClr val="F5A623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0446105" y="4923587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P</a:t>
            </a:r>
          </a:p>
        </p:txBody>
      </p:sp>
      <p:sp>
        <p:nvSpPr>
          <p:cNvPr id="58" name="Oval 57"/>
          <p:cNvSpPr/>
          <p:nvPr/>
        </p:nvSpPr>
        <p:spPr>
          <a:xfrm>
            <a:off x="10514685" y="5149443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80D0A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10557434" y="5192192"/>
            <a:ext cx="69950" cy="69950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5852160" y="5925312"/>
            <a:ext cx="5852160" cy="292608"/>
          </a:xfrm>
          <a:prstGeom prst="rect">
            <a:avLst/>
          </a:prstGeom>
          <a:solidFill>
            <a:srgbClr val="080D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989320" y="5925312"/>
            <a:ext cx="557784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 spc="50">
                <a:solidFill>
                  <a:srgbClr val="E8EDE9"/>
                </a:solidFill>
                <a:latin typeface="Calibri"/>
              </a:rPr>
              <a:t>📏  Personal space, 1 ball each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989320" y="5925312"/>
            <a:ext cx="557784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1" i="0" spc="80">
                <a:solidFill>
                  <a:srgbClr val="4A90E2"/>
                </a:solidFill>
                <a:latin typeface="Calibri"/>
              </a:rPr>
              <a:t>LESSON 1</a:t>
            </a:r>
          </a:p>
        </p:txBody>
      </p:sp>
      <p:sp>
        <p:nvSpPr>
          <p:cNvPr id="63" name="Oval 62"/>
          <p:cNvSpPr/>
          <p:nvPr/>
        </p:nvSpPr>
        <p:spPr>
          <a:xfrm>
            <a:off x="5852160" y="6547104"/>
            <a:ext cx="164592" cy="164592"/>
          </a:xfrm>
          <a:prstGeom prst="ellipse">
            <a:avLst/>
          </a:prstGeom>
          <a:solidFill>
            <a:srgbClr val="F5A623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0533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Player A / Attacker</a:t>
            </a:r>
          </a:p>
        </p:txBody>
      </p:sp>
      <p:sp>
        <p:nvSpPr>
          <p:cNvPr id="65" name="Oval 64"/>
          <p:cNvSpPr/>
          <p:nvPr/>
        </p:nvSpPr>
        <p:spPr>
          <a:xfrm>
            <a:off x="7223760" y="6547104"/>
            <a:ext cx="164592" cy="164592"/>
          </a:xfrm>
          <a:prstGeom prst="ellipse">
            <a:avLst/>
          </a:prstGeom>
          <a:solidFill>
            <a:srgbClr val="4A90E2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4249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Player B / Receiver</a:t>
            </a:r>
          </a:p>
        </p:txBody>
      </p:sp>
      <p:sp>
        <p:nvSpPr>
          <p:cNvPr id="67" name="Oval 66"/>
          <p:cNvSpPr/>
          <p:nvPr/>
        </p:nvSpPr>
        <p:spPr>
          <a:xfrm>
            <a:off x="8595360" y="6547104"/>
            <a:ext cx="164592" cy="164592"/>
          </a:xfrm>
          <a:prstGeom prst="ellipse">
            <a:avLst/>
          </a:prstGeom>
          <a:solidFill>
            <a:srgbClr val="FF6B6B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87965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Defender</a:t>
            </a:r>
          </a:p>
        </p:txBody>
      </p:sp>
      <p:sp>
        <p:nvSpPr>
          <p:cNvPr id="69" name="Oval 68"/>
          <p:cNvSpPr/>
          <p:nvPr/>
        </p:nvSpPr>
        <p:spPr>
          <a:xfrm>
            <a:off x="9966960" y="6547104"/>
            <a:ext cx="164592" cy="164592"/>
          </a:xfrm>
          <a:prstGeom prst="ellipse">
            <a:avLst/>
          </a:prstGeom>
          <a:solidFill>
            <a:srgbClr val="FFFFFF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01681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Ball</a:t>
            </a:r>
          </a:p>
        </p:txBody>
      </p:sp>
      <p:sp>
        <p:nvSpPr>
          <p:cNvPr id="71" name="Rectangle 70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018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7200" y="653796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 spc="200">
                <a:solidFill>
                  <a:srgbClr val="7B8A7F"/>
                </a:solidFill>
                <a:latin typeface="Calibri"/>
              </a:rPr>
              <a:t>qmtk Soccer · Coach Playbook · Pre-K &amp; K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905695" y="6537960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 spc="200">
                <a:solidFill>
                  <a:srgbClr val="7B8A7F"/>
                </a:solidFill>
                <a:latin typeface="Calibri"/>
              </a:rPr>
              <a:t>qmtk.org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gradFill flip="none" rotWithShape="1">
            <a:gsLst>
              <a:gs pos="0">
                <a:srgbClr val="080D0A"/>
              </a:gs>
              <a:gs pos="100000">
                <a:srgbClr val="101812"/>
              </a:gs>
            </a:gsLst>
            <a:lin ang="8100000" scaled="0"/>
          </a:gradFill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7C5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9260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00">
                <a:solidFill>
                  <a:srgbClr val="4ADE80"/>
                </a:solidFill>
                <a:latin typeface="Calibri"/>
              </a:rPr>
              <a:t>qmtk Soccer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3035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 spc="400">
                <a:solidFill>
                  <a:srgbClr val="7B8A7F"/>
                </a:solidFill>
                <a:latin typeface="Calibri"/>
              </a:rPr>
              <a:t>COACH PLAYBOOK · PRE-K &amp; 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292608"/>
            <a:ext cx="1005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400" b="1" i="0">
                <a:solidFill>
                  <a:srgbClr val="B4C3B8"/>
                </a:solidFill>
                <a:latin typeface="Calibri"/>
              </a:rPr>
              <a:t>01.3  /  04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097280"/>
            <a:ext cx="1054946" cy="274320"/>
          </a:xfrm>
          <a:prstGeom prst="roundRect">
            <a:avLst>
              <a:gd name="adj" fmla="val 50000"/>
            </a:avLst>
          </a:prstGeom>
          <a:solidFill>
            <a:srgbClr val="7C5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097280"/>
            <a:ext cx="105494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 spc="80">
                <a:solidFill>
                  <a:srgbClr val="080D0A"/>
                </a:solidFill>
                <a:latin typeface="Calibri"/>
              </a:rPr>
              <a:t>LESSON 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621874" y="1097280"/>
            <a:ext cx="1070610" cy="274320"/>
          </a:xfrm>
          <a:prstGeom prst="roundRect">
            <a:avLst>
              <a:gd name="adj" fmla="val 50000"/>
            </a:avLst>
          </a:prstGeom>
          <a:solidFill>
            <a:srgbClr val="1822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21874" y="1097280"/>
            <a:ext cx="107061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 spc="80">
                <a:solidFill>
                  <a:srgbClr val="E8EDE9"/>
                </a:solidFill>
                <a:latin typeface="Calibri"/>
              </a:rPr>
              <a:t>25–35 MIN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02212" y="1097280"/>
            <a:ext cx="2088726" cy="274320"/>
          </a:xfrm>
          <a:prstGeom prst="roundRect">
            <a:avLst>
              <a:gd name="adj" fmla="val 50000"/>
            </a:avLst>
          </a:prstGeom>
          <a:solidFill>
            <a:srgbClr val="1822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02212" y="1097280"/>
            <a:ext cx="208872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 spc="80">
                <a:solidFill>
                  <a:srgbClr val="E8EDE9"/>
                </a:solidFill>
                <a:latin typeface="Calibri"/>
              </a:rPr>
              <a:t>📏  10 yd to small goal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1508760"/>
            <a:ext cx="77724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"/>
              </a:rPr>
              <a:t>Pass &amp; Shoot Combo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331720"/>
            <a:ext cx="640080" cy="54864"/>
          </a:xfrm>
          <a:prstGeom prst="rect">
            <a:avLst/>
          </a:prstGeom>
          <a:solidFill>
            <a:srgbClr val="7C5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2606040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400">
                <a:solidFill>
                  <a:srgbClr val="7C5DFA"/>
                </a:solidFill>
                <a:latin typeface="Calibri"/>
              </a:rPr>
              <a:t>THE DRILL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926080"/>
            <a:ext cx="512064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E8EDE9"/>
                </a:solidFill>
                <a:latin typeface="Calibri"/>
              </a:rPr>
              <a:t>Pass to coach, coach passes back, player shoots at the goal. Combines passing and shooting from the season. Lots of celebrations.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800600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400">
                <a:solidFill>
                  <a:srgbClr val="7C5DFA"/>
                </a:solidFill>
                <a:latin typeface="Calibri"/>
              </a:rPr>
              <a:t>KEY COACHING CUES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166360"/>
            <a:ext cx="5120640" cy="1828800"/>
          </a:xfrm>
          <a:prstGeom prst="roundRect">
            <a:avLst>
              <a:gd name="adj" fmla="val 12000"/>
            </a:avLst>
          </a:prstGeom>
          <a:solidFill>
            <a:srgbClr val="18221B"/>
          </a:solidFill>
          <a:ln w="12700">
            <a:solidFill>
              <a:srgbClr val="1F2D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85800" y="5422392"/>
            <a:ext cx="109728" cy="109728"/>
          </a:xfrm>
          <a:prstGeom prst="ellipse">
            <a:avLst/>
          </a:prstGeom>
          <a:solidFill>
            <a:srgbClr val="7C5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5349240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8EDE9"/>
                </a:solidFill>
                <a:latin typeface="Calibri"/>
              </a:rPr>
              <a:t>Pass first, then shoot</a:t>
            </a:r>
          </a:p>
        </p:txBody>
      </p:sp>
      <p:sp>
        <p:nvSpPr>
          <p:cNvPr id="21" name="Oval 20"/>
          <p:cNvSpPr/>
          <p:nvPr/>
        </p:nvSpPr>
        <p:spPr>
          <a:xfrm>
            <a:off x="685800" y="5843016"/>
            <a:ext cx="109728" cy="109728"/>
          </a:xfrm>
          <a:prstGeom prst="ellipse">
            <a:avLst/>
          </a:prstGeom>
          <a:solidFill>
            <a:srgbClr val="7C5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5769864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8EDE9"/>
                </a:solidFill>
                <a:latin typeface="Calibri"/>
              </a:rPr>
              <a:t>Take the shot when it comes</a:t>
            </a:r>
          </a:p>
        </p:txBody>
      </p:sp>
      <p:sp>
        <p:nvSpPr>
          <p:cNvPr id="23" name="Oval 22"/>
          <p:cNvSpPr/>
          <p:nvPr/>
        </p:nvSpPr>
        <p:spPr>
          <a:xfrm>
            <a:off x="685800" y="6263640"/>
            <a:ext cx="109728" cy="109728"/>
          </a:xfrm>
          <a:prstGeom prst="ellipse">
            <a:avLst/>
          </a:prstGeom>
          <a:solidFill>
            <a:srgbClr val="7C5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6190488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8EDE9"/>
                </a:solidFill>
                <a:latin typeface="Calibri"/>
              </a:rPr>
              <a:t>High-five after each goal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715000" y="2468880"/>
            <a:ext cx="6126480" cy="3886200"/>
          </a:xfrm>
          <a:prstGeom prst="roundRect">
            <a:avLst>
              <a:gd name="adj" fmla="val 12000"/>
            </a:avLst>
          </a:prstGeom>
          <a:solidFill>
            <a:srgbClr val="18221B"/>
          </a:solidFill>
          <a:ln w="12700">
            <a:solidFill>
              <a:srgbClr val="1F2D23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852160" y="2606040"/>
            <a:ext cx="5852160" cy="3611880"/>
          </a:xfrm>
          <a:gradFill flip="none" rotWithShape="1">
            <a:gsLst>
              <a:gs pos="0">
                <a:srgbClr val="3E964F"/>
              </a:gs>
              <a:gs pos="100000">
                <a:srgbClr val="2A7037"/>
              </a:gs>
            </a:gsLst>
            <a:lin ang="8100000" scaled="0"/>
          </a:gradFill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996635" y="2750515"/>
            <a:ext cx="5563210" cy="3322930"/>
          </a:xfrm>
          <a:prstGeom prst="rect">
            <a:avLst/>
          </a:prstGeom>
          <a:noFill/>
          <a:ln w="25400">
            <a:solidFill>
              <a:srgbClr val="FFFFFF"/>
            </a:solidFill>
            <a:prstDash val="lg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759244" y="3723894"/>
            <a:ext cx="292608" cy="292608"/>
          </a:xfrm>
          <a:prstGeom prst="ellipse">
            <a:avLst/>
          </a:prstGeom>
          <a:solidFill>
            <a:srgbClr val="F5A623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59244" y="3767786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P</a:t>
            </a:r>
          </a:p>
        </p:txBody>
      </p:sp>
      <p:sp>
        <p:nvSpPr>
          <p:cNvPr id="30" name="Oval 29"/>
          <p:cNvSpPr/>
          <p:nvPr/>
        </p:nvSpPr>
        <p:spPr>
          <a:xfrm>
            <a:off x="6827824" y="3993642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80D0A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870573" y="4036391"/>
            <a:ext cx="69950" cy="69950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759244" y="4879695"/>
            <a:ext cx="292608" cy="292608"/>
          </a:xfrm>
          <a:prstGeom prst="ellipse">
            <a:avLst/>
          </a:prstGeom>
          <a:solidFill>
            <a:srgbClr val="F5A623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759244" y="4923587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P</a:t>
            </a:r>
          </a:p>
        </p:txBody>
      </p:sp>
      <p:sp>
        <p:nvSpPr>
          <p:cNvPr id="34" name="Oval 33"/>
          <p:cNvSpPr/>
          <p:nvPr/>
        </p:nvSpPr>
        <p:spPr>
          <a:xfrm>
            <a:off x="6827824" y="5149443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80D0A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6870573" y="5192192"/>
            <a:ext cx="69950" cy="69950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7988198" y="3723894"/>
            <a:ext cx="292608" cy="292608"/>
          </a:xfrm>
          <a:prstGeom prst="ellipse">
            <a:avLst/>
          </a:prstGeom>
          <a:solidFill>
            <a:srgbClr val="F5A623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988198" y="3767786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P</a:t>
            </a:r>
          </a:p>
        </p:txBody>
      </p:sp>
      <p:sp>
        <p:nvSpPr>
          <p:cNvPr id="38" name="Oval 37"/>
          <p:cNvSpPr/>
          <p:nvPr/>
        </p:nvSpPr>
        <p:spPr>
          <a:xfrm>
            <a:off x="8056778" y="3993642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80D0A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8099527" y="4036391"/>
            <a:ext cx="69950" cy="69950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988198" y="4879695"/>
            <a:ext cx="292608" cy="292608"/>
          </a:xfrm>
          <a:prstGeom prst="ellipse">
            <a:avLst/>
          </a:prstGeom>
          <a:solidFill>
            <a:srgbClr val="F5A623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988198" y="4923587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P</a:t>
            </a:r>
          </a:p>
        </p:txBody>
      </p:sp>
      <p:sp>
        <p:nvSpPr>
          <p:cNvPr id="42" name="Oval 41"/>
          <p:cNvSpPr/>
          <p:nvPr/>
        </p:nvSpPr>
        <p:spPr>
          <a:xfrm>
            <a:off x="8056778" y="5149443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80D0A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8099527" y="5192192"/>
            <a:ext cx="69950" cy="69950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9217152" y="3723894"/>
            <a:ext cx="292608" cy="292608"/>
          </a:xfrm>
          <a:prstGeom prst="ellipse">
            <a:avLst/>
          </a:prstGeom>
          <a:solidFill>
            <a:srgbClr val="F5A623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217152" y="3767786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P</a:t>
            </a:r>
          </a:p>
        </p:txBody>
      </p:sp>
      <p:sp>
        <p:nvSpPr>
          <p:cNvPr id="46" name="Oval 45"/>
          <p:cNvSpPr/>
          <p:nvPr/>
        </p:nvSpPr>
        <p:spPr>
          <a:xfrm>
            <a:off x="9285732" y="3993642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80D0A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9328481" y="4036391"/>
            <a:ext cx="69950" cy="69950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9217152" y="4879695"/>
            <a:ext cx="292608" cy="292608"/>
          </a:xfrm>
          <a:prstGeom prst="ellipse">
            <a:avLst/>
          </a:prstGeom>
          <a:solidFill>
            <a:srgbClr val="F5A623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217152" y="4923587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P</a:t>
            </a:r>
          </a:p>
        </p:txBody>
      </p:sp>
      <p:sp>
        <p:nvSpPr>
          <p:cNvPr id="50" name="Oval 49"/>
          <p:cNvSpPr/>
          <p:nvPr/>
        </p:nvSpPr>
        <p:spPr>
          <a:xfrm>
            <a:off x="9285732" y="5149443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80D0A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9328481" y="5192192"/>
            <a:ext cx="69950" cy="69950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10446105" y="3723894"/>
            <a:ext cx="292608" cy="292608"/>
          </a:xfrm>
          <a:prstGeom prst="ellipse">
            <a:avLst/>
          </a:prstGeom>
          <a:solidFill>
            <a:srgbClr val="F5A623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0446105" y="3767786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P</a:t>
            </a:r>
          </a:p>
        </p:txBody>
      </p:sp>
      <p:sp>
        <p:nvSpPr>
          <p:cNvPr id="54" name="Oval 53"/>
          <p:cNvSpPr/>
          <p:nvPr/>
        </p:nvSpPr>
        <p:spPr>
          <a:xfrm>
            <a:off x="10514685" y="3993642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80D0A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10557434" y="4036391"/>
            <a:ext cx="69950" cy="69950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10446105" y="4879695"/>
            <a:ext cx="292608" cy="292608"/>
          </a:xfrm>
          <a:prstGeom prst="ellipse">
            <a:avLst/>
          </a:prstGeom>
          <a:solidFill>
            <a:srgbClr val="F5A623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0446105" y="4923587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P</a:t>
            </a:r>
          </a:p>
        </p:txBody>
      </p:sp>
      <p:sp>
        <p:nvSpPr>
          <p:cNvPr id="58" name="Oval 57"/>
          <p:cNvSpPr/>
          <p:nvPr/>
        </p:nvSpPr>
        <p:spPr>
          <a:xfrm>
            <a:off x="10514685" y="5149443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80D0A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10557434" y="5192192"/>
            <a:ext cx="69950" cy="69950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5852160" y="5925312"/>
            <a:ext cx="5852160" cy="292608"/>
          </a:xfrm>
          <a:prstGeom prst="rect">
            <a:avLst/>
          </a:prstGeom>
          <a:solidFill>
            <a:srgbClr val="080D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989320" y="5925312"/>
            <a:ext cx="557784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 spc="50">
                <a:solidFill>
                  <a:srgbClr val="E8EDE9"/>
                </a:solidFill>
                <a:latin typeface="Calibri"/>
              </a:rPr>
              <a:t>📏  10 yd to small goal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989320" y="5925312"/>
            <a:ext cx="557784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1" i="0" spc="80">
                <a:solidFill>
                  <a:srgbClr val="7C5DFA"/>
                </a:solidFill>
                <a:latin typeface="Calibri"/>
              </a:rPr>
              <a:t>LESSON 2</a:t>
            </a:r>
          </a:p>
        </p:txBody>
      </p:sp>
      <p:sp>
        <p:nvSpPr>
          <p:cNvPr id="63" name="Oval 62"/>
          <p:cNvSpPr/>
          <p:nvPr/>
        </p:nvSpPr>
        <p:spPr>
          <a:xfrm>
            <a:off x="5852160" y="6547104"/>
            <a:ext cx="164592" cy="164592"/>
          </a:xfrm>
          <a:prstGeom prst="ellipse">
            <a:avLst/>
          </a:prstGeom>
          <a:solidFill>
            <a:srgbClr val="F5A623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0533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Player A / Attacker</a:t>
            </a:r>
          </a:p>
        </p:txBody>
      </p:sp>
      <p:sp>
        <p:nvSpPr>
          <p:cNvPr id="65" name="Oval 64"/>
          <p:cNvSpPr/>
          <p:nvPr/>
        </p:nvSpPr>
        <p:spPr>
          <a:xfrm>
            <a:off x="7223760" y="6547104"/>
            <a:ext cx="164592" cy="164592"/>
          </a:xfrm>
          <a:prstGeom prst="ellipse">
            <a:avLst/>
          </a:prstGeom>
          <a:solidFill>
            <a:srgbClr val="4A90E2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4249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Player B / Receiver</a:t>
            </a:r>
          </a:p>
        </p:txBody>
      </p:sp>
      <p:sp>
        <p:nvSpPr>
          <p:cNvPr id="67" name="Oval 66"/>
          <p:cNvSpPr/>
          <p:nvPr/>
        </p:nvSpPr>
        <p:spPr>
          <a:xfrm>
            <a:off x="8595360" y="6547104"/>
            <a:ext cx="164592" cy="164592"/>
          </a:xfrm>
          <a:prstGeom prst="ellipse">
            <a:avLst/>
          </a:prstGeom>
          <a:solidFill>
            <a:srgbClr val="FF6B6B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87965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Defender</a:t>
            </a:r>
          </a:p>
        </p:txBody>
      </p:sp>
      <p:sp>
        <p:nvSpPr>
          <p:cNvPr id="69" name="Oval 68"/>
          <p:cNvSpPr/>
          <p:nvPr/>
        </p:nvSpPr>
        <p:spPr>
          <a:xfrm>
            <a:off x="9966960" y="6547104"/>
            <a:ext cx="164592" cy="164592"/>
          </a:xfrm>
          <a:prstGeom prst="ellipse">
            <a:avLst/>
          </a:prstGeom>
          <a:solidFill>
            <a:srgbClr val="FFFFFF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01681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Ball</a:t>
            </a:r>
          </a:p>
        </p:txBody>
      </p:sp>
      <p:sp>
        <p:nvSpPr>
          <p:cNvPr id="71" name="Rectangle 70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018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7200" y="653796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 spc="200">
                <a:solidFill>
                  <a:srgbClr val="7B8A7F"/>
                </a:solidFill>
                <a:latin typeface="Calibri"/>
              </a:rPr>
              <a:t>qmtk Soccer · Coach Playbook · Pre-K &amp; K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905695" y="6537960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 spc="200">
                <a:solidFill>
                  <a:srgbClr val="7B8A7F"/>
                </a:solidFill>
                <a:latin typeface="Calibri"/>
              </a:rPr>
              <a:t>qmtk.org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gradFill flip="none" rotWithShape="1">
            <a:gsLst>
              <a:gs pos="0">
                <a:srgbClr val="080D0A"/>
              </a:gs>
              <a:gs pos="100000">
                <a:srgbClr val="101812"/>
              </a:gs>
            </a:gsLst>
            <a:lin ang="8100000" scaled="0"/>
          </a:gradFill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9260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00">
                <a:solidFill>
                  <a:srgbClr val="4ADE80"/>
                </a:solidFill>
                <a:latin typeface="Calibri"/>
              </a:rPr>
              <a:t>qmtk Soccer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3035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 spc="400">
                <a:solidFill>
                  <a:srgbClr val="7B8A7F"/>
                </a:solidFill>
                <a:latin typeface="Calibri"/>
              </a:rPr>
              <a:t>COACH PLAYBOOK · PRE-K &amp; 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292608"/>
            <a:ext cx="1005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400" b="1" i="0">
                <a:solidFill>
                  <a:srgbClr val="B4C3B8"/>
                </a:solidFill>
                <a:latin typeface="Calibri"/>
              </a:rPr>
              <a:t>01.4  /  04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097280"/>
            <a:ext cx="1141095" cy="274320"/>
          </a:xfrm>
          <a:prstGeom prst="roundRect">
            <a:avLst>
              <a:gd name="adj" fmla="val 50000"/>
            </a:avLst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097280"/>
            <a:ext cx="1141095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 spc="80">
                <a:solidFill>
                  <a:srgbClr val="080D0A"/>
                </a:solidFill>
                <a:latin typeface="Calibri"/>
              </a:rPr>
              <a:t>SCRIMMAGE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708023" y="1097280"/>
            <a:ext cx="1070610" cy="274320"/>
          </a:xfrm>
          <a:prstGeom prst="roundRect">
            <a:avLst>
              <a:gd name="adj" fmla="val 50000"/>
            </a:avLst>
          </a:prstGeom>
          <a:solidFill>
            <a:srgbClr val="1822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708023" y="1097280"/>
            <a:ext cx="107061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 spc="80">
                <a:solidFill>
                  <a:srgbClr val="E8EDE9"/>
                </a:solidFill>
                <a:latin typeface="Calibri"/>
              </a:rPr>
              <a:t>35–45 MIN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88361" y="1097280"/>
            <a:ext cx="2558626" cy="274320"/>
          </a:xfrm>
          <a:prstGeom prst="roundRect">
            <a:avLst>
              <a:gd name="adj" fmla="val 50000"/>
            </a:avLst>
          </a:prstGeom>
          <a:solidFill>
            <a:srgbClr val="1822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88361" y="1097280"/>
            <a:ext cx="255862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 spc="80">
                <a:solidFill>
                  <a:srgbClr val="E8EDE9"/>
                </a:solidFill>
                <a:latin typeface="Calibri"/>
              </a:rPr>
              <a:t>📏  20x15 yd, two small goals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1508760"/>
            <a:ext cx="77724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"/>
              </a:rPr>
              <a:t>Everyone Scores Celebration Game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331720"/>
            <a:ext cx="640080" cy="54864"/>
          </a:xfrm>
          <a:prstGeom prst="rect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2606040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400">
                <a:solidFill>
                  <a:srgbClr val="4ADE80"/>
                </a:solidFill>
                <a:latin typeface="Calibri"/>
              </a:rPr>
              <a:t>THE DRILL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926080"/>
            <a:ext cx="512064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E8EDE9"/>
                </a:solidFill>
                <a:latin typeface="Calibri"/>
              </a:rPr>
              <a:t>Last small-sided game of the season. Every kid scores at least twice. Coach celebrates each goal like the World Cup final.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800600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400">
                <a:solidFill>
                  <a:srgbClr val="4ADE80"/>
                </a:solidFill>
                <a:latin typeface="Calibri"/>
              </a:rPr>
              <a:t>KEY COACHING CUES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166360"/>
            <a:ext cx="5120640" cy="1828800"/>
          </a:xfrm>
          <a:prstGeom prst="roundRect">
            <a:avLst>
              <a:gd name="adj" fmla="val 12000"/>
            </a:avLst>
          </a:prstGeom>
          <a:solidFill>
            <a:srgbClr val="18221B"/>
          </a:solidFill>
          <a:ln w="12700">
            <a:solidFill>
              <a:srgbClr val="1F2D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85800" y="5422392"/>
            <a:ext cx="109728" cy="109728"/>
          </a:xfrm>
          <a:prstGeom prst="ellipse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5349240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8EDE9"/>
                </a:solidFill>
                <a:latin typeface="Calibri"/>
              </a:rPr>
              <a:t>Have fun</a:t>
            </a:r>
          </a:p>
        </p:txBody>
      </p:sp>
      <p:sp>
        <p:nvSpPr>
          <p:cNvPr id="21" name="Oval 20"/>
          <p:cNvSpPr/>
          <p:nvPr/>
        </p:nvSpPr>
        <p:spPr>
          <a:xfrm>
            <a:off x="685800" y="5843016"/>
            <a:ext cx="109728" cy="109728"/>
          </a:xfrm>
          <a:prstGeom prst="ellipse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5769864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8EDE9"/>
                </a:solidFill>
                <a:latin typeface="Calibri"/>
              </a:rPr>
              <a:t>Cheer for every goal</a:t>
            </a:r>
          </a:p>
        </p:txBody>
      </p:sp>
      <p:sp>
        <p:nvSpPr>
          <p:cNvPr id="23" name="Oval 22"/>
          <p:cNvSpPr/>
          <p:nvPr/>
        </p:nvSpPr>
        <p:spPr>
          <a:xfrm>
            <a:off x="685800" y="6263640"/>
            <a:ext cx="109728" cy="109728"/>
          </a:xfrm>
          <a:prstGeom prst="ellipse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6190488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8EDE9"/>
                </a:solidFill>
                <a:latin typeface="Calibri"/>
              </a:rPr>
              <a:t>End the season smiling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715000" y="2468880"/>
            <a:ext cx="6126480" cy="3886200"/>
          </a:xfrm>
          <a:prstGeom prst="roundRect">
            <a:avLst>
              <a:gd name="adj" fmla="val 12000"/>
            </a:avLst>
          </a:prstGeom>
          <a:solidFill>
            <a:srgbClr val="18221B"/>
          </a:solidFill>
          <a:ln w="12700">
            <a:solidFill>
              <a:srgbClr val="1F2D23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852160" y="2606040"/>
            <a:ext cx="5852160" cy="3611880"/>
          </a:xfrm>
          <a:gradFill flip="none" rotWithShape="1">
            <a:gsLst>
              <a:gs pos="0">
                <a:srgbClr val="3E964F"/>
              </a:gs>
              <a:gs pos="100000">
                <a:srgbClr val="2A7037"/>
              </a:gs>
            </a:gsLst>
            <a:lin ang="8100000" scaled="0"/>
          </a:gradFill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960516" y="2714396"/>
            <a:ext cx="5635448" cy="3395168"/>
          </a:xfrm>
          <a:prstGeom prst="rect">
            <a:avLst/>
          </a:prstGeom>
          <a:noFill/>
          <a:ln w="317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8" name="Connector 27"/>
          <p:cNvCxnSpPr/>
          <p:nvPr/>
        </p:nvCxnSpPr>
        <p:spPr>
          <a:xfrm>
            <a:off x="8778240.0" y="2714396"/>
            <a:ext cx="0.0" cy="3395168"/>
          </a:xfrm>
          <a:prstGeom prst="line">
            <a:avLst/>
          </a:prstGeom>
          <a:ln w="19050">
            <a:solidFill>
              <a:srgbClr val="FFFFF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5952744" y="4091940"/>
            <a:ext cx="164592" cy="640080"/>
          </a:xfrm>
          <a:prstGeom prst="rect">
            <a:avLst/>
          </a:prstGeom>
          <a:solidFill>
            <a:srgbClr val="1018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952744" y="4091940"/>
            <a:ext cx="36576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080760" y="4091940"/>
            <a:ext cx="36576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952744" y="4091940"/>
            <a:ext cx="164592" cy="365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1439144" y="4091940"/>
            <a:ext cx="164592" cy="640080"/>
          </a:xfrm>
          <a:prstGeom prst="rect">
            <a:avLst/>
          </a:prstGeom>
          <a:solidFill>
            <a:srgbClr val="1018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1439144" y="4091940"/>
            <a:ext cx="36576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1567160" y="4091940"/>
            <a:ext cx="36576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1439144" y="4091940"/>
            <a:ext cx="164592" cy="365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7344460" y="3615537"/>
            <a:ext cx="292608" cy="292608"/>
          </a:xfrm>
          <a:prstGeom prst="ellipse">
            <a:avLst/>
          </a:prstGeom>
          <a:solidFill>
            <a:srgbClr val="F5A623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344460" y="3659429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39" name="Oval 38"/>
          <p:cNvSpPr/>
          <p:nvPr/>
        </p:nvSpPr>
        <p:spPr>
          <a:xfrm>
            <a:off x="7695590" y="4554626"/>
            <a:ext cx="292608" cy="292608"/>
          </a:xfrm>
          <a:prstGeom prst="ellipse">
            <a:avLst/>
          </a:prstGeom>
          <a:solidFill>
            <a:srgbClr val="F5A623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695590" y="4598518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41" name="Oval 40"/>
          <p:cNvSpPr/>
          <p:nvPr/>
        </p:nvSpPr>
        <p:spPr>
          <a:xfrm>
            <a:off x="8046720" y="5277002"/>
            <a:ext cx="292608" cy="292608"/>
          </a:xfrm>
          <a:prstGeom prst="ellipse">
            <a:avLst/>
          </a:prstGeom>
          <a:solidFill>
            <a:srgbClr val="F5A623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046720" y="5320894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43" name="Oval 42"/>
          <p:cNvSpPr/>
          <p:nvPr/>
        </p:nvSpPr>
        <p:spPr>
          <a:xfrm>
            <a:off x="9919411" y="3615537"/>
            <a:ext cx="292608" cy="292608"/>
          </a:xfrm>
          <a:prstGeom prst="ellipse">
            <a:avLst/>
          </a:prstGeom>
          <a:solidFill>
            <a:srgbClr val="4A90E2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919411" y="3659429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45" name="Oval 44"/>
          <p:cNvSpPr/>
          <p:nvPr/>
        </p:nvSpPr>
        <p:spPr>
          <a:xfrm>
            <a:off x="9568281" y="4554626"/>
            <a:ext cx="292608" cy="292608"/>
          </a:xfrm>
          <a:prstGeom prst="ellipse">
            <a:avLst/>
          </a:prstGeom>
          <a:solidFill>
            <a:srgbClr val="4A90E2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568281" y="4598518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47" name="Oval 46"/>
          <p:cNvSpPr/>
          <p:nvPr/>
        </p:nvSpPr>
        <p:spPr>
          <a:xfrm>
            <a:off x="9217152" y="5277002"/>
            <a:ext cx="292608" cy="292608"/>
          </a:xfrm>
          <a:prstGeom prst="ellipse">
            <a:avLst/>
          </a:prstGeom>
          <a:solidFill>
            <a:srgbClr val="4A90E2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217152" y="5320894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49" name="Oval 48"/>
          <p:cNvSpPr/>
          <p:nvPr/>
        </p:nvSpPr>
        <p:spPr>
          <a:xfrm>
            <a:off x="8700516" y="4334256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80D0A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8743265" y="4377005"/>
            <a:ext cx="69950" cy="69950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5852160" y="5925312"/>
            <a:ext cx="5852160" cy="292608"/>
          </a:xfrm>
          <a:prstGeom prst="rect">
            <a:avLst/>
          </a:prstGeom>
          <a:solidFill>
            <a:srgbClr val="080D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989320" y="5925312"/>
            <a:ext cx="557784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 spc="50">
                <a:solidFill>
                  <a:srgbClr val="E8EDE9"/>
                </a:solidFill>
                <a:latin typeface="Calibri"/>
              </a:rPr>
              <a:t>📏  20x15 yd, two small goals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989320" y="5925312"/>
            <a:ext cx="557784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1" i="0" spc="80">
                <a:solidFill>
                  <a:srgbClr val="4ADE80"/>
                </a:solidFill>
                <a:latin typeface="Calibri"/>
              </a:rPr>
              <a:t>SCRIMMAGE</a:t>
            </a:r>
          </a:p>
        </p:txBody>
      </p:sp>
      <p:sp>
        <p:nvSpPr>
          <p:cNvPr id="54" name="Oval 53"/>
          <p:cNvSpPr/>
          <p:nvPr/>
        </p:nvSpPr>
        <p:spPr>
          <a:xfrm>
            <a:off x="5852160" y="6547104"/>
            <a:ext cx="164592" cy="164592"/>
          </a:xfrm>
          <a:prstGeom prst="ellipse">
            <a:avLst/>
          </a:prstGeom>
          <a:solidFill>
            <a:srgbClr val="F5A623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0533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Player A / Attacker</a:t>
            </a:r>
          </a:p>
        </p:txBody>
      </p:sp>
      <p:sp>
        <p:nvSpPr>
          <p:cNvPr id="56" name="Oval 55"/>
          <p:cNvSpPr/>
          <p:nvPr/>
        </p:nvSpPr>
        <p:spPr>
          <a:xfrm>
            <a:off x="7223760" y="6547104"/>
            <a:ext cx="164592" cy="164592"/>
          </a:xfrm>
          <a:prstGeom prst="ellipse">
            <a:avLst/>
          </a:prstGeom>
          <a:solidFill>
            <a:srgbClr val="4A90E2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4249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Player B / Receiver</a:t>
            </a:r>
          </a:p>
        </p:txBody>
      </p:sp>
      <p:sp>
        <p:nvSpPr>
          <p:cNvPr id="58" name="Oval 57"/>
          <p:cNvSpPr/>
          <p:nvPr/>
        </p:nvSpPr>
        <p:spPr>
          <a:xfrm>
            <a:off x="8595360" y="6547104"/>
            <a:ext cx="164592" cy="164592"/>
          </a:xfrm>
          <a:prstGeom prst="ellipse">
            <a:avLst/>
          </a:prstGeom>
          <a:solidFill>
            <a:srgbClr val="FF6B6B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7965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Defender</a:t>
            </a:r>
          </a:p>
        </p:txBody>
      </p:sp>
      <p:sp>
        <p:nvSpPr>
          <p:cNvPr id="60" name="Oval 59"/>
          <p:cNvSpPr/>
          <p:nvPr/>
        </p:nvSpPr>
        <p:spPr>
          <a:xfrm>
            <a:off x="9966960" y="6547104"/>
            <a:ext cx="164592" cy="164592"/>
          </a:xfrm>
          <a:prstGeom prst="ellipse">
            <a:avLst/>
          </a:prstGeom>
          <a:solidFill>
            <a:srgbClr val="FFFFFF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01681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Ball</a:t>
            </a:r>
          </a:p>
        </p:txBody>
      </p:sp>
      <p:sp>
        <p:nvSpPr>
          <p:cNvPr id="62" name="Rectangle 61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018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7200" y="653796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 spc="200">
                <a:solidFill>
                  <a:srgbClr val="7B8A7F"/>
                </a:solidFill>
                <a:latin typeface="Calibri"/>
              </a:rPr>
              <a:t>qmtk Soccer · Coach Playbook · Pre-K &amp; K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905695" y="6537960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 spc="200">
                <a:solidFill>
                  <a:srgbClr val="7B8A7F"/>
                </a:solidFill>
                <a:latin typeface="Calibri"/>
              </a:rPr>
              <a:t>qmtk.org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gradFill flip="none" rotWithShape="1">
            <a:gsLst>
              <a:gs pos="0">
                <a:srgbClr val="145A2A"/>
              </a:gs>
              <a:gs pos="100000">
                <a:srgbClr val="22A24D"/>
              </a:gs>
            </a:gsLst>
            <a:lin ang="8100000" scaled="0"/>
          </a:gradFill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0" y="457200"/>
            <a:ext cx="5029200" cy="5486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0" b="1" i="0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2743200"/>
            <a:ext cx="640080" cy="45720"/>
          </a:xfrm>
          <a:prstGeom prst="rect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880360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500">
                <a:solidFill>
                  <a:srgbClr val="4ADE80"/>
                </a:solidFill>
                <a:latin typeface="Calibri"/>
              </a:rPr>
              <a:t>SECTION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246120"/>
            <a:ext cx="100584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600" b="1" i="0">
                <a:solidFill>
                  <a:srgbClr val="FFFFFF"/>
                </a:solidFill>
                <a:latin typeface="Calibri"/>
              </a:rPr>
              <a:t>Grades 1–5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61772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1">
                <a:solidFill>
                  <a:srgbClr val="C5E8CE"/>
                </a:solidFill>
                <a:latin typeface="Calibri"/>
              </a:rPr>
              <a:t>Ages 6–11  ·  60 minute session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40080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200">
                <a:solidFill>
                  <a:srgbClr val="C5E8CE"/>
                </a:solidFill>
                <a:latin typeface="Calibri"/>
              </a:rPr>
              <a:t>qmtk Soccer · Coach Playbook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gradFill flip="none" rotWithShape="1">
            <a:gsLst>
              <a:gs pos="0">
                <a:srgbClr val="080D0A"/>
              </a:gs>
              <a:gs pos="100000">
                <a:srgbClr val="101812"/>
              </a:gs>
            </a:gsLst>
            <a:lin ang="8100000" scaled="0"/>
          </a:gradFill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9260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00">
                <a:solidFill>
                  <a:srgbClr val="4ADE80"/>
                </a:solidFill>
                <a:latin typeface="Calibri"/>
              </a:rPr>
              <a:t>qmtk Soccer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3035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 spc="400">
                <a:solidFill>
                  <a:srgbClr val="7B8A7F"/>
                </a:solidFill>
                <a:latin typeface="Calibri"/>
              </a:rPr>
              <a:t>COACH PLAYBOOK · GRADES 1–5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292608"/>
            <a:ext cx="1005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400" b="1" i="0">
                <a:solidFill>
                  <a:srgbClr val="B4C3B8"/>
                </a:solidFill>
                <a:latin typeface="Calibri"/>
              </a:rPr>
              <a:t>02.1  /  04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097280"/>
            <a:ext cx="1399540" cy="274320"/>
          </a:xfrm>
          <a:prstGeom prst="roundRect">
            <a:avLst>
              <a:gd name="adj" fmla="val 50000"/>
            </a:avLst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097280"/>
            <a:ext cx="13995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 spc="80">
                <a:solidFill>
                  <a:srgbClr val="080D0A"/>
                </a:solidFill>
                <a:latin typeface="Calibri"/>
              </a:rPr>
              <a:t>OPENING GAME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966468" y="1097280"/>
            <a:ext cx="992293" cy="274320"/>
          </a:xfrm>
          <a:prstGeom prst="roundRect">
            <a:avLst>
              <a:gd name="adj" fmla="val 50000"/>
            </a:avLst>
          </a:prstGeom>
          <a:solidFill>
            <a:srgbClr val="1822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966468" y="1097280"/>
            <a:ext cx="992293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 spc="80">
                <a:solidFill>
                  <a:srgbClr val="E8EDE9"/>
                </a:solidFill>
                <a:latin typeface="Calibri"/>
              </a:rPr>
              <a:t>0–10 MIN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068489" y="1097280"/>
            <a:ext cx="1618826" cy="274320"/>
          </a:xfrm>
          <a:prstGeom prst="roundRect">
            <a:avLst>
              <a:gd name="adj" fmla="val 50000"/>
            </a:avLst>
          </a:prstGeom>
          <a:solidFill>
            <a:srgbClr val="1822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68489" y="1097280"/>
            <a:ext cx="161882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 spc="80">
                <a:solidFill>
                  <a:srgbClr val="E8EDE9"/>
                </a:solidFill>
                <a:latin typeface="Calibri"/>
              </a:rPr>
              <a:t>📏  20x20 yd grid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1508760"/>
            <a:ext cx="77724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"/>
              </a:rPr>
              <a:t>World Cup Knockout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331720"/>
            <a:ext cx="640080" cy="54864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2606040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400">
                <a:solidFill>
                  <a:srgbClr val="F5A623"/>
                </a:solidFill>
                <a:latin typeface="Calibri"/>
              </a:rPr>
              <a:t>THE DRILL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926080"/>
            <a:ext cx="512064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E8EDE9"/>
                </a:solidFill>
                <a:latin typeface="Calibri"/>
              </a:rPr>
              <a:t>Pairs play 1v1. Winner stays, loser is out. Tournament-style bracket. Players' favorite competitive game.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800600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400">
                <a:solidFill>
                  <a:srgbClr val="F5A623"/>
                </a:solidFill>
                <a:latin typeface="Calibri"/>
              </a:rPr>
              <a:t>KEY COACHING CUES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166360"/>
            <a:ext cx="5120640" cy="1828800"/>
          </a:xfrm>
          <a:prstGeom prst="roundRect">
            <a:avLst>
              <a:gd name="adj" fmla="val 12000"/>
            </a:avLst>
          </a:prstGeom>
          <a:solidFill>
            <a:srgbClr val="18221B"/>
          </a:solidFill>
          <a:ln w="12700">
            <a:solidFill>
              <a:srgbClr val="1F2D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85800" y="5422392"/>
            <a:ext cx="109728" cy="109728"/>
          </a:xfrm>
          <a:prstGeom prst="ellipse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5349240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8EDE9"/>
                </a:solidFill>
                <a:latin typeface="Calibri"/>
              </a:rPr>
              <a:t>Compete on every play</a:t>
            </a:r>
          </a:p>
        </p:txBody>
      </p:sp>
      <p:sp>
        <p:nvSpPr>
          <p:cNvPr id="21" name="Oval 20"/>
          <p:cNvSpPr/>
          <p:nvPr/>
        </p:nvSpPr>
        <p:spPr>
          <a:xfrm>
            <a:off x="685800" y="5843016"/>
            <a:ext cx="109728" cy="109728"/>
          </a:xfrm>
          <a:prstGeom prst="ellipse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5769864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8EDE9"/>
                </a:solidFill>
                <a:latin typeface="Calibri"/>
              </a:rPr>
              <a:t>Use moves from the season</a:t>
            </a:r>
          </a:p>
        </p:txBody>
      </p:sp>
      <p:sp>
        <p:nvSpPr>
          <p:cNvPr id="23" name="Oval 22"/>
          <p:cNvSpPr/>
          <p:nvPr/>
        </p:nvSpPr>
        <p:spPr>
          <a:xfrm>
            <a:off x="685800" y="6263640"/>
            <a:ext cx="109728" cy="109728"/>
          </a:xfrm>
          <a:prstGeom prst="ellipse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6190488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8EDE9"/>
                </a:solidFill>
                <a:latin typeface="Calibri"/>
              </a:rPr>
              <a:t>Win the duel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715000" y="2468880"/>
            <a:ext cx="6126480" cy="3886200"/>
          </a:xfrm>
          <a:prstGeom prst="roundRect">
            <a:avLst>
              <a:gd name="adj" fmla="val 12000"/>
            </a:avLst>
          </a:prstGeom>
          <a:solidFill>
            <a:srgbClr val="18221B"/>
          </a:solidFill>
          <a:ln w="12700">
            <a:solidFill>
              <a:srgbClr val="1F2D23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852160" y="2606040"/>
            <a:ext cx="5852160" cy="3611880"/>
          </a:xfrm>
          <a:gradFill flip="none" rotWithShape="1">
            <a:gsLst>
              <a:gs pos="0">
                <a:srgbClr val="3E964F"/>
              </a:gs>
              <a:gs pos="100000">
                <a:srgbClr val="2A7037"/>
              </a:gs>
            </a:gsLst>
            <a:lin ang="8100000" scaled="0"/>
          </a:gradFill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996635" y="2750515"/>
            <a:ext cx="5563210" cy="3322930"/>
          </a:xfrm>
          <a:prstGeom prst="rect">
            <a:avLst/>
          </a:prstGeom>
          <a:noFill/>
          <a:ln w="25400">
            <a:solidFill>
              <a:srgbClr val="FFFFFF"/>
            </a:solidFill>
            <a:prstDash val="lg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759244" y="3471062"/>
            <a:ext cx="292608" cy="292608"/>
          </a:xfrm>
          <a:prstGeom prst="ellipse">
            <a:avLst/>
          </a:prstGeom>
          <a:solidFill>
            <a:srgbClr val="4A90E2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59244" y="3514954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M</a:t>
            </a:r>
          </a:p>
        </p:txBody>
      </p:sp>
      <p:sp>
        <p:nvSpPr>
          <p:cNvPr id="30" name="Oval 29"/>
          <p:cNvSpPr/>
          <p:nvPr/>
        </p:nvSpPr>
        <p:spPr>
          <a:xfrm>
            <a:off x="7028992" y="3585362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80D0A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7071741" y="3628111"/>
            <a:ext cx="69950" cy="69950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578547" y="4446270"/>
            <a:ext cx="292608" cy="292608"/>
          </a:xfrm>
          <a:prstGeom prst="ellipse">
            <a:avLst/>
          </a:prstGeom>
          <a:solidFill>
            <a:srgbClr val="4A90E2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578547" y="4490162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M</a:t>
            </a:r>
          </a:p>
        </p:txBody>
      </p:sp>
      <p:sp>
        <p:nvSpPr>
          <p:cNvPr id="34" name="Oval 33"/>
          <p:cNvSpPr/>
          <p:nvPr/>
        </p:nvSpPr>
        <p:spPr>
          <a:xfrm>
            <a:off x="7848295" y="4560570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80D0A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7891044" y="4603319"/>
            <a:ext cx="69950" cy="69950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8924544" y="3615537"/>
            <a:ext cx="292608" cy="292608"/>
          </a:xfrm>
          <a:prstGeom prst="ellipse">
            <a:avLst/>
          </a:prstGeom>
          <a:solidFill>
            <a:srgbClr val="4A90E2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924544" y="3659429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M</a:t>
            </a:r>
          </a:p>
        </p:txBody>
      </p:sp>
      <p:sp>
        <p:nvSpPr>
          <p:cNvPr id="38" name="Oval 37"/>
          <p:cNvSpPr/>
          <p:nvPr/>
        </p:nvSpPr>
        <p:spPr>
          <a:xfrm>
            <a:off x="9194292" y="3729837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80D0A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9237041" y="3772586"/>
            <a:ext cx="69950" cy="69950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9919411" y="4626864"/>
            <a:ext cx="292608" cy="292608"/>
          </a:xfrm>
          <a:prstGeom prst="ellipse">
            <a:avLst/>
          </a:prstGeom>
          <a:solidFill>
            <a:srgbClr val="4A90E2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919411" y="4670756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M</a:t>
            </a:r>
          </a:p>
        </p:txBody>
      </p:sp>
      <p:sp>
        <p:nvSpPr>
          <p:cNvPr id="42" name="Oval 41"/>
          <p:cNvSpPr/>
          <p:nvPr/>
        </p:nvSpPr>
        <p:spPr>
          <a:xfrm>
            <a:off x="10189159" y="4741164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80D0A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10231908" y="4783913"/>
            <a:ext cx="69950" cy="69950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0680192" y="3904488"/>
            <a:ext cx="292608" cy="292608"/>
          </a:xfrm>
          <a:prstGeom prst="ellipse">
            <a:avLst/>
          </a:prstGeom>
          <a:solidFill>
            <a:srgbClr val="4A90E2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680192" y="3948380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M</a:t>
            </a:r>
          </a:p>
        </p:txBody>
      </p:sp>
      <p:sp>
        <p:nvSpPr>
          <p:cNvPr id="46" name="Oval 45"/>
          <p:cNvSpPr/>
          <p:nvPr/>
        </p:nvSpPr>
        <p:spPr>
          <a:xfrm>
            <a:off x="10949940" y="4018788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80D0A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10992689" y="4061537"/>
            <a:ext cx="69950" cy="69950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7344460" y="5277002"/>
            <a:ext cx="292608" cy="292608"/>
          </a:xfrm>
          <a:prstGeom prst="ellipse">
            <a:avLst/>
          </a:prstGeom>
          <a:solidFill>
            <a:srgbClr val="4A90E2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344460" y="5320894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M</a:t>
            </a:r>
          </a:p>
        </p:txBody>
      </p:sp>
      <p:sp>
        <p:nvSpPr>
          <p:cNvPr id="50" name="Oval 49"/>
          <p:cNvSpPr/>
          <p:nvPr/>
        </p:nvSpPr>
        <p:spPr>
          <a:xfrm>
            <a:off x="7614208" y="5391302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80D0A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7656957" y="5434051"/>
            <a:ext cx="69950" cy="69950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9217152" y="5421477"/>
            <a:ext cx="292608" cy="292608"/>
          </a:xfrm>
          <a:prstGeom prst="ellipse">
            <a:avLst/>
          </a:prstGeom>
          <a:solidFill>
            <a:srgbClr val="4A90E2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217152" y="5465369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M</a:t>
            </a:r>
          </a:p>
        </p:txBody>
      </p:sp>
      <p:sp>
        <p:nvSpPr>
          <p:cNvPr id="54" name="Oval 53"/>
          <p:cNvSpPr/>
          <p:nvPr/>
        </p:nvSpPr>
        <p:spPr>
          <a:xfrm>
            <a:off x="9486900" y="5535777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80D0A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9529649" y="5578526"/>
            <a:ext cx="69950" cy="69950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8321040" y="4175150"/>
            <a:ext cx="329184" cy="329184"/>
          </a:xfrm>
          <a:prstGeom prst="ellipse">
            <a:avLst/>
          </a:prstGeom>
          <a:solidFill>
            <a:srgbClr val="E24A4A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321040" y="4224528"/>
            <a:ext cx="329184" cy="2304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S</a:t>
            </a:r>
          </a:p>
        </p:txBody>
      </p:sp>
      <p:cxnSp>
        <p:nvCxnSpPr>
          <p:cNvPr id="58" name="Connector 57"/>
          <p:cNvCxnSpPr/>
          <p:nvPr/>
        </p:nvCxnSpPr>
        <p:spPr>
          <a:xfrm flipV="1">
            <a:off x="8622792.0" y="4202582.4"/>
            <a:ext cx="365760.0" cy="137160.0"/>
          </a:xfrm>
          <a:prstGeom prst="line">
            <a:avLst/>
          </a:prstGeom>
          <a:ln w="31750">
            <a:solidFill>
              <a:srgbClr val="FF6B6B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Oval 58"/>
          <p:cNvSpPr/>
          <p:nvPr/>
        </p:nvSpPr>
        <p:spPr>
          <a:xfrm>
            <a:off x="9784080" y="4789170"/>
            <a:ext cx="329184" cy="329184"/>
          </a:xfrm>
          <a:prstGeom prst="ellipse">
            <a:avLst/>
          </a:prstGeom>
          <a:solidFill>
            <a:srgbClr val="E24A4A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784080" y="4838548"/>
            <a:ext cx="329184" cy="2304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S</a:t>
            </a:r>
          </a:p>
        </p:txBody>
      </p:sp>
      <p:cxnSp>
        <p:nvCxnSpPr>
          <p:cNvPr id="61" name="Connector 60"/>
          <p:cNvCxnSpPr/>
          <p:nvPr/>
        </p:nvCxnSpPr>
        <p:spPr>
          <a:xfrm flipV="1">
            <a:off x="10085832.0" y="4816602.0"/>
            <a:ext cx="365760.0" cy="137160.0"/>
          </a:xfrm>
          <a:prstGeom prst="line">
            <a:avLst/>
          </a:prstGeom>
          <a:ln w="31750">
            <a:solidFill>
              <a:srgbClr val="FF6B6B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Rectangle 61"/>
          <p:cNvSpPr/>
          <p:nvPr/>
        </p:nvSpPr>
        <p:spPr>
          <a:xfrm>
            <a:off x="5852160" y="5925312"/>
            <a:ext cx="5852160" cy="292608"/>
          </a:xfrm>
          <a:prstGeom prst="rect">
            <a:avLst/>
          </a:prstGeom>
          <a:solidFill>
            <a:srgbClr val="080D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989320" y="5925312"/>
            <a:ext cx="557784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 spc="50">
                <a:solidFill>
                  <a:srgbClr val="E8EDE9"/>
                </a:solidFill>
                <a:latin typeface="Calibri"/>
              </a:rPr>
              <a:t>📏  20x20 yd grid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989320" y="5925312"/>
            <a:ext cx="557784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1" i="0" spc="80">
                <a:solidFill>
                  <a:srgbClr val="F5A623"/>
                </a:solidFill>
                <a:latin typeface="Calibri"/>
              </a:rPr>
              <a:t>OPENING GAME</a:t>
            </a:r>
          </a:p>
        </p:txBody>
      </p:sp>
      <p:sp>
        <p:nvSpPr>
          <p:cNvPr id="65" name="Oval 64"/>
          <p:cNvSpPr/>
          <p:nvPr/>
        </p:nvSpPr>
        <p:spPr>
          <a:xfrm>
            <a:off x="5852160" y="6547104"/>
            <a:ext cx="164592" cy="164592"/>
          </a:xfrm>
          <a:prstGeom prst="ellipse">
            <a:avLst/>
          </a:prstGeom>
          <a:solidFill>
            <a:srgbClr val="F5A623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0533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Player A / Attacker</a:t>
            </a:r>
          </a:p>
        </p:txBody>
      </p:sp>
      <p:sp>
        <p:nvSpPr>
          <p:cNvPr id="67" name="Oval 66"/>
          <p:cNvSpPr/>
          <p:nvPr/>
        </p:nvSpPr>
        <p:spPr>
          <a:xfrm>
            <a:off x="7223760" y="6547104"/>
            <a:ext cx="164592" cy="164592"/>
          </a:xfrm>
          <a:prstGeom prst="ellipse">
            <a:avLst/>
          </a:prstGeom>
          <a:solidFill>
            <a:srgbClr val="4A90E2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4249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Player B / Receiver</a:t>
            </a:r>
          </a:p>
        </p:txBody>
      </p:sp>
      <p:sp>
        <p:nvSpPr>
          <p:cNvPr id="69" name="Oval 68"/>
          <p:cNvSpPr/>
          <p:nvPr/>
        </p:nvSpPr>
        <p:spPr>
          <a:xfrm>
            <a:off x="8595360" y="6547104"/>
            <a:ext cx="164592" cy="164592"/>
          </a:xfrm>
          <a:prstGeom prst="ellipse">
            <a:avLst/>
          </a:prstGeom>
          <a:solidFill>
            <a:srgbClr val="FF6B6B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87965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Defender</a:t>
            </a:r>
          </a:p>
        </p:txBody>
      </p:sp>
      <p:sp>
        <p:nvSpPr>
          <p:cNvPr id="71" name="Oval 70"/>
          <p:cNvSpPr/>
          <p:nvPr/>
        </p:nvSpPr>
        <p:spPr>
          <a:xfrm>
            <a:off x="9966960" y="6547104"/>
            <a:ext cx="164592" cy="164592"/>
          </a:xfrm>
          <a:prstGeom prst="ellipse">
            <a:avLst/>
          </a:prstGeom>
          <a:solidFill>
            <a:srgbClr val="FFFFFF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01681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Ball</a:t>
            </a:r>
          </a:p>
        </p:txBody>
      </p:sp>
      <p:sp>
        <p:nvSpPr>
          <p:cNvPr id="73" name="Rectangle 72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018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457200" y="653796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 spc="200">
                <a:solidFill>
                  <a:srgbClr val="7B8A7F"/>
                </a:solidFill>
                <a:latin typeface="Calibri"/>
              </a:rPr>
              <a:t>qmtk Soccer · Coach Playbook · Grades 1–5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905695" y="6537960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 spc="200">
                <a:solidFill>
                  <a:srgbClr val="7B8A7F"/>
                </a:solidFill>
                <a:latin typeface="Calibri"/>
              </a:rPr>
              <a:t>qmtk.org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gradFill flip="none" rotWithShape="1">
            <a:gsLst>
              <a:gs pos="0">
                <a:srgbClr val="080D0A"/>
              </a:gs>
              <a:gs pos="100000">
                <a:srgbClr val="101812"/>
              </a:gs>
            </a:gsLst>
            <a:lin ang="8100000" scaled="0"/>
          </a:gradFill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A90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9260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00">
                <a:solidFill>
                  <a:srgbClr val="4ADE80"/>
                </a:solidFill>
                <a:latin typeface="Calibri"/>
              </a:rPr>
              <a:t>qmtk Soccer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3035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 spc="400">
                <a:solidFill>
                  <a:srgbClr val="7B8A7F"/>
                </a:solidFill>
                <a:latin typeface="Calibri"/>
              </a:rPr>
              <a:t>COACH PLAYBOOK · GRADES 1–5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292608"/>
            <a:ext cx="1005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400" b="1" i="0">
                <a:solidFill>
                  <a:srgbClr val="B4C3B8"/>
                </a:solidFill>
                <a:latin typeface="Calibri"/>
              </a:rPr>
              <a:t>02.2  /  04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097280"/>
            <a:ext cx="1054946" cy="274320"/>
          </a:xfrm>
          <a:prstGeom prst="roundRect">
            <a:avLst>
              <a:gd name="adj" fmla="val 50000"/>
            </a:avLst>
          </a:prstGeom>
          <a:solidFill>
            <a:srgbClr val="4A90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097280"/>
            <a:ext cx="105494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 spc="80">
                <a:solidFill>
                  <a:srgbClr val="080D0A"/>
                </a:solidFill>
                <a:latin typeface="Calibri"/>
              </a:rPr>
              <a:t>LESSON 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621874" y="1097280"/>
            <a:ext cx="1070610" cy="274320"/>
          </a:xfrm>
          <a:prstGeom prst="roundRect">
            <a:avLst>
              <a:gd name="adj" fmla="val 50000"/>
            </a:avLst>
          </a:prstGeom>
          <a:solidFill>
            <a:srgbClr val="1822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21874" y="1097280"/>
            <a:ext cx="107061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 spc="80">
                <a:solidFill>
                  <a:srgbClr val="E8EDE9"/>
                </a:solidFill>
                <a:latin typeface="Calibri"/>
              </a:rPr>
              <a:t>10–30 MIN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02212" y="1097280"/>
            <a:ext cx="2401993" cy="274320"/>
          </a:xfrm>
          <a:prstGeom prst="roundRect">
            <a:avLst>
              <a:gd name="adj" fmla="val 50000"/>
            </a:avLst>
          </a:prstGeom>
          <a:solidFill>
            <a:srgbClr val="1822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02212" y="1097280"/>
            <a:ext cx="2401993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 spc="80">
                <a:solidFill>
                  <a:srgbClr val="E8EDE9"/>
                </a:solidFill>
                <a:latin typeface="Calibri"/>
              </a:rPr>
              <a:t>📏  Two halves of the field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1508760"/>
            <a:ext cx="77724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"/>
              </a:rPr>
              <a:t>Free Play with a Theme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331720"/>
            <a:ext cx="640080" cy="54864"/>
          </a:xfrm>
          <a:prstGeom prst="rect">
            <a:avLst/>
          </a:prstGeom>
          <a:solidFill>
            <a:srgbClr val="4A90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2606040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400">
                <a:solidFill>
                  <a:srgbClr val="4A90E2"/>
                </a:solidFill>
                <a:latin typeface="Calibri"/>
              </a:rPr>
              <a:t>THE DRILL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926080"/>
            <a:ext cx="512064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E8EDE9"/>
                </a:solidFill>
                <a:latin typeface="Calibri"/>
              </a:rPr>
              <a:t>Coach picks a theme from the season — passing, driving, finishing, 1v1, combinations — and players run through it one last time at full speed. Mastery rep.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800600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400">
                <a:solidFill>
                  <a:srgbClr val="4A90E2"/>
                </a:solidFill>
                <a:latin typeface="Calibri"/>
              </a:rPr>
              <a:t>KEY COACHING CUES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166360"/>
            <a:ext cx="5120640" cy="1828800"/>
          </a:xfrm>
          <a:prstGeom prst="roundRect">
            <a:avLst>
              <a:gd name="adj" fmla="val 12000"/>
            </a:avLst>
          </a:prstGeom>
          <a:solidFill>
            <a:srgbClr val="18221B"/>
          </a:solidFill>
          <a:ln w="12700">
            <a:solidFill>
              <a:srgbClr val="1F2D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85800" y="5422392"/>
            <a:ext cx="109728" cy="109728"/>
          </a:xfrm>
          <a:prstGeom prst="ellipse">
            <a:avLst/>
          </a:prstGeom>
          <a:solidFill>
            <a:srgbClr val="4A90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5349240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8EDE9"/>
                </a:solidFill>
                <a:latin typeface="Calibri"/>
              </a:rPr>
              <a:t>Apply the season's skills</a:t>
            </a:r>
          </a:p>
        </p:txBody>
      </p:sp>
      <p:sp>
        <p:nvSpPr>
          <p:cNvPr id="21" name="Oval 20"/>
          <p:cNvSpPr/>
          <p:nvPr/>
        </p:nvSpPr>
        <p:spPr>
          <a:xfrm>
            <a:off x="685800" y="5843016"/>
            <a:ext cx="109728" cy="109728"/>
          </a:xfrm>
          <a:prstGeom prst="ellipse">
            <a:avLst/>
          </a:prstGeom>
          <a:solidFill>
            <a:srgbClr val="4A90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5769864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8EDE9"/>
                </a:solidFill>
                <a:latin typeface="Calibri"/>
              </a:rPr>
              <a:t>Game speed, game pressure</a:t>
            </a:r>
          </a:p>
        </p:txBody>
      </p:sp>
      <p:sp>
        <p:nvSpPr>
          <p:cNvPr id="23" name="Oval 22"/>
          <p:cNvSpPr/>
          <p:nvPr/>
        </p:nvSpPr>
        <p:spPr>
          <a:xfrm>
            <a:off x="685800" y="6263640"/>
            <a:ext cx="109728" cy="109728"/>
          </a:xfrm>
          <a:prstGeom prst="ellipse">
            <a:avLst/>
          </a:prstGeom>
          <a:solidFill>
            <a:srgbClr val="4A90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6190488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8EDE9"/>
                </a:solidFill>
                <a:latin typeface="Calibri"/>
              </a:rPr>
              <a:t>Coach-coach the rep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715000" y="2468880"/>
            <a:ext cx="6126480" cy="3886200"/>
          </a:xfrm>
          <a:prstGeom prst="roundRect">
            <a:avLst>
              <a:gd name="adj" fmla="val 12000"/>
            </a:avLst>
          </a:prstGeom>
          <a:solidFill>
            <a:srgbClr val="18221B"/>
          </a:solidFill>
          <a:ln w="12700">
            <a:solidFill>
              <a:srgbClr val="1F2D23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852160" y="2606040"/>
            <a:ext cx="5852160" cy="3611880"/>
          </a:xfrm>
          <a:gradFill flip="none" rotWithShape="1">
            <a:gsLst>
              <a:gs pos="0">
                <a:srgbClr val="3E964F"/>
              </a:gs>
              <a:gs pos="100000">
                <a:srgbClr val="2A7037"/>
              </a:gs>
            </a:gsLst>
            <a:lin ang="8100000" scaled="0"/>
          </a:gradFill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960516" y="2714396"/>
            <a:ext cx="5635448" cy="3395168"/>
          </a:xfrm>
          <a:prstGeom prst="rect">
            <a:avLst/>
          </a:prstGeom>
          <a:noFill/>
          <a:ln w="317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8" name="Connector 27"/>
          <p:cNvCxnSpPr/>
          <p:nvPr/>
        </p:nvCxnSpPr>
        <p:spPr>
          <a:xfrm>
            <a:off x="8778240.0" y="2714396"/>
            <a:ext cx="0.0" cy="3395168"/>
          </a:xfrm>
          <a:prstGeom prst="line">
            <a:avLst/>
          </a:prstGeom>
          <a:ln w="19050">
            <a:solidFill>
              <a:srgbClr val="FFFFF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Oval 28"/>
          <p:cNvSpPr/>
          <p:nvPr/>
        </p:nvSpPr>
        <p:spPr>
          <a:xfrm>
            <a:off x="8308695" y="3942435"/>
            <a:ext cx="939088" cy="939088"/>
          </a:xfrm>
          <a:prstGeom prst="ellipse">
            <a:avLst/>
          </a:prstGeom>
          <a:noFill/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734898" y="4368638"/>
            <a:ext cx="86684" cy="8668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960516" y="3599307"/>
            <a:ext cx="1053388" cy="1625346"/>
          </a:xfrm>
          <a:prstGeom prst="rect">
            <a:avLst/>
          </a:prstGeom>
          <a:noFill/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0542575" y="3599307"/>
            <a:ext cx="1053388" cy="1625346"/>
          </a:xfrm>
          <a:prstGeom prst="rect">
            <a:avLst/>
          </a:prstGeom>
          <a:noFill/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960516" y="4014673"/>
            <a:ext cx="409651" cy="794613"/>
          </a:xfrm>
          <a:prstGeom prst="rect">
            <a:avLst/>
          </a:prstGeom>
          <a:noFill/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1186312" y="4014673"/>
            <a:ext cx="409651" cy="794613"/>
          </a:xfrm>
          <a:prstGeom prst="rect">
            <a:avLst/>
          </a:prstGeom>
          <a:noFill/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934456" y="3863340"/>
            <a:ext cx="164592" cy="1097280"/>
          </a:xfrm>
          <a:prstGeom prst="rect">
            <a:avLst/>
          </a:prstGeom>
          <a:solidFill>
            <a:srgbClr val="1018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934456" y="3863340"/>
            <a:ext cx="36576" cy="1097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062472" y="3863340"/>
            <a:ext cx="36576" cy="1097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934456" y="3863340"/>
            <a:ext cx="164592" cy="365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1457432" y="3863340"/>
            <a:ext cx="164592" cy="1097280"/>
          </a:xfrm>
          <a:prstGeom prst="rect">
            <a:avLst/>
          </a:prstGeom>
          <a:solidFill>
            <a:srgbClr val="1018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1457432" y="3863340"/>
            <a:ext cx="36576" cy="1097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1585448" y="3863340"/>
            <a:ext cx="36576" cy="1097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1457432" y="3863340"/>
            <a:ext cx="164592" cy="365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6993331" y="4265676"/>
            <a:ext cx="292608" cy="292608"/>
          </a:xfrm>
          <a:prstGeom prst="ellipse">
            <a:avLst/>
          </a:prstGeom>
          <a:solidFill>
            <a:srgbClr val="7C5DFA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993331" y="4309568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GK</a:t>
            </a:r>
          </a:p>
        </p:txBody>
      </p:sp>
      <p:sp>
        <p:nvSpPr>
          <p:cNvPr id="45" name="Oval 44"/>
          <p:cNvSpPr/>
          <p:nvPr/>
        </p:nvSpPr>
        <p:spPr>
          <a:xfrm>
            <a:off x="7578547" y="3362706"/>
            <a:ext cx="292608" cy="292608"/>
          </a:xfrm>
          <a:prstGeom prst="ellipse">
            <a:avLst/>
          </a:prstGeom>
          <a:solidFill>
            <a:srgbClr val="4A90E2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578547" y="3406598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47" name="Oval 46"/>
          <p:cNvSpPr/>
          <p:nvPr/>
        </p:nvSpPr>
        <p:spPr>
          <a:xfrm>
            <a:off x="7578547" y="4265676"/>
            <a:ext cx="292608" cy="292608"/>
          </a:xfrm>
          <a:prstGeom prst="ellipse">
            <a:avLst/>
          </a:prstGeom>
          <a:solidFill>
            <a:srgbClr val="4A90E2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578547" y="4309568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49" name="Oval 48"/>
          <p:cNvSpPr/>
          <p:nvPr/>
        </p:nvSpPr>
        <p:spPr>
          <a:xfrm>
            <a:off x="7578547" y="5168646"/>
            <a:ext cx="292608" cy="292608"/>
          </a:xfrm>
          <a:prstGeom prst="ellipse">
            <a:avLst/>
          </a:prstGeom>
          <a:solidFill>
            <a:srgbClr val="4A90E2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578547" y="5212538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51" name="Oval 50"/>
          <p:cNvSpPr/>
          <p:nvPr/>
        </p:nvSpPr>
        <p:spPr>
          <a:xfrm>
            <a:off x="8280806" y="3723894"/>
            <a:ext cx="292608" cy="292608"/>
          </a:xfrm>
          <a:prstGeom prst="ellipse">
            <a:avLst/>
          </a:prstGeom>
          <a:solidFill>
            <a:srgbClr val="F5A623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280806" y="3767786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M</a:t>
            </a:r>
          </a:p>
        </p:txBody>
      </p:sp>
      <p:sp>
        <p:nvSpPr>
          <p:cNvPr id="53" name="Oval 52"/>
          <p:cNvSpPr/>
          <p:nvPr/>
        </p:nvSpPr>
        <p:spPr>
          <a:xfrm>
            <a:off x="8280806" y="4807458"/>
            <a:ext cx="292608" cy="292608"/>
          </a:xfrm>
          <a:prstGeom prst="ellipse">
            <a:avLst/>
          </a:prstGeom>
          <a:solidFill>
            <a:srgbClr val="F5A623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280806" y="4851350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M</a:t>
            </a:r>
          </a:p>
        </p:txBody>
      </p:sp>
      <p:sp>
        <p:nvSpPr>
          <p:cNvPr id="55" name="Oval 54"/>
          <p:cNvSpPr/>
          <p:nvPr/>
        </p:nvSpPr>
        <p:spPr>
          <a:xfrm>
            <a:off x="8924544" y="4265676"/>
            <a:ext cx="292608" cy="292608"/>
          </a:xfrm>
          <a:prstGeom prst="ellipse">
            <a:avLst/>
          </a:prstGeom>
          <a:solidFill>
            <a:srgbClr val="E24A4A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924544" y="4309568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F</a:t>
            </a:r>
          </a:p>
        </p:txBody>
      </p:sp>
      <p:sp>
        <p:nvSpPr>
          <p:cNvPr id="57" name="Oval 56"/>
          <p:cNvSpPr/>
          <p:nvPr/>
        </p:nvSpPr>
        <p:spPr>
          <a:xfrm>
            <a:off x="8349386" y="4334256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80D0A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8392135" y="4377005"/>
            <a:ext cx="69950" cy="69950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5852160" y="5925312"/>
            <a:ext cx="5852160" cy="292608"/>
          </a:xfrm>
          <a:prstGeom prst="rect">
            <a:avLst/>
          </a:prstGeom>
          <a:solidFill>
            <a:srgbClr val="080D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989320" y="5925312"/>
            <a:ext cx="557784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 spc="50">
                <a:solidFill>
                  <a:srgbClr val="E8EDE9"/>
                </a:solidFill>
                <a:latin typeface="Calibri"/>
              </a:rPr>
              <a:t>📏  Two halves of the field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989320" y="5925312"/>
            <a:ext cx="557784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1" i="0" spc="80">
                <a:solidFill>
                  <a:srgbClr val="4A90E2"/>
                </a:solidFill>
                <a:latin typeface="Calibri"/>
              </a:rPr>
              <a:t>LESSON 1</a:t>
            </a:r>
          </a:p>
        </p:txBody>
      </p:sp>
      <p:sp>
        <p:nvSpPr>
          <p:cNvPr id="62" name="Oval 61"/>
          <p:cNvSpPr/>
          <p:nvPr/>
        </p:nvSpPr>
        <p:spPr>
          <a:xfrm>
            <a:off x="5852160" y="6547104"/>
            <a:ext cx="164592" cy="164592"/>
          </a:xfrm>
          <a:prstGeom prst="ellipse">
            <a:avLst/>
          </a:prstGeom>
          <a:solidFill>
            <a:srgbClr val="F5A623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0533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Player A / Attacker</a:t>
            </a:r>
          </a:p>
        </p:txBody>
      </p:sp>
      <p:sp>
        <p:nvSpPr>
          <p:cNvPr id="64" name="Oval 63"/>
          <p:cNvSpPr/>
          <p:nvPr/>
        </p:nvSpPr>
        <p:spPr>
          <a:xfrm>
            <a:off x="7223760" y="6547104"/>
            <a:ext cx="164592" cy="164592"/>
          </a:xfrm>
          <a:prstGeom prst="ellipse">
            <a:avLst/>
          </a:prstGeom>
          <a:solidFill>
            <a:srgbClr val="4A90E2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74249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Player B / Receiver</a:t>
            </a:r>
          </a:p>
        </p:txBody>
      </p:sp>
      <p:sp>
        <p:nvSpPr>
          <p:cNvPr id="66" name="Oval 65"/>
          <p:cNvSpPr/>
          <p:nvPr/>
        </p:nvSpPr>
        <p:spPr>
          <a:xfrm>
            <a:off x="8595360" y="6547104"/>
            <a:ext cx="164592" cy="164592"/>
          </a:xfrm>
          <a:prstGeom prst="ellipse">
            <a:avLst/>
          </a:prstGeom>
          <a:solidFill>
            <a:srgbClr val="FF6B6B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87965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Defender</a:t>
            </a:r>
          </a:p>
        </p:txBody>
      </p:sp>
      <p:sp>
        <p:nvSpPr>
          <p:cNvPr id="68" name="Oval 67"/>
          <p:cNvSpPr/>
          <p:nvPr/>
        </p:nvSpPr>
        <p:spPr>
          <a:xfrm>
            <a:off x="9966960" y="6547104"/>
            <a:ext cx="164592" cy="164592"/>
          </a:xfrm>
          <a:prstGeom prst="ellipse">
            <a:avLst/>
          </a:prstGeom>
          <a:solidFill>
            <a:srgbClr val="FFFFFF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01681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Ball</a:t>
            </a:r>
          </a:p>
        </p:txBody>
      </p:sp>
      <p:sp>
        <p:nvSpPr>
          <p:cNvPr id="70" name="Rectangle 69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018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57200" y="653796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 spc="200">
                <a:solidFill>
                  <a:srgbClr val="7B8A7F"/>
                </a:solidFill>
                <a:latin typeface="Calibri"/>
              </a:rPr>
              <a:t>qmtk Soccer · Coach Playbook · Grades 1–5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905695" y="6537960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 spc="200">
                <a:solidFill>
                  <a:srgbClr val="7B8A7F"/>
                </a:solidFill>
                <a:latin typeface="Calibri"/>
              </a:rPr>
              <a:t>qmtk.org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gradFill flip="none" rotWithShape="1">
            <a:gsLst>
              <a:gs pos="0">
                <a:srgbClr val="080D0A"/>
              </a:gs>
              <a:gs pos="100000">
                <a:srgbClr val="101812"/>
              </a:gs>
            </a:gsLst>
            <a:lin ang="8100000" scaled="0"/>
          </a:gradFill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7C5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9260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00">
                <a:solidFill>
                  <a:srgbClr val="4ADE80"/>
                </a:solidFill>
                <a:latin typeface="Calibri"/>
              </a:rPr>
              <a:t>qmtk Soccer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3035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 spc="400">
                <a:solidFill>
                  <a:srgbClr val="7B8A7F"/>
                </a:solidFill>
                <a:latin typeface="Calibri"/>
              </a:rPr>
              <a:t>COACH PLAYBOOK · GRADES 1–5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292608"/>
            <a:ext cx="1005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400" b="1" i="0">
                <a:solidFill>
                  <a:srgbClr val="B4C3B8"/>
                </a:solidFill>
                <a:latin typeface="Calibri"/>
              </a:rPr>
              <a:t>02.3  /  04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097280"/>
            <a:ext cx="1054946" cy="274320"/>
          </a:xfrm>
          <a:prstGeom prst="roundRect">
            <a:avLst>
              <a:gd name="adj" fmla="val 50000"/>
            </a:avLst>
          </a:prstGeom>
          <a:solidFill>
            <a:srgbClr val="7C5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097280"/>
            <a:ext cx="105494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 spc="80">
                <a:solidFill>
                  <a:srgbClr val="080D0A"/>
                </a:solidFill>
                <a:latin typeface="Calibri"/>
              </a:rPr>
              <a:t>LESSON 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621874" y="1097280"/>
            <a:ext cx="1070610" cy="274320"/>
          </a:xfrm>
          <a:prstGeom prst="roundRect">
            <a:avLst>
              <a:gd name="adj" fmla="val 50000"/>
            </a:avLst>
          </a:prstGeom>
          <a:solidFill>
            <a:srgbClr val="1822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21874" y="1097280"/>
            <a:ext cx="107061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 spc="80">
                <a:solidFill>
                  <a:srgbClr val="E8EDE9"/>
                </a:solidFill>
                <a:latin typeface="Calibri"/>
              </a:rPr>
              <a:t>30–45 MIN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02212" y="1097280"/>
            <a:ext cx="2480310" cy="274320"/>
          </a:xfrm>
          <a:prstGeom prst="roundRect">
            <a:avLst>
              <a:gd name="adj" fmla="val 50000"/>
            </a:avLst>
          </a:prstGeom>
          <a:solidFill>
            <a:srgbClr val="1822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02212" y="1097280"/>
            <a:ext cx="248031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 spc="80">
                <a:solidFill>
                  <a:srgbClr val="E8EDE9"/>
                </a:solidFill>
                <a:latin typeface="Calibri"/>
              </a:rPr>
              <a:t>📏  Half-field tactical zone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1508760"/>
            <a:ext cx="77724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"/>
              </a:rPr>
              <a:t>Position-Based Play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331720"/>
            <a:ext cx="640080" cy="54864"/>
          </a:xfrm>
          <a:prstGeom prst="rect">
            <a:avLst/>
          </a:prstGeom>
          <a:solidFill>
            <a:srgbClr val="7C5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2606040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400">
                <a:solidFill>
                  <a:srgbClr val="7C5DFA"/>
                </a:solidFill>
                <a:latin typeface="Calibri"/>
              </a:rPr>
              <a:t>THE DRILL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926080"/>
            <a:ext cx="512064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E8EDE9"/>
                </a:solidFill>
                <a:latin typeface="Calibri"/>
              </a:rPr>
              <a:t>Quick chalk talk on positions — striker, midfielder, defender, goalie. Walk through where each goes. Players try a new position they haven't played.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800600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400">
                <a:solidFill>
                  <a:srgbClr val="7C5DFA"/>
                </a:solidFill>
                <a:latin typeface="Calibri"/>
              </a:rPr>
              <a:t>KEY COACHING CUES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166360"/>
            <a:ext cx="5120640" cy="1828800"/>
          </a:xfrm>
          <a:prstGeom prst="roundRect">
            <a:avLst>
              <a:gd name="adj" fmla="val 12000"/>
            </a:avLst>
          </a:prstGeom>
          <a:solidFill>
            <a:srgbClr val="18221B"/>
          </a:solidFill>
          <a:ln w="12700">
            <a:solidFill>
              <a:srgbClr val="1F2D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85800" y="5422392"/>
            <a:ext cx="109728" cy="109728"/>
          </a:xfrm>
          <a:prstGeom prst="ellipse">
            <a:avLst/>
          </a:prstGeom>
          <a:solidFill>
            <a:srgbClr val="7C5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5349240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8EDE9"/>
                </a:solidFill>
                <a:latin typeface="Calibri"/>
              </a:rPr>
              <a:t>Where do I go without the ball?</a:t>
            </a:r>
          </a:p>
        </p:txBody>
      </p:sp>
      <p:sp>
        <p:nvSpPr>
          <p:cNvPr id="21" name="Oval 20"/>
          <p:cNvSpPr/>
          <p:nvPr/>
        </p:nvSpPr>
        <p:spPr>
          <a:xfrm>
            <a:off x="685800" y="5843016"/>
            <a:ext cx="109728" cy="109728"/>
          </a:xfrm>
          <a:prstGeom prst="ellipse">
            <a:avLst/>
          </a:prstGeom>
          <a:solidFill>
            <a:srgbClr val="7C5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5769864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8EDE9"/>
                </a:solidFill>
                <a:latin typeface="Calibri"/>
              </a:rPr>
              <a:t>Stay in your position's zone</a:t>
            </a:r>
          </a:p>
        </p:txBody>
      </p:sp>
      <p:sp>
        <p:nvSpPr>
          <p:cNvPr id="23" name="Oval 22"/>
          <p:cNvSpPr/>
          <p:nvPr/>
        </p:nvSpPr>
        <p:spPr>
          <a:xfrm>
            <a:off x="685800" y="6263640"/>
            <a:ext cx="109728" cy="109728"/>
          </a:xfrm>
          <a:prstGeom prst="ellipse">
            <a:avLst/>
          </a:prstGeom>
          <a:solidFill>
            <a:srgbClr val="7C5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6190488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8EDE9"/>
                </a:solidFill>
                <a:latin typeface="Calibri"/>
              </a:rPr>
              <a:t>Learn a new role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715000" y="2468880"/>
            <a:ext cx="6126480" cy="3886200"/>
          </a:xfrm>
          <a:prstGeom prst="roundRect">
            <a:avLst>
              <a:gd name="adj" fmla="val 12000"/>
            </a:avLst>
          </a:prstGeom>
          <a:solidFill>
            <a:srgbClr val="18221B"/>
          </a:solidFill>
          <a:ln w="12700">
            <a:solidFill>
              <a:srgbClr val="1F2D23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852160" y="2606040"/>
            <a:ext cx="5852160" cy="3611880"/>
          </a:xfrm>
          <a:gradFill flip="none" rotWithShape="1">
            <a:gsLst>
              <a:gs pos="0">
                <a:srgbClr val="3E964F"/>
              </a:gs>
              <a:gs pos="100000">
                <a:srgbClr val="2A7037"/>
              </a:gs>
            </a:gsLst>
            <a:lin ang="8100000" scaled="0"/>
          </a:gradFill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960516" y="2714396"/>
            <a:ext cx="5635448" cy="3395168"/>
          </a:xfrm>
          <a:prstGeom prst="rect">
            <a:avLst/>
          </a:prstGeom>
          <a:noFill/>
          <a:ln w="317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8" name="Connector 27"/>
          <p:cNvCxnSpPr/>
          <p:nvPr/>
        </p:nvCxnSpPr>
        <p:spPr>
          <a:xfrm>
            <a:off x="8778240.0" y="2714396"/>
            <a:ext cx="0.0" cy="3395168"/>
          </a:xfrm>
          <a:prstGeom prst="line">
            <a:avLst/>
          </a:prstGeom>
          <a:ln w="19050">
            <a:solidFill>
              <a:srgbClr val="FFFFF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Oval 28"/>
          <p:cNvSpPr/>
          <p:nvPr/>
        </p:nvSpPr>
        <p:spPr>
          <a:xfrm>
            <a:off x="8308695" y="3942435"/>
            <a:ext cx="939088" cy="939088"/>
          </a:xfrm>
          <a:prstGeom prst="ellipse">
            <a:avLst/>
          </a:prstGeom>
          <a:noFill/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734898" y="4368638"/>
            <a:ext cx="86684" cy="8668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960516" y="3599307"/>
            <a:ext cx="1053388" cy="1625346"/>
          </a:xfrm>
          <a:prstGeom prst="rect">
            <a:avLst/>
          </a:prstGeom>
          <a:noFill/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0542575" y="3599307"/>
            <a:ext cx="1053388" cy="1625346"/>
          </a:xfrm>
          <a:prstGeom prst="rect">
            <a:avLst/>
          </a:prstGeom>
          <a:noFill/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960516" y="4014673"/>
            <a:ext cx="409651" cy="794613"/>
          </a:xfrm>
          <a:prstGeom prst="rect">
            <a:avLst/>
          </a:prstGeom>
          <a:noFill/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1186312" y="4014673"/>
            <a:ext cx="409651" cy="794613"/>
          </a:xfrm>
          <a:prstGeom prst="rect">
            <a:avLst/>
          </a:prstGeom>
          <a:noFill/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934456" y="3863340"/>
            <a:ext cx="164592" cy="1097280"/>
          </a:xfrm>
          <a:prstGeom prst="rect">
            <a:avLst/>
          </a:prstGeom>
          <a:solidFill>
            <a:srgbClr val="1018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934456" y="3863340"/>
            <a:ext cx="36576" cy="1097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062472" y="3863340"/>
            <a:ext cx="36576" cy="1097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934456" y="3863340"/>
            <a:ext cx="164592" cy="365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1457432" y="3863340"/>
            <a:ext cx="164592" cy="1097280"/>
          </a:xfrm>
          <a:prstGeom prst="rect">
            <a:avLst/>
          </a:prstGeom>
          <a:solidFill>
            <a:srgbClr val="1018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1457432" y="3863340"/>
            <a:ext cx="36576" cy="1097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1585448" y="3863340"/>
            <a:ext cx="36576" cy="1097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1457432" y="3863340"/>
            <a:ext cx="164592" cy="365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6993331" y="4265676"/>
            <a:ext cx="292608" cy="292608"/>
          </a:xfrm>
          <a:prstGeom prst="ellipse">
            <a:avLst/>
          </a:prstGeom>
          <a:solidFill>
            <a:srgbClr val="7C5DFA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993331" y="4309568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GK</a:t>
            </a:r>
          </a:p>
        </p:txBody>
      </p:sp>
      <p:sp>
        <p:nvSpPr>
          <p:cNvPr id="45" name="Oval 44"/>
          <p:cNvSpPr/>
          <p:nvPr/>
        </p:nvSpPr>
        <p:spPr>
          <a:xfrm>
            <a:off x="7578547" y="3362706"/>
            <a:ext cx="292608" cy="292608"/>
          </a:xfrm>
          <a:prstGeom prst="ellipse">
            <a:avLst/>
          </a:prstGeom>
          <a:solidFill>
            <a:srgbClr val="4A90E2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578547" y="3406598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47" name="Oval 46"/>
          <p:cNvSpPr/>
          <p:nvPr/>
        </p:nvSpPr>
        <p:spPr>
          <a:xfrm>
            <a:off x="7578547" y="4265676"/>
            <a:ext cx="292608" cy="292608"/>
          </a:xfrm>
          <a:prstGeom prst="ellipse">
            <a:avLst/>
          </a:prstGeom>
          <a:solidFill>
            <a:srgbClr val="4A90E2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578547" y="4309568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49" name="Oval 48"/>
          <p:cNvSpPr/>
          <p:nvPr/>
        </p:nvSpPr>
        <p:spPr>
          <a:xfrm>
            <a:off x="7578547" y="5168646"/>
            <a:ext cx="292608" cy="292608"/>
          </a:xfrm>
          <a:prstGeom prst="ellipse">
            <a:avLst/>
          </a:prstGeom>
          <a:solidFill>
            <a:srgbClr val="4A90E2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578547" y="5212538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51" name="Oval 50"/>
          <p:cNvSpPr/>
          <p:nvPr/>
        </p:nvSpPr>
        <p:spPr>
          <a:xfrm>
            <a:off x="8280806" y="3723894"/>
            <a:ext cx="292608" cy="292608"/>
          </a:xfrm>
          <a:prstGeom prst="ellipse">
            <a:avLst/>
          </a:prstGeom>
          <a:solidFill>
            <a:srgbClr val="F5A623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280806" y="3767786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M</a:t>
            </a:r>
          </a:p>
        </p:txBody>
      </p:sp>
      <p:sp>
        <p:nvSpPr>
          <p:cNvPr id="53" name="Oval 52"/>
          <p:cNvSpPr/>
          <p:nvPr/>
        </p:nvSpPr>
        <p:spPr>
          <a:xfrm>
            <a:off x="8280806" y="4807458"/>
            <a:ext cx="292608" cy="292608"/>
          </a:xfrm>
          <a:prstGeom prst="ellipse">
            <a:avLst/>
          </a:prstGeom>
          <a:solidFill>
            <a:srgbClr val="F5A623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280806" y="4851350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M</a:t>
            </a:r>
          </a:p>
        </p:txBody>
      </p:sp>
      <p:sp>
        <p:nvSpPr>
          <p:cNvPr id="55" name="Oval 54"/>
          <p:cNvSpPr/>
          <p:nvPr/>
        </p:nvSpPr>
        <p:spPr>
          <a:xfrm>
            <a:off x="8924544" y="4265676"/>
            <a:ext cx="292608" cy="292608"/>
          </a:xfrm>
          <a:prstGeom prst="ellipse">
            <a:avLst/>
          </a:prstGeom>
          <a:solidFill>
            <a:srgbClr val="E24A4A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924544" y="4309568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F</a:t>
            </a:r>
          </a:p>
        </p:txBody>
      </p:sp>
      <p:sp>
        <p:nvSpPr>
          <p:cNvPr id="57" name="Oval 56"/>
          <p:cNvSpPr/>
          <p:nvPr/>
        </p:nvSpPr>
        <p:spPr>
          <a:xfrm>
            <a:off x="8349386" y="4334256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80D0A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8392135" y="4377005"/>
            <a:ext cx="69950" cy="69950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5852160" y="5925312"/>
            <a:ext cx="5852160" cy="292608"/>
          </a:xfrm>
          <a:prstGeom prst="rect">
            <a:avLst/>
          </a:prstGeom>
          <a:solidFill>
            <a:srgbClr val="080D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989320" y="5925312"/>
            <a:ext cx="557784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 spc="50">
                <a:solidFill>
                  <a:srgbClr val="E8EDE9"/>
                </a:solidFill>
                <a:latin typeface="Calibri"/>
              </a:rPr>
              <a:t>📏  Half-field tactical zone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989320" y="5925312"/>
            <a:ext cx="557784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1" i="0" spc="80">
                <a:solidFill>
                  <a:srgbClr val="7C5DFA"/>
                </a:solidFill>
                <a:latin typeface="Calibri"/>
              </a:rPr>
              <a:t>LESSON 2</a:t>
            </a:r>
          </a:p>
        </p:txBody>
      </p:sp>
      <p:sp>
        <p:nvSpPr>
          <p:cNvPr id="62" name="Oval 61"/>
          <p:cNvSpPr/>
          <p:nvPr/>
        </p:nvSpPr>
        <p:spPr>
          <a:xfrm>
            <a:off x="5852160" y="6547104"/>
            <a:ext cx="164592" cy="164592"/>
          </a:xfrm>
          <a:prstGeom prst="ellipse">
            <a:avLst/>
          </a:prstGeom>
          <a:solidFill>
            <a:srgbClr val="F5A623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0533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Player A / Attacker</a:t>
            </a:r>
          </a:p>
        </p:txBody>
      </p:sp>
      <p:sp>
        <p:nvSpPr>
          <p:cNvPr id="64" name="Oval 63"/>
          <p:cNvSpPr/>
          <p:nvPr/>
        </p:nvSpPr>
        <p:spPr>
          <a:xfrm>
            <a:off x="7223760" y="6547104"/>
            <a:ext cx="164592" cy="164592"/>
          </a:xfrm>
          <a:prstGeom prst="ellipse">
            <a:avLst/>
          </a:prstGeom>
          <a:solidFill>
            <a:srgbClr val="4A90E2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74249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Player B / Receiver</a:t>
            </a:r>
          </a:p>
        </p:txBody>
      </p:sp>
      <p:sp>
        <p:nvSpPr>
          <p:cNvPr id="66" name="Oval 65"/>
          <p:cNvSpPr/>
          <p:nvPr/>
        </p:nvSpPr>
        <p:spPr>
          <a:xfrm>
            <a:off x="8595360" y="6547104"/>
            <a:ext cx="164592" cy="164592"/>
          </a:xfrm>
          <a:prstGeom prst="ellipse">
            <a:avLst/>
          </a:prstGeom>
          <a:solidFill>
            <a:srgbClr val="FF6B6B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87965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Defender</a:t>
            </a:r>
          </a:p>
        </p:txBody>
      </p:sp>
      <p:sp>
        <p:nvSpPr>
          <p:cNvPr id="68" name="Oval 67"/>
          <p:cNvSpPr/>
          <p:nvPr/>
        </p:nvSpPr>
        <p:spPr>
          <a:xfrm>
            <a:off x="9966960" y="6547104"/>
            <a:ext cx="164592" cy="164592"/>
          </a:xfrm>
          <a:prstGeom prst="ellipse">
            <a:avLst/>
          </a:prstGeom>
          <a:solidFill>
            <a:srgbClr val="FFFFFF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01681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Ball</a:t>
            </a:r>
          </a:p>
        </p:txBody>
      </p:sp>
      <p:sp>
        <p:nvSpPr>
          <p:cNvPr id="70" name="Rectangle 69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018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57200" y="653796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 spc="200">
                <a:solidFill>
                  <a:srgbClr val="7B8A7F"/>
                </a:solidFill>
                <a:latin typeface="Calibri"/>
              </a:rPr>
              <a:t>qmtk Soccer · Coach Playbook · Grades 1–5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905695" y="6537960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 spc="200">
                <a:solidFill>
                  <a:srgbClr val="7B8A7F"/>
                </a:solidFill>
                <a:latin typeface="Calibri"/>
              </a:rPr>
              <a:t>qmtk.org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gradFill flip="none" rotWithShape="1">
            <a:gsLst>
              <a:gs pos="0">
                <a:srgbClr val="080D0A"/>
              </a:gs>
              <a:gs pos="100000">
                <a:srgbClr val="101812"/>
              </a:gs>
            </a:gsLst>
            <a:lin ang="8100000" scaled="0"/>
          </a:gradFill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9260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00">
                <a:solidFill>
                  <a:srgbClr val="4ADE80"/>
                </a:solidFill>
                <a:latin typeface="Calibri"/>
              </a:rPr>
              <a:t>qmtk Soccer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3035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 spc="400">
                <a:solidFill>
                  <a:srgbClr val="7B8A7F"/>
                </a:solidFill>
                <a:latin typeface="Calibri"/>
              </a:rPr>
              <a:t>COACH PLAYBOOK · GRADES 1–5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292608"/>
            <a:ext cx="1005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400" b="1" i="0">
                <a:solidFill>
                  <a:srgbClr val="B4C3B8"/>
                </a:solidFill>
                <a:latin typeface="Calibri"/>
              </a:rPr>
              <a:t>02.4  /  04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097280"/>
            <a:ext cx="1141095" cy="274320"/>
          </a:xfrm>
          <a:prstGeom prst="roundRect">
            <a:avLst>
              <a:gd name="adj" fmla="val 50000"/>
            </a:avLst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097280"/>
            <a:ext cx="1141095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 spc="80">
                <a:solidFill>
                  <a:srgbClr val="080D0A"/>
                </a:solidFill>
                <a:latin typeface="Calibri"/>
              </a:rPr>
              <a:t>SCRIMMAGE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708023" y="1097280"/>
            <a:ext cx="1070610" cy="274320"/>
          </a:xfrm>
          <a:prstGeom prst="roundRect">
            <a:avLst>
              <a:gd name="adj" fmla="val 50000"/>
            </a:avLst>
          </a:prstGeom>
          <a:solidFill>
            <a:srgbClr val="1822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708023" y="1097280"/>
            <a:ext cx="107061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 spc="80">
                <a:solidFill>
                  <a:srgbClr val="E8EDE9"/>
                </a:solidFill>
                <a:latin typeface="Calibri"/>
              </a:rPr>
              <a:t>45–60 MIN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88361" y="1097280"/>
            <a:ext cx="3420110" cy="274320"/>
          </a:xfrm>
          <a:prstGeom prst="roundRect">
            <a:avLst>
              <a:gd name="adj" fmla="val 50000"/>
            </a:avLst>
          </a:prstGeom>
          <a:solidFill>
            <a:srgbClr val="1822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88361" y="1097280"/>
            <a:ext cx="342011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 spc="80">
                <a:solidFill>
                  <a:srgbClr val="E8EDE9"/>
                </a:solidFill>
                <a:latin typeface="Calibri"/>
              </a:rPr>
              <a:t>📏  Full available field, two real goals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1508760"/>
            <a:ext cx="77724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"/>
              </a:rPr>
              <a:t>Season Finale Scrimmage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331720"/>
            <a:ext cx="640080" cy="54864"/>
          </a:xfrm>
          <a:prstGeom prst="rect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2606040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400">
                <a:solidFill>
                  <a:srgbClr val="4ADE80"/>
                </a:solidFill>
                <a:latin typeface="Calibri"/>
              </a:rPr>
              <a:t>THE DRILL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926080"/>
            <a:ext cx="512064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E8EDE9"/>
                </a:solidFill>
                <a:latin typeface="Calibri"/>
              </a:rPr>
              <a:t>Final scrimmage. Real positions, real goals. Coach celebrates great moments throughout — passes, runs, defending, finishes. End-of-season vibes.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800600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400">
                <a:solidFill>
                  <a:srgbClr val="4ADE80"/>
                </a:solidFill>
                <a:latin typeface="Calibri"/>
              </a:rPr>
              <a:t>KEY COACHING CUES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166360"/>
            <a:ext cx="5120640" cy="1828800"/>
          </a:xfrm>
          <a:prstGeom prst="roundRect">
            <a:avLst>
              <a:gd name="adj" fmla="val 12000"/>
            </a:avLst>
          </a:prstGeom>
          <a:solidFill>
            <a:srgbClr val="18221B"/>
          </a:solidFill>
          <a:ln w="12700">
            <a:solidFill>
              <a:srgbClr val="1F2D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85800" y="5422392"/>
            <a:ext cx="109728" cy="109728"/>
          </a:xfrm>
          <a:prstGeom prst="ellipse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5349240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8EDE9"/>
                </a:solidFill>
                <a:latin typeface="Calibri"/>
              </a:rPr>
              <a:t>Apply everything</a:t>
            </a:r>
          </a:p>
        </p:txBody>
      </p:sp>
      <p:sp>
        <p:nvSpPr>
          <p:cNvPr id="21" name="Oval 20"/>
          <p:cNvSpPr/>
          <p:nvPr/>
        </p:nvSpPr>
        <p:spPr>
          <a:xfrm>
            <a:off x="685800" y="5843016"/>
            <a:ext cx="109728" cy="109728"/>
          </a:xfrm>
          <a:prstGeom prst="ellipse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5769864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8EDE9"/>
                </a:solidFill>
                <a:latin typeface="Calibri"/>
              </a:rPr>
              <a:t>Play with joy</a:t>
            </a:r>
          </a:p>
        </p:txBody>
      </p:sp>
      <p:sp>
        <p:nvSpPr>
          <p:cNvPr id="23" name="Oval 22"/>
          <p:cNvSpPr/>
          <p:nvPr/>
        </p:nvSpPr>
        <p:spPr>
          <a:xfrm>
            <a:off x="685800" y="6263640"/>
            <a:ext cx="109728" cy="109728"/>
          </a:xfrm>
          <a:prstGeom prst="ellipse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6190488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8EDE9"/>
                </a:solidFill>
                <a:latin typeface="Calibri"/>
              </a:rPr>
              <a:t>Celebrate teammates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715000" y="2468880"/>
            <a:ext cx="6126480" cy="3886200"/>
          </a:xfrm>
          <a:prstGeom prst="roundRect">
            <a:avLst>
              <a:gd name="adj" fmla="val 12000"/>
            </a:avLst>
          </a:prstGeom>
          <a:solidFill>
            <a:srgbClr val="18221B"/>
          </a:solidFill>
          <a:ln w="12700">
            <a:solidFill>
              <a:srgbClr val="1F2D23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852160" y="2606040"/>
            <a:ext cx="5852160" cy="3611880"/>
          </a:xfrm>
          <a:gradFill flip="none" rotWithShape="1">
            <a:gsLst>
              <a:gs pos="0">
                <a:srgbClr val="3E964F"/>
              </a:gs>
              <a:gs pos="100000">
                <a:srgbClr val="2A7037"/>
              </a:gs>
            </a:gsLst>
            <a:lin ang="8100000" scaled="0"/>
          </a:gradFill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960516" y="2714396"/>
            <a:ext cx="5635448" cy="3395168"/>
          </a:xfrm>
          <a:prstGeom prst="rect">
            <a:avLst/>
          </a:prstGeom>
          <a:noFill/>
          <a:ln w="317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8" name="Connector 27"/>
          <p:cNvCxnSpPr/>
          <p:nvPr/>
        </p:nvCxnSpPr>
        <p:spPr>
          <a:xfrm>
            <a:off x="8778240.0" y="2714396"/>
            <a:ext cx="0.0" cy="3395168"/>
          </a:xfrm>
          <a:prstGeom prst="line">
            <a:avLst/>
          </a:prstGeom>
          <a:ln w="19050">
            <a:solidFill>
              <a:srgbClr val="FFFFF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Oval 28"/>
          <p:cNvSpPr/>
          <p:nvPr/>
        </p:nvSpPr>
        <p:spPr>
          <a:xfrm>
            <a:off x="8308695" y="3942435"/>
            <a:ext cx="939088" cy="939088"/>
          </a:xfrm>
          <a:prstGeom prst="ellipse">
            <a:avLst/>
          </a:prstGeom>
          <a:noFill/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734898" y="4368638"/>
            <a:ext cx="86684" cy="8668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960516" y="3599307"/>
            <a:ext cx="1053388" cy="1625346"/>
          </a:xfrm>
          <a:prstGeom prst="rect">
            <a:avLst/>
          </a:prstGeom>
          <a:noFill/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0542575" y="3599307"/>
            <a:ext cx="1053388" cy="1625346"/>
          </a:xfrm>
          <a:prstGeom prst="rect">
            <a:avLst/>
          </a:prstGeom>
          <a:noFill/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960516" y="4014673"/>
            <a:ext cx="409651" cy="794613"/>
          </a:xfrm>
          <a:prstGeom prst="rect">
            <a:avLst/>
          </a:prstGeom>
          <a:noFill/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1186312" y="4014673"/>
            <a:ext cx="409651" cy="794613"/>
          </a:xfrm>
          <a:prstGeom prst="rect">
            <a:avLst/>
          </a:prstGeom>
          <a:noFill/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934456" y="3863340"/>
            <a:ext cx="164592" cy="1097280"/>
          </a:xfrm>
          <a:prstGeom prst="rect">
            <a:avLst/>
          </a:prstGeom>
          <a:solidFill>
            <a:srgbClr val="1018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934456" y="3863340"/>
            <a:ext cx="36576" cy="1097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062472" y="3863340"/>
            <a:ext cx="36576" cy="1097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934456" y="3863340"/>
            <a:ext cx="164592" cy="365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1457432" y="3863340"/>
            <a:ext cx="164592" cy="1097280"/>
          </a:xfrm>
          <a:prstGeom prst="rect">
            <a:avLst/>
          </a:prstGeom>
          <a:solidFill>
            <a:srgbClr val="1018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1457432" y="3863340"/>
            <a:ext cx="36576" cy="1097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1585448" y="3863340"/>
            <a:ext cx="36576" cy="1097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1457432" y="3863340"/>
            <a:ext cx="164592" cy="365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6993331" y="4265676"/>
            <a:ext cx="292608" cy="292608"/>
          </a:xfrm>
          <a:prstGeom prst="ellipse">
            <a:avLst/>
          </a:prstGeom>
          <a:solidFill>
            <a:srgbClr val="F5A623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993331" y="4309568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45" name="Oval 44"/>
          <p:cNvSpPr/>
          <p:nvPr/>
        </p:nvSpPr>
        <p:spPr>
          <a:xfrm>
            <a:off x="7578547" y="3543300"/>
            <a:ext cx="292608" cy="292608"/>
          </a:xfrm>
          <a:prstGeom prst="ellipse">
            <a:avLst/>
          </a:prstGeom>
          <a:solidFill>
            <a:srgbClr val="F5A623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578547" y="3587192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47" name="Oval 46"/>
          <p:cNvSpPr/>
          <p:nvPr/>
        </p:nvSpPr>
        <p:spPr>
          <a:xfrm>
            <a:off x="7578547" y="4988052"/>
            <a:ext cx="292608" cy="292608"/>
          </a:xfrm>
          <a:prstGeom prst="ellipse">
            <a:avLst/>
          </a:prstGeom>
          <a:solidFill>
            <a:srgbClr val="F5A623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578547" y="5031944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49" name="Oval 48"/>
          <p:cNvSpPr/>
          <p:nvPr/>
        </p:nvSpPr>
        <p:spPr>
          <a:xfrm>
            <a:off x="8163763" y="4265676"/>
            <a:ext cx="292608" cy="292608"/>
          </a:xfrm>
          <a:prstGeom prst="ellipse">
            <a:avLst/>
          </a:prstGeom>
          <a:solidFill>
            <a:srgbClr val="F5A623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163763" y="4309568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51" name="Oval 50"/>
          <p:cNvSpPr/>
          <p:nvPr/>
        </p:nvSpPr>
        <p:spPr>
          <a:xfrm>
            <a:off x="10270540" y="4265676"/>
            <a:ext cx="292608" cy="292608"/>
          </a:xfrm>
          <a:prstGeom prst="ellipse">
            <a:avLst/>
          </a:prstGeom>
          <a:solidFill>
            <a:srgbClr val="4A90E2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0270540" y="4309568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53" name="Oval 52"/>
          <p:cNvSpPr/>
          <p:nvPr/>
        </p:nvSpPr>
        <p:spPr>
          <a:xfrm>
            <a:off x="9685324" y="3543300"/>
            <a:ext cx="292608" cy="292608"/>
          </a:xfrm>
          <a:prstGeom prst="ellipse">
            <a:avLst/>
          </a:prstGeom>
          <a:solidFill>
            <a:srgbClr val="4A90E2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685324" y="3587192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55" name="Oval 54"/>
          <p:cNvSpPr/>
          <p:nvPr/>
        </p:nvSpPr>
        <p:spPr>
          <a:xfrm>
            <a:off x="9685324" y="4988052"/>
            <a:ext cx="292608" cy="292608"/>
          </a:xfrm>
          <a:prstGeom prst="ellipse">
            <a:avLst/>
          </a:prstGeom>
          <a:solidFill>
            <a:srgbClr val="4A90E2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685324" y="5031944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57" name="Oval 56"/>
          <p:cNvSpPr/>
          <p:nvPr/>
        </p:nvSpPr>
        <p:spPr>
          <a:xfrm>
            <a:off x="9100108" y="4265676"/>
            <a:ext cx="292608" cy="292608"/>
          </a:xfrm>
          <a:prstGeom prst="ellipse">
            <a:avLst/>
          </a:prstGeom>
          <a:solidFill>
            <a:srgbClr val="4A90E2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100108" y="4309568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59" name="Oval 58"/>
          <p:cNvSpPr/>
          <p:nvPr/>
        </p:nvSpPr>
        <p:spPr>
          <a:xfrm>
            <a:off x="8700516" y="4334256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80D0A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8743265" y="4377005"/>
            <a:ext cx="69950" cy="69950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1" name="Connector 60"/>
          <p:cNvCxnSpPr/>
          <p:nvPr/>
        </p:nvCxnSpPr>
        <p:spPr>
          <a:xfrm>
            <a:off x="8447227.2" y="4411980.0"/>
            <a:ext cx="623620.8000000007" cy="361188.0"/>
          </a:xfrm>
          <a:prstGeom prst="line">
            <a:avLst/>
          </a:prstGeom>
          <a:ln w="25400">
            <a:solidFill>
              <a:srgbClr val="FFFFFF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Rectangle 61"/>
          <p:cNvSpPr/>
          <p:nvPr/>
        </p:nvSpPr>
        <p:spPr>
          <a:xfrm>
            <a:off x="5852160" y="5925312"/>
            <a:ext cx="5852160" cy="292608"/>
          </a:xfrm>
          <a:prstGeom prst="rect">
            <a:avLst/>
          </a:prstGeom>
          <a:solidFill>
            <a:srgbClr val="080D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989320" y="5925312"/>
            <a:ext cx="557784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 spc="50">
                <a:solidFill>
                  <a:srgbClr val="E8EDE9"/>
                </a:solidFill>
                <a:latin typeface="Calibri"/>
              </a:rPr>
              <a:t>📏  Full available field, two real goals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989320" y="5925312"/>
            <a:ext cx="557784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1" i="0" spc="80">
                <a:solidFill>
                  <a:srgbClr val="4ADE80"/>
                </a:solidFill>
                <a:latin typeface="Calibri"/>
              </a:rPr>
              <a:t>SCRIMMAGE</a:t>
            </a:r>
          </a:p>
        </p:txBody>
      </p:sp>
      <p:sp>
        <p:nvSpPr>
          <p:cNvPr id="65" name="Oval 64"/>
          <p:cNvSpPr/>
          <p:nvPr/>
        </p:nvSpPr>
        <p:spPr>
          <a:xfrm>
            <a:off x="5852160" y="6547104"/>
            <a:ext cx="164592" cy="164592"/>
          </a:xfrm>
          <a:prstGeom prst="ellipse">
            <a:avLst/>
          </a:prstGeom>
          <a:solidFill>
            <a:srgbClr val="F5A623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0533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Player A / Attacker</a:t>
            </a:r>
          </a:p>
        </p:txBody>
      </p:sp>
      <p:sp>
        <p:nvSpPr>
          <p:cNvPr id="67" name="Oval 66"/>
          <p:cNvSpPr/>
          <p:nvPr/>
        </p:nvSpPr>
        <p:spPr>
          <a:xfrm>
            <a:off x="7223760" y="6547104"/>
            <a:ext cx="164592" cy="164592"/>
          </a:xfrm>
          <a:prstGeom prst="ellipse">
            <a:avLst/>
          </a:prstGeom>
          <a:solidFill>
            <a:srgbClr val="4A90E2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4249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Player B / Receiver</a:t>
            </a:r>
          </a:p>
        </p:txBody>
      </p:sp>
      <p:sp>
        <p:nvSpPr>
          <p:cNvPr id="69" name="Oval 68"/>
          <p:cNvSpPr/>
          <p:nvPr/>
        </p:nvSpPr>
        <p:spPr>
          <a:xfrm>
            <a:off x="8595360" y="6547104"/>
            <a:ext cx="164592" cy="164592"/>
          </a:xfrm>
          <a:prstGeom prst="ellipse">
            <a:avLst/>
          </a:prstGeom>
          <a:solidFill>
            <a:srgbClr val="FF6B6B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87965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Defender</a:t>
            </a:r>
          </a:p>
        </p:txBody>
      </p:sp>
      <p:sp>
        <p:nvSpPr>
          <p:cNvPr id="71" name="Oval 70"/>
          <p:cNvSpPr/>
          <p:nvPr/>
        </p:nvSpPr>
        <p:spPr>
          <a:xfrm>
            <a:off x="9966960" y="6547104"/>
            <a:ext cx="164592" cy="164592"/>
          </a:xfrm>
          <a:prstGeom prst="ellipse">
            <a:avLst/>
          </a:prstGeom>
          <a:solidFill>
            <a:srgbClr val="FFFFFF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01681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Ball</a:t>
            </a:r>
          </a:p>
        </p:txBody>
      </p:sp>
      <p:sp>
        <p:nvSpPr>
          <p:cNvPr id="73" name="Rectangle 72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018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457200" y="653796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 spc="200">
                <a:solidFill>
                  <a:srgbClr val="7B8A7F"/>
                </a:solidFill>
                <a:latin typeface="Calibri"/>
              </a:rPr>
              <a:t>qmtk Soccer · Coach Playbook · Grades 1–5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905695" y="6537960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 spc="200">
                <a:solidFill>
                  <a:srgbClr val="7B8A7F"/>
                </a:solidFill>
                <a:latin typeface="Calibri"/>
              </a:rPr>
              <a:t>qmtk.org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